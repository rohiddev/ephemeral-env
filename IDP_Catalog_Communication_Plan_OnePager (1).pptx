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21945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Communication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</a:t>
            </a:r>
            <a:pPr indent="0" marL="0">
              <a:buNone/>
            </a:pPr>
            <a:r>
              <a:rPr lang="en-US" sz="12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“Ease of Use Is the North Star” — one Point of Contact, plain language, right-sized outreach per tier.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Tiers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3520440" cy="1783080"/>
        </p:xfrm>
        <a:graphic>
          <a:graphicData uri="http://schemas.openxmlformats.org/drawingml/2006/table">
            <a:tbl>
              <a:tblPr/>
              <a:tblGrid>
                <a:gridCol w="1051560"/>
                <a:gridCol w="685800"/>
                <a:gridCol w="17830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—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White-glove: 1:1 + brown bag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—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brown bag +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video +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3284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counts illustrative — confirm vs. governed SysID tiering model.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904488"/>
            <a:ext cx="35204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9525">
            <a:solidFill>
              <a:srgbClr val="2D7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904488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SysIDs total </a:t>
            </a:r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intensity of outreach scales with business importance, not a one-size broadcast.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Cadence</a:t>
            </a:r>
            <a:endParaRPr lang="en-US" sz="12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44752"/>
          <a:ext cx="3520440" cy="2148840"/>
        </p:xfrm>
        <a:graphic>
          <a:graphicData uri="http://schemas.openxmlformats.org/drawingml/2006/table">
            <a:tbl>
              <a:tblPr/>
              <a:tblGrid>
                <a:gridCol w="169164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(On-Demand)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rollout, refreshed quarterly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 Sessions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→ monthly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Announcements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(T1) → monthly (T3)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/ as-needed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343400" y="3721608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1B5E37"/>
          </a:solidFill>
          <a:ln/>
        </p:spPr>
      </p:sp>
      <p:sp>
        <p:nvSpPr>
          <p:cNvPr id="17" name="Shape 13"/>
          <p:cNvSpPr/>
          <p:nvPr/>
        </p:nvSpPr>
        <p:spPr>
          <a:xfrm>
            <a:off x="4480560" y="38404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0" y="3840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03520" y="37673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— no conflicting guidance, clear escalation, feedback to roadmap.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8229600" y="1115568"/>
            <a:ext cx="3520440" cy="32918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1" name="Text 17"/>
          <p:cNvSpPr/>
          <p:nvPr/>
        </p:nvSpPr>
        <p:spPr>
          <a:xfrm>
            <a:off x="8339328" y="1115568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9600" y="1444752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1B5E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0" y="1444752"/>
            <a:ext cx="3520440" cy="3108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4" name="Text 20"/>
          <p:cNvSpPr/>
          <p:nvPr/>
        </p:nvSpPr>
        <p:spPr>
          <a:xfrm>
            <a:off x="8321040" y="1444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Wks 1–2  •  Tier 1</a:t>
            </a:r>
            <a:endParaRPr lang="en-US" sz="970" dirty="0"/>
          </a:p>
        </p:txBody>
      </p:sp>
      <p:sp>
        <p:nvSpPr>
          <p:cNvPr id="25" name="Text 21"/>
          <p:cNvSpPr/>
          <p:nvPr/>
        </p:nvSpPr>
        <p:spPr>
          <a:xfrm>
            <a:off x="8339328" y="1792224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briefings + kickoff video + brown bag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229600" y="2478024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9600" y="2478024"/>
            <a:ext cx="3520440" cy="310896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28" name="Text 24"/>
          <p:cNvSpPr/>
          <p:nvPr/>
        </p:nvSpPr>
        <p:spPr>
          <a:xfrm>
            <a:off x="8321040" y="24780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Wks 3–5  •  Tier 2</a:t>
            </a:r>
            <a:endParaRPr lang="en-US" sz="970" dirty="0"/>
          </a:p>
        </p:txBody>
      </p:sp>
      <p:sp>
        <p:nvSpPr>
          <p:cNvPr id="29" name="Text 25"/>
          <p:cNvSpPr/>
          <p:nvPr/>
        </p:nvSpPr>
        <p:spPr>
          <a:xfrm>
            <a:off x="8339328" y="2825496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 sessions + targeted email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8229600" y="3511296"/>
            <a:ext cx="35204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5BA87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229600" y="3511296"/>
            <a:ext cx="3520440" cy="31089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2" name="Text 28"/>
          <p:cNvSpPr/>
          <p:nvPr/>
        </p:nvSpPr>
        <p:spPr>
          <a:xfrm>
            <a:off x="8321040" y="35112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•  Wks 6–9  •  Tier 3</a:t>
            </a:r>
            <a:endParaRPr lang="en-US" sz="970" dirty="0"/>
          </a:p>
        </p:txBody>
      </p:sp>
      <p:sp>
        <p:nvSpPr>
          <p:cNvPr id="33" name="Text 29"/>
          <p:cNvSpPr/>
          <p:nvPr/>
        </p:nvSpPr>
        <p:spPr>
          <a:xfrm>
            <a:off x="8339328" y="3858768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email + self-service video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8229600" y="4590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monthly brown bag • quarterly video refresh • POC always available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1B5E37"/>
          </a:solidFill>
          <a:ln/>
        </p:spPr>
      </p:sp>
      <p:sp>
        <p:nvSpPr>
          <p:cNvPr id="36" name="Text 32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This to Completion:  </a:t>
            </a:r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rollout schedule is locked, Point of Contact is staffed, and the brown bag calendar is set — Phase 1 (Tier 1) begins as planned.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2026-07-16T15:32:14Z</dcterms:created>
  <dcterms:modified xsi:type="dcterms:W3CDTF">2026-07-16T15:32:14Z</dcterms:modified>
</cp:coreProperties>
</file>