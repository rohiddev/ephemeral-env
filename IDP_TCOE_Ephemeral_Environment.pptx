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4630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TCOE  ·  IDP PLATFORM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74320" y="402336"/>
            <a:ext cx="320040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74320" y="219456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79806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On-demand, isolated, version-aligned ephemeral environments — orchestrated by IDP, destroyed automatically.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3566160"/>
            <a:ext cx="3108960" cy="274320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5216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mismatch in shared QA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3895344"/>
            <a:ext cx="3108960" cy="274320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5216" y="38953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collisions across teams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4224528"/>
            <a:ext cx="3108960" cy="274320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5216" y="4224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setup — tickets + lead time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4553712"/>
            <a:ext cx="3108960" cy="274320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553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5216" y="4553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traffic leaking to prod endpoints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931920" y="23774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931920" y="512064"/>
            <a:ext cx="2304288" cy="192024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0" y="713232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400" dirty="0"/>
          </a:p>
        </p:txBody>
      </p:sp>
      <p:sp>
        <p:nvSpPr>
          <p:cNvPr id="23" name="Text 21"/>
          <p:cNvSpPr/>
          <p:nvPr/>
        </p:nvSpPr>
        <p:spPr>
          <a:xfrm>
            <a:off x="3931920" y="162763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059936" y="1901952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requests a full environment from IDP self-service form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327648" y="512064"/>
            <a:ext cx="2304288" cy="1920240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713232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6400" dirty="0"/>
          </a:p>
        </p:txBody>
      </p:sp>
      <p:sp>
        <p:nvSpPr>
          <p:cNvPr id="27" name="Text 25"/>
          <p:cNvSpPr/>
          <p:nvPr/>
        </p:nvSpPr>
        <p:spPr>
          <a:xfrm>
            <a:off x="6327648" y="162763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55664" y="1901952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build plan from IDP core to full end-to-end validation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931920" y="2523744"/>
            <a:ext cx="2304288" cy="1920240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0" y="2724912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400" dirty="0"/>
          </a:p>
        </p:txBody>
      </p:sp>
      <p:sp>
        <p:nvSpPr>
          <p:cNvPr id="31" name="Text 29"/>
          <p:cNvSpPr/>
          <p:nvPr/>
        </p:nvSpPr>
        <p:spPr>
          <a:xfrm>
            <a:off x="3931920" y="363931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059936" y="3913632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environment scoped by env_id — no shared resources, no collisions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327648" y="2523744"/>
            <a:ext cx="2304288" cy="192024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27648" y="2724912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400" dirty="0"/>
          </a:p>
        </p:txBody>
      </p:sp>
      <p:sp>
        <p:nvSpPr>
          <p:cNvPr id="35" name="Text 33"/>
          <p:cNvSpPr/>
          <p:nvPr/>
        </p:nvSpPr>
        <p:spPr>
          <a:xfrm>
            <a:off x="6327648" y="363931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55664" y="3913632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tickets, no coordination — platform teams expose automation APIs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0F3D23"/>
          </a:solidFill>
          <a:ln w="12700">
            <a:solidFill>
              <a:srgbClr val="0F3D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0" y="5020056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Platform  ·  Ephemeral Environment Platform  ·  TCOE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PROVISIONING  ·  IDP AS ORCHESTRATOR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Request to Certified Environment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12064" y="969264"/>
            <a:ext cx="621792" cy="621792"/>
          </a:xfrm>
          <a:prstGeom prst="ellipse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9692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060704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" y="1682496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" y="1938528"/>
            <a:ext cx="1060704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" y="1938528"/>
            <a:ext cx="1060704" cy="36576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011680"/>
            <a:ext cx="9509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selects app, version, TTL &amp; scenario in IDP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591056" y="969264"/>
            <a:ext cx="621792" cy="621792"/>
          </a:xfrm>
          <a:prstGeom prst="ellipse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91056" y="9692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04872" y="1060704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1682496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71600" y="1938528"/>
            <a:ext cx="1060704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1938528"/>
            <a:ext cx="1060704" cy="36576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26464" y="2011680"/>
            <a:ext cx="9509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queried · metadata vs registry — fail fast on mismatch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670048" y="969264"/>
            <a:ext cx="621792" cy="621792"/>
          </a:xfrm>
          <a:prstGeom prst="ellipse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70048" y="9692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483864" y="1060704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450592" y="1682496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50592" y="1938528"/>
            <a:ext cx="1060704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50592" y="1938528"/>
            <a:ext cx="1060704" cy="36576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05456" y="2011680"/>
            <a:ext cx="9509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gate for major environments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749040" y="969264"/>
            <a:ext cx="621792" cy="621792"/>
          </a:xfrm>
          <a:prstGeom prst="ellipse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9692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62856" y="1060704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9584" y="1682496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529584" y="1938528"/>
            <a:ext cx="1060704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9584" y="1938528"/>
            <a:ext cx="1060704" cy="36576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84448" y="2011680"/>
            <a:ext cx="9509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env_id generated · manifest frozen — immutable from this point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28032" y="969264"/>
            <a:ext cx="621792" cy="621792"/>
          </a:xfrm>
          <a:prstGeom prst="ellipse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9692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641848" y="1060704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08576" y="1682496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08576" y="1938528"/>
            <a:ext cx="1060704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08576" y="1938528"/>
            <a:ext cx="1060704" cy="36576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2011680"/>
            <a:ext cx="9509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· EC2 · MQ · DB · SFTP · Gateway — all in parallel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07024" y="969264"/>
            <a:ext cx="621792" cy="621792"/>
          </a:xfrm>
          <a:prstGeom prst="ellipse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07024" y="9692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720840" y="1060704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687568" y="1682496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687568" y="1938528"/>
            <a:ext cx="1060704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87568" y="1938528"/>
            <a:ext cx="1060704" cy="36576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42432" y="2011680"/>
            <a:ext cx="9509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 per component — not available until all pass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986016" y="969264"/>
            <a:ext cx="621792" cy="621792"/>
          </a:xfrm>
          <a:prstGeom prst="ellipse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86016" y="9692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799832" y="1060704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766560" y="1682496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766560" y="1938528"/>
            <a:ext cx="1060704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766560" y="1938528"/>
            <a:ext cx="1060704" cy="36576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21424" y="2011680"/>
            <a:ext cx="9509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Pre-test revalidation · isolated endpoint returned to developer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065008" y="969264"/>
            <a:ext cx="621792" cy="621792"/>
          </a:xfrm>
          <a:prstGeom prst="ellipse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65008" y="9692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845552" y="1682496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845552" y="1938528"/>
            <a:ext cx="1060704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845552" y="1938528"/>
            <a:ext cx="1060704" cy="36576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00416" y="2011680"/>
            <a:ext cx="9509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expiry · all scoped resources purged automatically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29184" y="4334256"/>
            <a:ext cx="2679192" cy="64008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437083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Immutability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57200" y="4590288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frozen at creation — no runtime changes. New test = new environment.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191256" y="4334256"/>
            <a:ext cx="2679192" cy="64008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19272" y="437083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env_id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3319272" y="4590288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resource tagged — namespace, DB, MQ, SFTP, EC2, Gateway all scoped.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053328" y="4334256"/>
            <a:ext cx="2679192" cy="64008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81344" y="437083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Payments Always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181344" y="4590288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SWIFT, EPP never connected directly — deterministic mock runs inside K8s namespace.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5760" y="5020056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Platform  ·  Ephemeral Environment Platform  ·  TCOE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5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 ·  SHARED QA  VS  EPHEMERAL PLATFORM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Testing Looks Like — Before and After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822192" cy="2999232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3822192" cy="402336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950976"/>
            <a:ext cx="3529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Shared QA Environments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481328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8096" y="1426464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mismatch — Loan App v1 hits wrong Person App version in shared QA</a:t>
            </a:r>
            <a:endParaRPr lang="en-US" sz="9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883664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096" y="1828800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collisions — multiple teams overwrite each other's test data</a:t>
            </a:r>
            <a:endParaRPr lang="en-US" sz="9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2286000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68096" y="2231136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setup — raise a ticket, wait for the infra team, repeat</a:t>
            </a:r>
            <a:endParaRPr lang="en-US" sz="9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2688336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68096" y="2633472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isolation — test traffic leaks toward production endpoints</a:t>
            </a:r>
            <a:endParaRPr lang="en-US" sz="9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3090672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68096" y="3035808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K8s-only thinking — EC2, MQ, SFTP never included in test scope</a:t>
            </a:r>
            <a:endParaRPr lang="en-US" sz="9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" y="3493008"/>
            <a:ext cx="182880" cy="1828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68096" y="3438144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environments — nobody knows what's deployed or why it fails</a:t>
            </a:r>
            <a:endParaRPr lang="en-US" sz="900" dirty="0"/>
          </a:p>
        </p:txBody>
      </p:sp>
      <p:sp>
        <p:nvSpPr>
          <p:cNvPr id="20" name="Text 12"/>
          <p:cNvSpPr/>
          <p:nvPr/>
        </p:nvSpPr>
        <p:spPr>
          <a:xfrm>
            <a:off x="4242816" y="20848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21" name="Shape 13"/>
          <p:cNvSpPr/>
          <p:nvPr/>
        </p:nvSpPr>
        <p:spPr>
          <a:xfrm>
            <a:off x="4937760" y="914400"/>
            <a:ext cx="3822192" cy="2999232"/>
          </a:xfrm>
          <a:prstGeom prst="rect">
            <a:avLst/>
          </a:prstGeom>
          <a:solidFill>
            <a:srgbClr val="155030"/>
          </a:solidFill>
          <a:ln w="19050">
            <a:solidFill>
              <a:srgbClr val="5BA872"/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4937760" y="914400"/>
            <a:ext cx="3822192" cy="4023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5084064" y="950976"/>
            <a:ext cx="3529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PLATFORM — On-Demand Isolation</a:t>
            </a:r>
            <a:endParaRPr lang="en-US" sz="12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4064" y="1481328"/>
            <a:ext cx="182880" cy="18288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340096" y="1426464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registry ensures Loan App v1 always gets Person App v2.3.0 exactly</a:t>
            </a:r>
            <a:endParaRPr lang="en-US" sz="9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84064" y="1883664"/>
            <a:ext cx="182880" cy="18288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340096" y="1828800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env_id is fully isolated — namespace, DB schema, MQ prefix, SFTP path</a:t>
            </a:r>
            <a:endParaRPr lang="en-US" sz="9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4064" y="2286000"/>
            <a:ext cx="182880" cy="18288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340096" y="2231136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IDP form — environment provisioned in minutes, no ticket required</a:t>
            </a:r>
            <a:endParaRPr lang="en-US" sz="9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84064" y="2688336"/>
            <a:ext cx="182880" cy="18288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5340096" y="2633472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traffic stays inside the namespace — mock payments, no prod exposure</a:t>
            </a:r>
            <a:endParaRPr lang="en-US" sz="900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84064" y="3090672"/>
            <a:ext cx="182880" cy="18288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5340096" y="3035808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stack: K8s + EC2 + IBM MQ + SFTP + Database + API Gateway all included</a:t>
            </a:r>
            <a:endParaRPr lang="en-US" sz="900" dirty="0"/>
          </a:p>
        </p:txBody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84064" y="3493008"/>
            <a:ext cx="182880" cy="182880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5340096" y="3438144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before use — validation suite runs across every component before handoff</a:t>
            </a:r>
            <a:endParaRPr lang="en-US" sz="900" dirty="0"/>
          </a:p>
        </p:txBody>
      </p:sp>
      <p:sp>
        <p:nvSpPr>
          <p:cNvPr id="36" name="Shape 22"/>
          <p:cNvSpPr/>
          <p:nvPr/>
        </p:nvSpPr>
        <p:spPr>
          <a:xfrm>
            <a:off x="365760" y="4005072"/>
            <a:ext cx="8394192" cy="877824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37" name="Text 23"/>
          <p:cNvSpPr/>
          <p:nvPr/>
        </p:nvSpPr>
        <p:spPr>
          <a:xfrm>
            <a:off x="512064" y="404164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COVERAGE</a:t>
            </a:r>
            <a:endParaRPr lang="en-US" sz="800" dirty="0"/>
          </a:p>
        </p:txBody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9536" y="4224528"/>
            <a:ext cx="256032" cy="256032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512064" y="45079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800" dirty="0"/>
          </a:p>
        </p:txBody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01952" y="4224528"/>
            <a:ext cx="256032" cy="256032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1554480" y="45079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800" dirty="0"/>
          </a:p>
        </p:txBody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44368" y="4224528"/>
            <a:ext cx="256032" cy="256032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2596896" y="45079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MQ</a:t>
            </a:r>
            <a:endParaRPr lang="en-US" sz="800" dirty="0"/>
          </a:p>
        </p:txBody>
      </p:sp>
      <p:pic>
        <p:nvPicPr>
          <p:cNvPr id="4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86784" y="4224528"/>
            <a:ext cx="256032" cy="256032"/>
          </a:xfrm>
          <a:prstGeom prst="rect">
            <a:avLst/>
          </a:prstGeom>
        </p:spPr>
      </p:pic>
      <p:sp>
        <p:nvSpPr>
          <p:cNvPr id="45" name="Text 27"/>
          <p:cNvSpPr/>
          <p:nvPr/>
        </p:nvSpPr>
        <p:spPr>
          <a:xfrm>
            <a:off x="3639312" y="45079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pic>
        <p:nvPicPr>
          <p:cNvPr id="4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29200" y="4224528"/>
            <a:ext cx="256032" cy="256032"/>
          </a:xfrm>
          <a:prstGeom prst="rect">
            <a:avLst/>
          </a:prstGeom>
        </p:spPr>
      </p:pic>
      <p:sp>
        <p:nvSpPr>
          <p:cNvPr id="47" name="Text 28"/>
          <p:cNvSpPr/>
          <p:nvPr/>
        </p:nvSpPr>
        <p:spPr>
          <a:xfrm>
            <a:off x="4681728" y="45079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</a:t>
            </a:r>
            <a:endParaRPr lang="en-US" sz="800" dirty="0"/>
          </a:p>
        </p:txBody>
      </p:sp>
      <p:pic>
        <p:nvPicPr>
          <p:cNvPr id="4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71616" y="4224528"/>
            <a:ext cx="256032" cy="256032"/>
          </a:xfrm>
          <a:prstGeom prst="rect">
            <a:avLst/>
          </a:prstGeom>
        </p:spPr>
      </p:pic>
      <p:sp>
        <p:nvSpPr>
          <p:cNvPr id="49" name="Text 29"/>
          <p:cNvSpPr/>
          <p:nvPr/>
        </p:nvSpPr>
        <p:spPr>
          <a:xfrm>
            <a:off x="5724144" y="45079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800" dirty="0"/>
          </a:p>
        </p:txBody>
      </p:sp>
      <p:pic>
        <p:nvPicPr>
          <p:cNvPr id="5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14032" y="4224528"/>
            <a:ext cx="256032" cy="256032"/>
          </a:xfrm>
          <a:prstGeom prst="rect">
            <a:avLst/>
          </a:prstGeom>
        </p:spPr>
      </p:pic>
      <p:sp>
        <p:nvSpPr>
          <p:cNvPr id="51" name="Text 30"/>
          <p:cNvSpPr/>
          <p:nvPr/>
        </p:nvSpPr>
        <p:spPr>
          <a:xfrm>
            <a:off x="6766560" y="45079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Payments</a:t>
            </a:r>
            <a:endParaRPr lang="en-US" sz="800" dirty="0"/>
          </a:p>
        </p:txBody>
      </p:sp>
      <p:pic>
        <p:nvPicPr>
          <p:cNvPr id="52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56448" y="4224528"/>
            <a:ext cx="256032" cy="256032"/>
          </a:xfrm>
          <a:prstGeom prst="rect">
            <a:avLst/>
          </a:prstGeom>
        </p:spPr>
      </p:pic>
      <p:sp>
        <p:nvSpPr>
          <p:cNvPr id="53" name="Text 31"/>
          <p:cNvSpPr/>
          <p:nvPr/>
        </p:nvSpPr>
        <p:spPr>
          <a:xfrm>
            <a:off x="7808976" y="45079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Registry</a:t>
            </a:r>
            <a:endParaRPr lang="en-US" sz="800" dirty="0"/>
          </a:p>
        </p:txBody>
      </p:sp>
      <p:sp>
        <p:nvSpPr>
          <p:cNvPr id="54" name="Shape 32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0F3D23"/>
          </a:solidFill>
          <a:ln w="12700">
            <a:solidFill>
              <a:srgbClr val="0F3D2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PLAN  ·  5 PHASES  ·  16 WEEKS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Delivery — IDP Core to Full End-to-End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359152" y="932688"/>
            <a:ext cx="400050" cy="219456"/>
          </a:xfrm>
          <a:prstGeom prst="rect">
            <a:avLst/>
          </a:prstGeom>
          <a:solidFill>
            <a:srgbClr val="E8F5EE"/>
          </a:solidFill>
          <a:ln w="6350">
            <a:solidFill>
              <a:srgbClr val="C5DF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59152" y="932688"/>
            <a:ext cx="400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759202" y="932688"/>
            <a:ext cx="400050" cy="219456"/>
          </a:xfrm>
          <a:prstGeom prst="rect">
            <a:avLst/>
          </a:prstGeom>
          <a:solidFill>
            <a:srgbClr val="C5DFD0"/>
          </a:solidFill>
          <a:ln w="6350">
            <a:solidFill>
              <a:srgbClr val="C5DF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59202" y="932688"/>
            <a:ext cx="400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159252" y="932688"/>
            <a:ext cx="400050" cy="219456"/>
          </a:xfrm>
          <a:prstGeom prst="rect">
            <a:avLst/>
          </a:prstGeom>
          <a:solidFill>
            <a:srgbClr val="E8F5EE"/>
          </a:solidFill>
          <a:ln w="6350">
            <a:solidFill>
              <a:srgbClr val="C5DF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9252" y="932688"/>
            <a:ext cx="400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559302" y="932688"/>
            <a:ext cx="400050" cy="219456"/>
          </a:xfrm>
          <a:prstGeom prst="rect">
            <a:avLst/>
          </a:prstGeom>
          <a:solidFill>
            <a:srgbClr val="C5DFD0"/>
          </a:solidFill>
          <a:ln w="6350">
            <a:solidFill>
              <a:srgbClr val="C5DF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59302" y="932688"/>
            <a:ext cx="400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959352" y="932688"/>
            <a:ext cx="400050" cy="219456"/>
          </a:xfrm>
          <a:prstGeom prst="rect">
            <a:avLst/>
          </a:prstGeom>
          <a:solidFill>
            <a:srgbClr val="E8F5EE"/>
          </a:solidFill>
          <a:ln w="6350">
            <a:solidFill>
              <a:srgbClr val="C5DF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9352" y="932688"/>
            <a:ext cx="400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359402" y="932688"/>
            <a:ext cx="400050" cy="219456"/>
          </a:xfrm>
          <a:prstGeom prst="rect">
            <a:avLst/>
          </a:prstGeom>
          <a:solidFill>
            <a:srgbClr val="C5DFD0"/>
          </a:solidFill>
          <a:ln w="6350">
            <a:solidFill>
              <a:srgbClr val="C5DF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59402" y="932688"/>
            <a:ext cx="400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759452" y="932688"/>
            <a:ext cx="400050" cy="219456"/>
          </a:xfrm>
          <a:prstGeom prst="rect">
            <a:avLst/>
          </a:prstGeom>
          <a:solidFill>
            <a:srgbClr val="E8F5EE"/>
          </a:solidFill>
          <a:ln w="6350">
            <a:solidFill>
              <a:srgbClr val="C5DF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9452" y="932688"/>
            <a:ext cx="400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159502" y="932688"/>
            <a:ext cx="400050" cy="219456"/>
          </a:xfrm>
          <a:prstGeom prst="rect">
            <a:avLst/>
          </a:prstGeom>
          <a:solidFill>
            <a:srgbClr val="C5DFD0"/>
          </a:solidFill>
          <a:ln w="6350">
            <a:solidFill>
              <a:srgbClr val="C5DF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59502" y="932688"/>
            <a:ext cx="400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559552" y="932688"/>
            <a:ext cx="400050" cy="219456"/>
          </a:xfrm>
          <a:prstGeom prst="rect">
            <a:avLst/>
          </a:prstGeom>
          <a:solidFill>
            <a:srgbClr val="E8F5EE"/>
          </a:solidFill>
          <a:ln w="6350">
            <a:solidFill>
              <a:srgbClr val="C5DF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9552" y="932688"/>
            <a:ext cx="400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959602" y="932688"/>
            <a:ext cx="400050" cy="219456"/>
          </a:xfrm>
          <a:prstGeom prst="rect">
            <a:avLst/>
          </a:prstGeom>
          <a:solidFill>
            <a:srgbClr val="C5DFD0"/>
          </a:solidFill>
          <a:ln w="6350">
            <a:solidFill>
              <a:srgbClr val="C5DF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59602" y="932688"/>
            <a:ext cx="400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59652" y="932688"/>
            <a:ext cx="400050" cy="219456"/>
          </a:xfrm>
          <a:prstGeom prst="rect">
            <a:avLst/>
          </a:prstGeom>
          <a:solidFill>
            <a:srgbClr val="E8F5EE"/>
          </a:solidFill>
          <a:ln w="6350">
            <a:solidFill>
              <a:srgbClr val="C5DF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9652" y="932688"/>
            <a:ext cx="400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759702" y="932688"/>
            <a:ext cx="400050" cy="219456"/>
          </a:xfrm>
          <a:prstGeom prst="rect">
            <a:avLst/>
          </a:prstGeom>
          <a:solidFill>
            <a:srgbClr val="C5DFD0"/>
          </a:solidFill>
          <a:ln w="6350">
            <a:solidFill>
              <a:srgbClr val="C5DF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59702" y="932688"/>
            <a:ext cx="400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7159752" y="932688"/>
            <a:ext cx="400050" cy="219456"/>
          </a:xfrm>
          <a:prstGeom prst="rect">
            <a:avLst/>
          </a:prstGeom>
          <a:solidFill>
            <a:srgbClr val="E8F5EE"/>
          </a:solidFill>
          <a:ln w="6350">
            <a:solidFill>
              <a:srgbClr val="C5DF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9752" y="932688"/>
            <a:ext cx="400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7559802" y="932688"/>
            <a:ext cx="400050" cy="219456"/>
          </a:xfrm>
          <a:prstGeom prst="rect">
            <a:avLst/>
          </a:prstGeom>
          <a:solidFill>
            <a:srgbClr val="C5DFD0"/>
          </a:solidFill>
          <a:ln w="6350">
            <a:solidFill>
              <a:srgbClr val="C5DF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59802" y="932688"/>
            <a:ext cx="400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7959852" y="932688"/>
            <a:ext cx="400050" cy="219456"/>
          </a:xfrm>
          <a:prstGeom prst="rect">
            <a:avLst/>
          </a:prstGeom>
          <a:solidFill>
            <a:srgbClr val="E8F5EE"/>
          </a:solidFill>
          <a:ln w="6350">
            <a:solidFill>
              <a:srgbClr val="C5DF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9852" y="932688"/>
            <a:ext cx="400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W15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8359902" y="932688"/>
            <a:ext cx="400050" cy="219456"/>
          </a:xfrm>
          <a:prstGeom prst="rect">
            <a:avLst/>
          </a:prstGeom>
          <a:solidFill>
            <a:srgbClr val="C5DFD0"/>
          </a:solidFill>
          <a:ln w="6350">
            <a:solidFill>
              <a:srgbClr val="C5DF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59902" y="932688"/>
            <a:ext cx="400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W16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65760" y="1225296"/>
            <a:ext cx="256032" cy="384048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1225296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6656" y="12435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Core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76656" y="142646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359152" y="1280160"/>
            <a:ext cx="2000250" cy="27432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32304" y="1280160"/>
            <a:ext cx="18539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selects Loan App v1 → IDP produces validated manifest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359402" y="1280160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9452" y="1280160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59502" y="1280160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59552" y="1280160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59602" y="1280160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59652" y="1280160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59702" y="1280160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59752" y="1280160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559802" y="1280160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59852" y="1280160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359902" y="1280160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59152" y="1280160"/>
            <a:ext cx="2000250" cy="27432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32304" y="1280160"/>
            <a:ext cx="18539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selects Loan App v1 → IDP produces validated manifest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65760" y="1719072"/>
            <a:ext cx="256032" cy="384048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1719072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76656" y="17373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Pipelines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76656" y="192024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559302" y="1773936"/>
            <a:ext cx="2000250" cy="274320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32454" y="1773936"/>
            <a:ext cx="18539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namespace deploy + readiness signal back to IDP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2359152" y="1773936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59202" y="1773936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159252" y="1773936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559552" y="1773936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959602" y="1773936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359652" y="1773936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759702" y="1773936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59752" y="1773936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559802" y="1773936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959852" y="1773936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359902" y="1773936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559302" y="1773936"/>
            <a:ext cx="2000250" cy="274320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632454" y="1773936"/>
            <a:ext cx="18539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namespace deploy + readiness signal back to IDP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365760" y="2212848"/>
            <a:ext cx="256032" cy="384048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65760" y="2212848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676656" y="22311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Team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676656" y="241401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Team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3959352" y="2267712"/>
            <a:ext cx="2400300" cy="2743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032504" y="2267712"/>
            <a:ext cx="22539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pipeline callable via Harness · destroy at TTL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2359152" y="2267712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59202" y="2267712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159252" y="2267712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559302" y="2267712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359652" y="2267712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759702" y="2267712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159752" y="2267712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559802" y="2267712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959852" y="2267712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359902" y="2267712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959352" y="2267712"/>
            <a:ext cx="2400300" cy="2743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032504" y="2267712"/>
            <a:ext cx="22539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pipeline callable via Harness · destroy at TTL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365760" y="2706624"/>
            <a:ext cx="256032" cy="384048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65760" y="2706624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676656" y="27249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Integrations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676656" y="29077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Respective Teams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5159502" y="2761488"/>
            <a:ext cx="2800350" cy="27432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232654" y="2761488"/>
            <a:ext cx="26540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 · DB · SFTP · API Gateway · Mock Payments all wired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2359152" y="2761488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759202" y="2761488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159252" y="2761488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559302" y="2761488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959352" y="2761488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359402" y="2761488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9452" y="2761488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959852" y="2761488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359902" y="2761488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159502" y="2761488"/>
            <a:ext cx="2800350" cy="27432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232654" y="2761488"/>
            <a:ext cx="26540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 · DB · SFTP · API Gateway · Mock Payments all wired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365760" y="3200400"/>
            <a:ext cx="256032" cy="384048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65760" y="3200400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676656" y="32186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Validation</a:t>
            </a:r>
            <a:endParaRPr lang="en-US" sz="950" dirty="0"/>
          </a:p>
        </p:txBody>
      </p:sp>
      <p:sp>
        <p:nvSpPr>
          <p:cNvPr id="113" name="Text 111"/>
          <p:cNvSpPr/>
          <p:nvPr/>
        </p:nvSpPr>
        <p:spPr>
          <a:xfrm>
            <a:off x="676656" y="340156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7559802" y="3255264"/>
            <a:ext cx="1200150" cy="274320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632954" y="3255264"/>
            <a:ext cx="1053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Loan App + Person App + all dependencies — create &amp; destroy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2359152" y="3255264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759202" y="3255264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159252" y="3255264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559302" y="3255264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959352" y="3255264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359402" y="3255264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59452" y="3255264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159502" y="3255264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559552" y="3255264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959602" y="3255264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359652" y="3255264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759702" y="3255264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159752" y="3255264"/>
            <a:ext cx="400050" cy="274320"/>
          </a:xfrm>
          <a:prstGeom prst="rect">
            <a:avLst/>
          </a:prstGeom>
          <a:solidFill>
            <a:srgbClr val="F4F9F6"/>
          </a:solidFill>
          <a:ln w="3810">
            <a:solidFill>
              <a:srgbClr val="C5DFD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559802" y="3255264"/>
            <a:ext cx="1200150" cy="274320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7632954" y="3255264"/>
            <a:ext cx="1053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Loan App + Person App + all dependencies — create &amp; destroy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365760" y="4187952"/>
            <a:ext cx="8394192" cy="71323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12064" y="42245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ACTIONS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512064" y="4425696"/>
            <a:ext cx="1993392" cy="402336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603504" y="44531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50" dirty="0"/>
          </a:p>
        </p:txBody>
      </p:sp>
      <p:sp>
        <p:nvSpPr>
          <p:cNvPr id="135" name="Text 133"/>
          <p:cNvSpPr/>
          <p:nvPr/>
        </p:nvSpPr>
        <p:spPr>
          <a:xfrm>
            <a:off x="603504" y="46085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EC2 team — longest external dependency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2615184" y="4425696"/>
            <a:ext cx="1993392" cy="402336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2706624" y="44531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50" dirty="0"/>
          </a:p>
        </p:txBody>
      </p:sp>
      <p:sp>
        <p:nvSpPr>
          <p:cNvPr id="138" name="Text 136"/>
          <p:cNvSpPr/>
          <p:nvPr/>
        </p:nvSpPr>
        <p:spPr>
          <a:xfrm>
            <a:off x="2706624" y="46085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pipeline input contract — share with all app teams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4718304" y="4425696"/>
            <a:ext cx="1993392" cy="402336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4809744" y="44531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50" dirty="0"/>
          </a:p>
        </p:txBody>
      </p:sp>
      <p:sp>
        <p:nvSpPr>
          <p:cNvPr id="141" name="Text 139"/>
          <p:cNvSpPr/>
          <p:nvPr/>
        </p:nvSpPr>
        <p:spPr>
          <a:xfrm>
            <a:off x="4809744" y="46085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MQ isolation design session with MQ team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6821424" y="4425696"/>
            <a:ext cx="1993392" cy="402336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912864" y="44531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850" dirty="0"/>
          </a:p>
        </p:txBody>
      </p:sp>
      <p:sp>
        <p:nvSpPr>
          <p:cNvPr id="144" name="Text 142"/>
          <p:cNvSpPr/>
          <p:nvPr/>
        </p:nvSpPr>
        <p:spPr>
          <a:xfrm>
            <a:off x="6912864" y="46085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orphan detector alongside Phase 1</a:t>
            </a:r>
            <a:endParaRPr lang="en-US" sz="800" dirty="0"/>
          </a:p>
        </p:txBody>
      </p:sp>
      <p:sp>
        <p:nvSpPr>
          <p:cNvPr id="145" name="Shape 143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365760" y="5020056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Platform  ·  Ephemeral Environment Platform  ·  TCOE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Ephemeral Environment Platform — TCOE Capstone</dc:title>
  <dc:subject>PptxGenJS Presentation</dc:subject>
  <dc:creator>PptxGenJS</dc:creator>
  <cp:lastModifiedBy>PptxGenJS</cp:lastModifiedBy>
  <cp:revision>1</cp:revision>
  <dcterms:created xsi:type="dcterms:W3CDTF">2026-06-05T12:12:12Z</dcterms:created>
  <dcterms:modified xsi:type="dcterms:W3CDTF">2026-06-05T12:12:12Z</dcterms:modified>
</cp:coreProperties>
</file>