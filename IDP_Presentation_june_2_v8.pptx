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5BA872"/>
          </a:solidFill>
          <a:ln>
            <a:noFill/>
          </a:ln>
        </p:spPr>
      </p:sp>
      <p:sp>
        <p:nvSpPr>
          <p:cNvPr id="3" name="Eyebrow"/>
          <p:cNvSpPr/>
          <p:nvPr/>
        </p:nvSpPr>
        <p:spPr>
          <a:xfrm>
            <a:off x="365760" y="120000"/>
            <a:ext cx="80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/>
              </a:rPr>
              <a:t>JUNE 2026</a:t>
            </a:r>
          </a:p>
        </p:txBody>
      </p:sp>
      <p:sp>
        <p:nvSpPr>
          <p:cNvPr id="4" name="Headline"/>
          <p:cNvSpPr/>
          <p:nvPr/>
        </p:nvSpPr>
        <p:spPr>
          <a:xfrm>
            <a:off x="365760" y="330000"/>
            <a:ext cx="84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/>
              </a:rPr>
              <a:t>Strong Progress.</a:t>
            </a:r>
          </a:p>
        </p:txBody>
      </p:sp>
      <p:sp>
        <p:nvSpPr>
          <p:cNvPr id="5" name="SubHead"/>
          <p:cNvSpPr/>
          <p:nvPr/>
        </p:nvSpPr>
        <p:spPr>
          <a:xfrm>
            <a:off x="365760" y="1060000"/>
            <a:ext cx="8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B5"/>
                </a:solidFill>
                <a:latin typeface="Calibri"/>
              </a:rPr>
              <a:t>2 of 4 high-priority workflows delivered. Portal consolidation underway across all three platforms.</a:t>
            </a:r>
          </a:p>
        </p:txBody>
      </p:sp>
      <p:sp>
        <p:nvSpPr>
          <p:cNvPr id="6" name="Divider1"/>
          <p:cNvSpPr/>
          <p:nvPr/>
        </p:nvSpPr>
        <p:spPr>
          <a:xfrm>
            <a:off x="365760" y="1440000"/>
            <a:ext cx="8412480" cy="18000"/>
          </a:xfrm>
          <a:prstGeom prst="rect">
            <a:avLst/>
          </a:prstGeom>
          <a:solidFill>
            <a:srgbClr val="2D7D4F"/>
          </a:solidFill>
          <a:ln>
            <a:noFill/>
          </a:ln>
        </p:spPr>
      </p:sp>
      <p:sp>
        <p:nvSpPr>
          <p:cNvPr id="7" name="StatCard1"/>
          <p:cNvSpPr/>
          <p:nvPr/>
        </p:nvSpPr>
        <p:spPr>
          <a:xfrm>
            <a:off x="365760" y="1530000"/>
            <a:ext cx="2682240" cy="90000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</a:ln>
        </p:spPr>
      </p:sp>
      <p:sp>
        <p:nvSpPr>
          <p:cNvPr id="8" name="Stat1Num"/>
          <p:cNvSpPr/>
          <p:nvPr/>
        </p:nvSpPr>
        <p:spPr>
          <a:xfrm>
            <a:off x="365760" y="1550000"/>
            <a:ext cx="268224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A872"/>
                </a:solidFill>
                <a:latin typeface="Calibri"/>
              </a:rPr>
              <a:t>2 / 4</a:t>
            </a:r>
          </a:p>
        </p:txBody>
      </p:sp>
      <p:sp>
        <p:nvSpPr>
          <p:cNvPr id="9" name="Stat1Label"/>
          <p:cNvSpPr/>
          <p:nvPr/>
        </p:nvSpPr>
        <p:spPr>
          <a:xfrm>
            <a:off x="365760" y="2100000"/>
            <a:ext cx="268224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000" b="1" spc="200" dirty="0">
                <a:solidFill>
                  <a:srgbClr val="FFFFFF"/>
                </a:solidFill>
                <a:latin typeface="Calibri"/>
              </a:rPr>
              <a:t>WORKFLOWS DELIVERED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/>
              </a:rPr>
              <a:t>Repo Automation · K8s Namespace (P-2)</a:t>
            </a:r>
          </a:p>
        </p:txBody>
      </p:sp>
      <p:sp>
        <p:nvSpPr>
          <p:cNvPr id="10" name="StatCard2"/>
          <p:cNvSpPr/>
          <p:nvPr/>
        </p:nvSpPr>
        <p:spPr>
          <a:xfrm>
            <a:off x="3230880" y="1530000"/>
            <a:ext cx="2682240" cy="90000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</a:ln>
        </p:spPr>
      </p:sp>
      <p:sp>
        <p:nvSpPr>
          <p:cNvPr id="11" name="Stat2Num"/>
          <p:cNvSpPr/>
          <p:nvPr/>
        </p:nvSpPr>
        <p:spPr>
          <a:xfrm>
            <a:off x="3230880" y="1550000"/>
            <a:ext cx="268224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A872"/>
                </a:solidFill>
                <a:latin typeface="Calibri"/>
              </a:rPr>
              <a:t>3 → 1</a:t>
            </a:r>
          </a:p>
        </p:txBody>
      </p:sp>
      <p:sp>
        <p:nvSpPr>
          <p:cNvPr id="12" name="Stat2Label"/>
          <p:cNvSpPr/>
          <p:nvPr/>
        </p:nvSpPr>
        <p:spPr>
          <a:xfrm>
            <a:off x="3230880" y="2100000"/>
            <a:ext cx="268224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000" b="1" spc="200" dirty="0">
                <a:solidFill>
                  <a:srgbClr val="FFFFFF"/>
                </a:solidFill>
                <a:latin typeface="Calibri"/>
              </a:rPr>
              <a:t>PORTALS CONSOLIDATING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/>
              </a:rPr>
              <a:t>Hoover · Fuse · Jarvis all in flight</a:t>
            </a:r>
          </a:p>
        </p:txBody>
      </p:sp>
      <p:sp>
        <p:nvSpPr>
          <p:cNvPr id="13" name="StatCard3"/>
          <p:cNvSpPr/>
          <p:nvPr/>
        </p:nvSpPr>
        <p:spPr>
          <a:xfrm>
            <a:off x="6096000" y="1530000"/>
            <a:ext cx="2682240" cy="90000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</a:ln>
        </p:spPr>
      </p:sp>
      <p:sp>
        <p:nvSpPr>
          <p:cNvPr id="14" name="Stat3Num"/>
          <p:cNvSpPr/>
          <p:nvPr/>
        </p:nvSpPr>
        <p:spPr>
          <a:xfrm>
            <a:off x="6096000" y="1550000"/>
            <a:ext cx="268224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A872"/>
                </a:solidFill>
                <a:latin typeface="Calibri"/>
              </a:rPr>
              <a:t>P-2</a:t>
            </a:r>
          </a:p>
        </p:txBody>
      </p:sp>
      <p:sp>
        <p:nvSpPr>
          <p:cNvPr id="15" name="Stat3Label"/>
          <p:cNvSpPr/>
          <p:nvPr/>
        </p:nvSpPr>
        <p:spPr>
          <a:xfrm>
            <a:off x="6096000" y="2100000"/>
            <a:ext cx="268224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000" b="1" spc="200" dirty="0">
                <a:solidFill>
                  <a:srgbClr val="FFFFFF"/>
                </a:solidFill>
                <a:latin typeface="Calibri"/>
              </a:rPr>
              <a:t>K8S NAMESPACE LIVE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/>
              </a:rPr>
              <a:t>Terraform to promote to P-1 next</a:t>
            </a:r>
          </a:p>
        </p:txBody>
      </p:sp>
      <p:sp>
        <p:nvSpPr>
          <p:cNvPr id="16" name="Divider2"/>
          <p:cNvSpPr/>
          <p:nvPr/>
        </p:nvSpPr>
        <p:spPr>
          <a:xfrm>
            <a:off x="365760" y="2560000"/>
            <a:ext cx="8412480" cy="18000"/>
          </a:xfrm>
          <a:prstGeom prst="rect">
            <a:avLst/>
          </a:prstGeom>
          <a:solidFill>
            <a:srgbClr val="2D7D4F"/>
          </a:solidFill>
          <a:ln>
            <a:noFill/>
          </a:ln>
        </p:spPr>
      </p:sp>
      <p:sp>
        <p:nvSpPr>
          <p:cNvPr id="17" name="AgendaLabel"/>
          <p:cNvSpPr/>
          <p:nvPr/>
        </p:nvSpPr>
        <p:spPr>
          <a:xfrm>
            <a:off x="365760" y="2620000"/>
            <a:ext cx="400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dirty="0">
                <a:solidFill>
                  <a:srgbClr val="5BA872"/>
                </a:solidFill>
                <a:latin typeface="Calibri"/>
              </a:rPr>
              <a:t>TODAY’S SESSION</a:t>
            </a:r>
          </a:p>
        </p:txBody>
      </p:sp>
      <p:sp>
        <p:nvSpPr>
          <p:cNvPr id="18" name="Agenda1"/>
          <p:cNvSpPr/>
          <p:nvPr/>
        </p:nvSpPr>
        <p:spPr>
          <a:xfrm>
            <a:off x="365760" y="2840000"/>
            <a:ext cx="2682240" cy="1920000"/>
          </a:xfrm>
          <a:prstGeom prst="rect">
            <a:avLst/>
          </a:prstGeom>
          <a:solidFill>
            <a:srgbClr val="155030"/>
          </a:solidFill>
          <a:ln w="12700">
            <a:solidFill>
              <a:srgbClr val="5BA872"/>
            </a:solidFill>
          </a:ln>
        </p:spPr>
        <p:txBody>
          <a:bodyPr wrap="square" lIns="182880" tIns="182880" rIns="182880" bIns="18288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/>
              </a:rPr>
              <a:t>01</a:t>
            </a:r>
          </a:p>
          <a:p>
            <a:pPr indent="0" marL="0">
              <a:buNone/>
            </a:pPr>
            <a:r>
              <a:rPr lang="en-US" sz="1100" b="1" spc="100" dirty="0">
                <a:solidFill>
                  <a:srgbClr val="FFFFFF"/>
                </a:solidFill>
                <a:latin typeface="Calibri"/>
              </a:rPr>
              <a:t>LIVE DEMO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/>
              </a:rPr>
              <a:t>K8s Namespace Onboarding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/>
              </a:rPr>
              <a:t>P-2 · 10-stage pipeline · ~5 min</a:t>
            </a:r>
          </a:p>
        </p:txBody>
      </p:sp>
      <p:sp>
        <p:nvSpPr>
          <p:cNvPr id="19" name="Agenda2"/>
          <p:cNvSpPr/>
          <p:nvPr/>
        </p:nvSpPr>
        <p:spPr>
          <a:xfrm>
            <a:off x="3230880" y="2840000"/>
            <a:ext cx="2682240" cy="192000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</a:ln>
        </p:spPr>
        <p:txBody>
          <a:bodyPr wrap="square" lIns="182880" tIns="182880" rIns="182880" bIns="18288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/>
              </a:rPr>
              <a:t>02</a:t>
            </a:r>
          </a:p>
          <a:p>
            <a:pPr indent="0" marL="0">
              <a:buNone/>
            </a:pPr>
            <a:r>
              <a:rPr lang="en-US" sz="1100" b="1" spc="100" dirty="0">
                <a:solidFill>
                  <a:srgbClr val="FFFFFF"/>
                </a:solidFill>
                <a:latin typeface="Calibri"/>
              </a:rPr>
              <a:t>PROGRESS UPDATE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/>
              </a:rPr>
              <a:t>Portal Consolidation in Progress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/>
              </a:rPr>
              <a:t>Work from all 3 portals underway</a:t>
            </a:r>
          </a:p>
        </p:txBody>
      </p:sp>
      <p:sp>
        <p:nvSpPr>
          <p:cNvPr id="20" name="Agenda3"/>
          <p:cNvSpPr/>
          <p:nvPr/>
        </p:nvSpPr>
        <p:spPr>
          <a:xfrm>
            <a:off x="6096000" y="2840000"/>
            <a:ext cx="2682240" cy="192000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</a:ln>
        </p:spPr>
        <p:txBody>
          <a:bodyPr wrap="square" lIns="182880" tIns="182880" rIns="182880" bIns="18288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/>
              </a:rPr>
              <a:t>03</a:t>
            </a:r>
          </a:p>
          <a:p>
            <a:pPr indent="0" marL="0">
              <a:buNone/>
            </a:pPr>
            <a:r>
              <a:rPr lang="en-US" sz="1100" b="1" spc="100" dirty="0">
                <a:solidFill>
                  <a:srgbClr val="FFFFFF"/>
                </a:solidFill>
                <a:latin typeface="Calibri"/>
              </a:rPr>
              <a:t>WHAT’S NEXT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/>
              </a:rPr>
              <a:t>Terraform to promote all workflows to P-1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/>
              </a:rPr>
              <a:t/>
            </a:r>
          </a:p>
        </p:txBody>
      </p:sp>
      <p:sp>
        <p:nvSpPr>
          <p:cNvPr id="21" name="Footer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F3D23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61120" cy="7315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BA872"/>
                </a:solidFill>
              </a:rPr>
              <a:t>K8S NAMESPACE ONBOARDING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3"/>
                </a:solidFill>
              </a:rPr>
              <a:t>Fully Automated — Tested &amp; Live in P-2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583680" y="384048"/>
            <a:ext cx="1097280" cy="34747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3840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P-2 LIVE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0" y="384048"/>
            <a:ext cx="914400" cy="347472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3840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37"/>
                </a:solidFill>
              </a:rPr>
              <a:t>P-1 Next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377440" cy="3291840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960120"/>
            <a:ext cx="2377440" cy="34747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Developer Self-Service 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417320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DF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43560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SYS ID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1581912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358"/>
                </a:solidFill>
              </a:rPr>
              <a:t>Enter 5-digit ID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1480" y="1856232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DF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87452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App Key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" y="202082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358"/>
                </a:solidFill>
              </a:rPr>
              <a:t>Auto-populates from SYS ID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1480" y="2295144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DF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31343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Cluster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2459736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358"/>
                </a:solidFill>
              </a:rPr>
              <a:t>Select P-2 / P-1 / Prod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2734056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DF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752344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Cluster Zone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" y="289864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358"/>
                </a:solidFill>
              </a:rPr>
              <a:t>Auto-fills from Cluster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3172968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DF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19125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App Name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3337560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358"/>
                </a:solidFill>
              </a:rPr>
              <a:t>e.g. hoover-payments-api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1480" y="3639312"/>
            <a:ext cx="2194560" cy="2560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Submit Request 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950208"/>
            <a:ext cx="2194560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950208"/>
            <a:ext cx="215798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5E37"/>
                </a:solidFill>
              </a:rPr>
              <a:t>AD Groups absent? +~35 min (Azure AD sync)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063240" y="9601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36392" y="1024128"/>
            <a:ext cx="201168" cy="201168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36392" y="1024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392424" y="9966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Validate Input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92424" y="11430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SYS ID format · App Key lookup · cluster eligibility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836408" y="1033272"/>
            <a:ext cx="749808" cy="18288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36408" y="10332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5E37"/>
                </a:solidFill>
              </a:rPr>
              <a:t>Validation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063240" y="13030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36392" y="1367028"/>
            <a:ext cx="201168" cy="201168"/>
          </a:xfrm>
          <a:prstGeom prst="ellipse">
            <a:avLst/>
          </a:prstGeom>
          <a:solidFill>
            <a:srgbClr val="4A6358"/>
          </a:solidFill>
          <a:ln w="12700">
            <a:solidFill>
              <a:srgbClr val="4A63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36392" y="13670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392424" y="13395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Create AD Group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92424" y="14859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Azure AD check · create developer &amp; reviewer groups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836408" y="1376172"/>
            <a:ext cx="749808" cy="182880"/>
          </a:xfrm>
          <a:prstGeom prst="rect">
            <a:avLst/>
          </a:prstGeom>
          <a:solidFill>
            <a:srgbClr val="D4EAD9"/>
          </a:solidFill>
          <a:ln w="12700">
            <a:solidFill>
              <a:srgbClr val="D4EA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36408" y="13761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5E37"/>
                </a:solidFill>
              </a:rPr>
              <a:t>Identity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063240" y="16459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36392" y="1709928"/>
            <a:ext cx="201168" cy="201168"/>
          </a:xfrm>
          <a:prstGeom prst="ellipse">
            <a:avLst/>
          </a:prstGeom>
          <a:solidFill>
            <a:srgbClr val="4A6358"/>
          </a:solidFill>
          <a:ln w="12700">
            <a:solidFill>
              <a:srgbClr val="4A63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36392" y="1709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392424" y="16824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Create GitHub Teams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92424" y="18288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Provision teams · link AD groups · sync membership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836408" y="1719072"/>
            <a:ext cx="749808" cy="182880"/>
          </a:xfrm>
          <a:prstGeom prst="rect">
            <a:avLst/>
          </a:prstGeom>
          <a:solidFill>
            <a:srgbClr val="D4EAD9"/>
          </a:solidFill>
          <a:ln w="12700">
            <a:solidFill>
              <a:srgbClr val="D4EA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36408" y="17190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5E37"/>
                </a:solidFill>
              </a:rPr>
              <a:t>Identity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063240" y="19888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36392" y="2052828"/>
            <a:ext cx="201168" cy="201168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36392" y="20528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392424" y="20253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Create PaaC Repo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392424" y="21717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Namespace config repo · inject YAML · attach teams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836408" y="2061972"/>
            <a:ext cx="749808" cy="18288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6408" y="20619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5E37"/>
                </a:solidFill>
              </a:rPr>
              <a:t>Provision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063240" y="23317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36392" y="2395728"/>
            <a:ext cx="201168" cy="201168"/>
          </a:xfrm>
          <a:prstGeom prst="ellipse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36392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392424" y="23682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Trigger Jenkins (NS)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392424" y="25146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Fire Jenkins job · K8s namespace live on cluster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836408" y="2404872"/>
            <a:ext cx="749808" cy="18288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36408" y="24048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7D4F"/>
                </a:solidFill>
              </a:rPr>
              <a:t>CI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063240" y="26746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36392" y="2738628"/>
            <a:ext cx="201168" cy="201168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36392" y="27386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392424" y="27111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Create Ops Repo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392424" y="28575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Runbook templates · webhook · team access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836408" y="2747772"/>
            <a:ext cx="749808" cy="18288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36408" y="27477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5E37"/>
                </a:solidFill>
              </a:rPr>
              <a:t>Provision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3063240" y="30175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136392" y="3081528"/>
            <a:ext cx="201168" cy="201168"/>
          </a:xfrm>
          <a:prstGeom prst="ellipse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36392" y="3081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3392424" y="30540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Create Jenkins Folder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392424" y="32004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Seed CI pipelines · assign RBAC permissions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7836408" y="3090672"/>
            <a:ext cx="749808" cy="18288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36408" y="30906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7D4F"/>
                </a:solidFill>
              </a:rPr>
              <a:t>CI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063240" y="33604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136392" y="3424428"/>
            <a:ext cx="201168" cy="201168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36392" y="34244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8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3392424" y="33969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Create Vault Repo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3392424" y="35433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Secrets repo · namespace path policy · base secrets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7836408" y="3433572"/>
            <a:ext cx="749808" cy="182880"/>
          </a:xfrm>
          <a:prstGeom prst="rect">
            <a:avLst/>
          </a:prstGeom>
          <a:solidFill>
            <a:srgbClr val="D4EAD9"/>
          </a:solidFill>
          <a:ln w="12700">
            <a:solidFill>
              <a:srgbClr val="D4EA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36408" y="34335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7D4F"/>
                </a:solidFill>
              </a:rPr>
              <a:t>Vault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063240" y="37033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36392" y="3767328"/>
            <a:ext cx="201168" cy="201168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36392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9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3392424" y="3739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Create Vault Pipeline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392424" y="38862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Bind namespace · enable secret rotation policy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836408" y="3776472"/>
            <a:ext cx="749808" cy="182880"/>
          </a:xfrm>
          <a:prstGeom prst="rect">
            <a:avLst/>
          </a:prstGeom>
          <a:solidFill>
            <a:srgbClr val="D4EAD9"/>
          </a:solidFill>
          <a:ln w="12700">
            <a:solidFill>
              <a:srgbClr val="D4EAD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836408" y="37764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7D4F"/>
                </a:solidFill>
              </a:rPr>
              <a:t>Vault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3063240" y="4046220"/>
            <a:ext cx="5577840" cy="324612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36392" y="4110228"/>
            <a:ext cx="201168" cy="201168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136392" y="41102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10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3392424" y="40827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Email Confirmation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3392424" y="42291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Namespace live · repos &amp; Jenkins ready · Vault active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7836408" y="4119372"/>
            <a:ext cx="749808" cy="18288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836408" y="41193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7D4F"/>
                </a:solidFill>
              </a:rPr>
              <a:t>Done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3063240" y="4425696"/>
            <a:ext cx="5577840" cy="228600"/>
          </a:xfrm>
          <a:prstGeom prst="rect">
            <a:avLst/>
          </a:prstGeom>
          <a:solidFill>
            <a:srgbClr val="E8F5EE"/>
          </a:solidFill>
          <a:ln w="10160">
            <a:solidFill>
              <a:srgbClr val="5BA87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154680" y="4425696"/>
            <a:ext cx="53949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37"/>
                </a:solidFill>
              </a:rPr>
              <a:t>On failure: team notified immediately · pipeline resumes from failed stage — no full restart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063240" y="4700016"/>
            <a:ext cx="2697480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136392" y="47000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37"/>
                </a:solidFill>
              </a:rPr>
              <a:t>⚡  ~5 min  (existing AD groups)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5897880" y="4700016"/>
            <a:ext cx="2743200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71032" y="47000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37"/>
                </a:solidFill>
              </a:rPr>
              <a:t>⏱  ~40 min  (new AD groups — Azure AD propagation)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320040" y="4645152"/>
            <a:ext cx="8321040" cy="54864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20040" y="4700016"/>
            <a:ext cx="8321040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57200" y="47091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37"/>
                </a:solidFill>
              </a:rPr>
              <a:t>Next 30 Days:  Terraform work underway to promote K8s namespace workflow to P-1 and P accounts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74320" y="5020056"/>
            <a:ext cx="8412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61120" cy="7315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BA872"/>
                </a:solidFill>
              </a:rPr>
              <a:t>IDP CATALOG  —  IN DEVELOPMENT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3"/>
                </a:solidFill>
              </a:rPr>
              <a:t>Everything a Developer Needs — Delivering by August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788920" cy="388620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the Catalog Does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06040" cy="594360"/>
          </a:xfrm>
          <a:prstGeom prst="rect">
            <a:avLst/>
          </a:prstGeom>
          <a:solidFill>
            <a:srgbClr val="163A23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53896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One-time setup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184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Team registers their system via IDP workflow — catalog-info.yaml created automatically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2066544"/>
            <a:ext cx="2606040" cy="594360"/>
          </a:xfrm>
          <a:prstGeom prst="rect">
            <a:avLst/>
          </a:prstGeom>
          <a:solidFill>
            <a:srgbClr val="1E4D2E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0312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Dependency mapping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Teams add system dependencies via workflow — relationships tracked centrally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2715768"/>
            <a:ext cx="2606040" cy="594360"/>
          </a:xfrm>
          <a:prstGeom prst="rect">
            <a:avLst/>
          </a:prstGeom>
          <a:solidFill>
            <a:srgbClr val="163A23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5234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Living document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916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Teams own and maintain their catalog-info.yaml — updated as systems evolve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3364992"/>
            <a:ext cx="2606040" cy="594360"/>
          </a:xfrm>
          <a:prstGeom prst="rect">
            <a:avLst/>
          </a:prstGeom>
          <a:solidFill>
            <a:srgbClr val="1E4D2E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015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Readonly integrations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566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Links to all systems a developer touches daily — no context switching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4014216"/>
            <a:ext cx="2606040" cy="594360"/>
          </a:xfrm>
          <a:prstGeom prst="rect">
            <a:avLst/>
          </a:prstGeom>
          <a:solidFill>
            <a:srgbClr val="163A23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5079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Scorecard enforcement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2153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Engineering standards visible to leadership — OPA gates on completeness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46120" y="9875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358"/>
                </a:solidFill>
              </a:rPr>
              <a:t>Daily Developer Integrations — All Read-Only Links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1316736"/>
            <a:ext cx="2542032" cy="932688"/>
          </a:xfrm>
          <a:prstGeom prst="rect">
            <a:avLst/>
          </a:prstGeom>
          <a:solidFill>
            <a:srgbClr val="E8F5EE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1316736"/>
            <a:ext cx="54864" cy="932688"/>
          </a:xfrm>
          <a:prstGeom prst="rect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2424" y="1517904"/>
            <a:ext cx="347472" cy="3474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813048" y="144475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23"/>
                </a:solidFill>
              </a:rPr>
              <a:t>CI/CD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813048" y="1700784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Jenkins or Harness · pipeline &amp; build history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934456" y="1316736"/>
            <a:ext cx="2542032" cy="932688"/>
          </a:xfrm>
          <a:prstGeom prst="rect">
            <a:avLst/>
          </a:prstGeom>
          <a:solidFill>
            <a:srgbClr val="E8F5EE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934456" y="1316736"/>
            <a:ext cx="54864" cy="9326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17904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501384" y="144475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23"/>
                </a:solidFill>
              </a:rPr>
              <a:t>SonarQube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501384" y="1700784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Code quality &amp; security scan results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246120" y="2377440"/>
            <a:ext cx="2542032" cy="932688"/>
          </a:xfrm>
          <a:prstGeom prst="rect">
            <a:avLst/>
          </a:prstGeom>
          <a:solidFill>
            <a:srgbClr val="E8F5EE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3246120" y="2377440"/>
            <a:ext cx="54864" cy="9326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2578608"/>
            <a:ext cx="347472" cy="34747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3813048" y="250545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23"/>
                </a:solidFill>
              </a:rPr>
              <a:t>Kubernetes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3813048" y="276148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Namespace health, pods &amp; logs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5934456" y="2377440"/>
            <a:ext cx="2542032" cy="932688"/>
          </a:xfrm>
          <a:prstGeom prst="rect">
            <a:avLst/>
          </a:prstGeom>
          <a:solidFill>
            <a:srgbClr val="E8F5EE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5934456" y="2377440"/>
            <a:ext cx="54864" cy="932688"/>
          </a:xfrm>
          <a:prstGeom prst="rect">
            <a:avLst/>
          </a:prstGeom>
          <a:solidFill>
            <a:srgbClr val="4A6358"/>
          </a:solidFill>
          <a:ln w="12700">
            <a:solidFill>
              <a:srgbClr val="4A6358"/>
            </a:solidFill>
            <a:prstDash val="solid"/>
          </a:ln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578608"/>
            <a:ext cx="347472" cy="34747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501384" y="250545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23"/>
                </a:solidFill>
              </a:rPr>
              <a:t>Observability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6501384" y="276148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Metrics, traces &amp; alert endpoints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3246120" y="3438144"/>
            <a:ext cx="2542032" cy="932688"/>
          </a:xfrm>
          <a:prstGeom prst="rect">
            <a:avLst/>
          </a:prstGeom>
          <a:solidFill>
            <a:srgbClr val="E8F5EE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3246120" y="3438144"/>
            <a:ext cx="54864" cy="932688"/>
          </a:xfrm>
          <a:prstGeom prst="rect">
            <a:avLst/>
          </a:prstGeom>
          <a:solidFill>
            <a:srgbClr val="4A6358"/>
          </a:solidFill>
          <a:ln w="12700">
            <a:solidFill>
              <a:srgbClr val="4A6358"/>
            </a:solidFill>
            <a:prstDash val="solid"/>
          </a:ln>
        </p:spPr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639312"/>
            <a:ext cx="347472" cy="34747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3813048" y="3566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23"/>
                </a:solidFill>
              </a:rPr>
              <a:t>Wiz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3813048" y="38221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Cloud security posture &amp; findings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5934456" y="3438144"/>
            <a:ext cx="2542032" cy="932688"/>
          </a:xfrm>
          <a:prstGeom prst="rect">
            <a:avLst/>
          </a:prstGeom>
          <a:solidFill>
            <a:srgbClr val="E8F5EE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5934456" y="3438144"/>
            <a:ext cx="54864" cy="9326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639312"/>
            <a:ext cx="347472" cy="347472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501384" y="3566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23"/>
                </a:solidFill>
              </a:rPr>
              <a:t>TechDocs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6501384" y="38221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Team-owned docs · surfaced in the catalog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320040" y="4645152"/>
            <a:ext cx="8321040" cy="54864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320040" y="4700016"/>
            <a:ext cx="8321040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457200" y="47091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37"/>
                </a:solidFill>
              </a:rPr>
              <a:t>In development now · Delivery target: August 2026 · Critical path to IDP release · Eliminates daily context switching for ~1,000 developers</a:t>
            </a:r>
            <a:endParaRPr lang="en-US" sz="950" dirty="0"/>
          </a:p>
        </p:txBody>
      </p:sp>
      <p:sp>
        <p:nvSpPr>
          <p:cNvPr id="56" name="Shape 48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274320" y="5020056"/>
            <a:ext cx="8412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716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860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004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6576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5720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292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26464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1952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52928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28416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03904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30368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05856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1344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56832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07808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83296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58784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34272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4760" y="1005840"/>
            <a:ext cx="1371600" cy="1371600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794760" y="1005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▶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0" y="257860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5BA872"/>
                </a:solidFill>
              </a:rPr>
              <a:t>LIVE DEMO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0" y="2907792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K8s Namespace Onboarding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0" y="352044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C4B0"/>
                </a:solidFill>
              </a:rPr>
              <a:t>Developer submits IDP form  ·  10-stage pipeline executes  ·  Namespace live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749040" y="3950208"/>
            <a:ext cx="1463040" cy="384048"/>
          </a:xfrm>
          <a:prstGeom prst="rect">
            <a:avLst/>
          </a:prstGeom>
          <a:solidFill>
            <a:srgbClr val="143D25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3950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 4 minutes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Engineering – RTB Capstone June 2026</dc:title>
  <dc:subject>PptxGenJS Presentation</dc:subject>
  <dc:creator>PptxGenJS</dc:creator>
  <cp:lastModifiedBy>PptxGenJS</cp:lastModifiedBy>
  <cp:revision>1</cp:revision>
  <dcterms:created xsi:type="dcterms:W3CDTF">2026-06-01T12:47:06Z</dcterms:created>
  <dcterms:modified xsi:type="dcterms:W3CDTF">2026-06-01T12:47:06Z</dcterms:modified>
</cp:coreProperties>
</file>