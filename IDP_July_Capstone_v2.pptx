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IDP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Complete.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Underway.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high-value developer workflows delivered. Terraform promotion and catalog development now in progress.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8412480" cy="182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76272"/>
            <a:ext cx="2679192" cy="80467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94560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DELIVERED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798064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complete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27832" y="2176272"/>
            <a:ext cx="2679192" cy="80467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2194560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27832" y="2633472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IN PROGRESS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27832" y="2798064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Catalog MVP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9904" y="2176272"/>
            <a:ext cx="2679192" cy="80467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2194560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P-1/P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89904" y="2633472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ACCOUNTS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9904" y="2798064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via Terraform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054096"/>
            <a:ext cx="8412480" cy="256032"/>
          </a:xfrm>
          <a:prstGeom prst="rect">
            <a:avLst/>
          </a:prstGeom>
          <a:solidFill>
            <a:srgbClr val="1550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054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JUNE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481328" y="3145536"/>
            <a:ext cx="18288" cy="7315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72768" y="3054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+ Add Users delivered  ·  K8s promoted to P-1  ·  Portal consolidation continues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364992"/>
            <a:ext cx="8412480" cy="182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381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2679192" cy="1261872"/>
          </a:xfrm>
          <a:prstGeom prst="rect">
            <a:avLst/>
          </a:prstGeom>
          <a:solidFill>
            <a:srgbClr val="155030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72160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75488" y="416052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REVIEW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" y="4389120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workflows complete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 · K8s · AD Group · Add Users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27832" y="3657600"/>
            <a:ext cx="2679192" cy="1261872"/>
          </a:xfrm>
          <a:prstGeom prst="rect">
            <a:avLst/>
          </a:prstGeom>
          <a:solidFill>
            <a:srgbClr val="155030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72160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337560" y="416052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PROGRESS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37560" y="4389120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cross-account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system MVP development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9904" y="3657600"/>
            <a:ext cx="2679192" cy="1261872"/>
          </a:xfrm>
          <a:prstGeom prst="rect">
            <a:avLst/>
          </a:prstGeom>
          <a:solidFill>
            <a:srgbClr val="155030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372160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199632" y="416052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99632" y="4389120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promotion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 → P-1 via Terraform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·  COMPLETE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High-Value Workflows Delivered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7782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frequently requested developer actions — now fully automated, self-service, and running in P-2.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133088" cy="1691640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07008"/>
            <a:ext cx="64008" cy="169164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9844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10128" y="131673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5331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7552" y="13350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12064" y="1773936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submits app key via IDP form. GitHub repo created from approved template with branch protection, team permissions, and webhook configuration — fully automated.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12064" y="2569464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2064" y="25694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· Branch protection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1810512" y="2569464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10512" y="25694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Teams auto-provisioned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3108960" y="2569464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08960" y="25694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environments live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4645152" y="1207008"/>
            <a:ext cx="4133088" cy="1691640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45152" y="1207008"/>
            <a:ext cx="64008" cy="169164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298448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589520" y="131673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8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35331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66944" y="13350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Onboarding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791456" y="1773936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pipeline provisions namespace, AD groups, PaaS repo, Ops repo, Jenkins folder, Vault repo, and Vault pipeline. Developer receives email confirmation.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791456" y="2569464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791456" y="25694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pipeline · ~5 min</a:t>
            </a:r>
            <a:endParaRPr lang="en-US" sz="750" dirty="0"/>
          </a:p>
        </p:txBody>
      </p:sp>
      <p:sp>
        <p:nvSpPr>
          <p:cNvPr id="28" name="Shape 22"/>
          <p:cNvSpPr/>
          <p:nvPr/>
        </p:nvSpPr>
        <p:spPr>
          <a:xfrm>
            <a:off x="6089904" y="2569464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089904" y="25694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auto-creation if absent</a:t>
            </a:r>
            <a:endParaRPr lang="en-US" sz="750" dirty="0"/>
          </a:p>
        </p:txBody>
      </p:sp>
      <p:sp>
        <p:nvSpPr>
          <p:cNvPr id="30" name="Shape 24"/>
          <p:cNvSpPr/>
          <p:nvPr/>
        </p:nvSpPr>
        <p:spPr>
          <a:xfrm>
            <a:off x="7388352" y="2569464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388352" y="25694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P-2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365760" y="3044952"/>
            <a:ext cx="4133088" cy="1691640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65760" y="3044952"/>
            <a:ext cx="64008" cy="169164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136392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310128" y="315468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</a:t>
            </a:r>
            <a:endParaRPr lang="en-US" sz="8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191256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87552" y="317296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 Group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512064" y="3611880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requests a new Azure AD group via IDP form. Group provisioned automatically via Microsoft Graph API — no ServiceNow ticket, no wait.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12064" y="4407408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512064" y="44074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API</a:t>
            </a:r>
            <a:endParaRPr lang="en-US" sz="750" dirty="0"/>
          </a:p>
        </p:txBody>
      </p:sp>
      <p:sp>
        <p:nvSpPr>
          <p:cNvPr id="41" name="Shape 33"/>
          <p:cNvSpPr/>
          <p:nvPr/>
        </p:nvSpPr>
        <p:spPr>
          <a:xfrm>
            <a:off x="1810512" y="4407408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1810512" y="44074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 · No wait</a:t>
            </a:r>
            <a:endParaRPr lang="en-US" sz="750" dirty="0"/>
          </a:p>
        </p:txBody>
      </p:sp>
      <p:sp>
        <p:nvSpPr>
          <p:cNvPr id="43" name="Shape 35"/>
          <p:cNvSpPr/>
          <p:nvPr/>
        </p:nvSpPr>
        <p:spPr>
          <a:xfrm>
            <a:off x="3108960" y="4407408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3108960" y="44074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P-2</a:t>
            </a:r>
            <a:endParaRPr lang="en-US" sz="750" dirty="0"/>
          </a:p>
        </p:txBody>
      </p:sp>
      <p:sp>
        <p:nvSpPr>
          <p:cNvPr id="45" name="Shape 37"/>
          <p:cNvSpPr/>
          <p:nvPr/>
        </p:nvSpPr>
        <p:spPr>
          <a:xfrm>
            <a:off x="4645152" y="3044952"/>
            <a:ext cx="4133088" cy="1691640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4645152" y="3044952"/>
            <a:ext cx="64008" cy="169164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3136392"/>
            <a:ext cx="256032" cy="25603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589520" y="315468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</a:t>
            </a:r>
            <a:endParaRPr lang="en-US" sz="80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9744" y="3191256"/>
            <a:ext cx="347472" cy="34747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266944" y="317296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to AD Group</a:t>
            </a:r>
            <a:endParaRPr lang="en-US" sz="1400" dirty="0"/>
          </a:p>
        </p:txBody>
      </p:sp>
      <p:sp>
        <p:nvSpPr>
          <p:cNvPr id="51" name="Text 41"/>
          <p:cNvSpPr/>
          <p:nvPr/>
        </p:nvSpPr>
        <p:spPr>
          <a:xfrm>
            <a:off x="4791456" y="3611880"/>
            <a:ext cx="3877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 individual user membership managed through IDP. Validates group and user existence before assignment. Confirmation sent on completion.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4791456" y="4407408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4791456" y="44074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 individual</a:t>
            </a:r>
            <a:endParaRPr lang="en-US" sz="750" dirty="0"/>
          </a:p>
        </p:txBody>
      </p:sp>
      <p:sp>
        <p:nvSpPr>
          <p:cNvPr id="54" name="Shape 44"/>
          <p:cNvSpPr/>
          <p:nvPr/>
        </p:nvSpPr>
        <p:spPr>
          <a:xfrm>
            <a:off x="6089904" y="4407408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6089904" y="44074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validation built-in</a:t>
            </a:r>
            <a:endParaRPr lang="en-US" sz="750" dirty="0"/>
          </a:p>
        </p:txBody>
      </p:sp>
      <p:sp>
        <p:nvSpPr>
          <p:cNvPr id="56" name="Shape 46"/>
          <p:cNvSpPr/>
          <p:nvPr/>
        </p:nvSpPr>
        <p:spPr>
          <a:xfrm>
            <a:off x="7388352" y="4407408"/>
            <a:ext cx="1243584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7388352" y="44074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P-2</a:t>
            </a:r>
            <a:endParaRPr lang="en-US" sz="750" dirty="0"/>
          </a:p>
        </p:txBody>
      </p:sp>
      <p:sp>
        <p:nvSpPr>
          <p:cNvPr id="58" name="Shape 48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9" name="Text 49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Platform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  ·  4 WAVES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9184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 Full Self-Service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2011680" cy="65836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058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280160"/>
            <a:ext cx="1792224" cy="219456"/>
          </a:xfrm>
          <a:prstGeom prst="rect">
            <a:avLst/>
          </a:prstGeom>
          <a:solidFill>
            <a:srgbClr val="155030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801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2011680" cy="3255264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73736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7190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" y="2194560"/>
            <a:ext cx="1792224" cy="1371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2249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76656" y="224942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5488" y="2752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76656" y="275234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Onboarding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5488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6656" y="325526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 Group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5488" y="3758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76656" y="375818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to AD Group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4572000"/>
            <a:ext cx="2011680" cy="31089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5720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live in P-2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496312" y="969264"/>
            <a:ext cx="2011680" cy="65836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06040" y="10058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2606040" y="1280160"/>
            <a:ext cx="1792224" cy="219456"/>
          </a:xfrm>
          <a:prstGeom prst="rect">
            <a:avLst/>
          </a:prstGeom>
          <a:solidFill>
            <a:srgbClr val="3D2800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606040" y="12801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496312" y="1627632"/>
            <a:ext cx="2011680" cy="3255264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737360"/>
            <a:ext cx="329184" cy="32918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044952" y="17190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MVP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2606040" y="2194560"/>
            <a:ext cx="1792224" cy="1371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606040" y="2249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2807208" y="224942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promote all workflows to P-1 / P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2606040" y="2752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2807208" y="275234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system development for MVP release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2606040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2807208" y="325526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CMDB integration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2606040" y="3758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2807208" y="375818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integrations: CI/CD, K8s, Security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2496312" y="4572000"/>
            <a:ext cx="2011680" cy="310896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2496312" y="45720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this quarter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4626864" y="969264"/>
            <a:ext cx="2011680" cy="658368"/>
          </a:xfrm>
          <a:prstGeom prst="rect">
            <a:avLst/>
          </a:prstGeom>
          <a:solidFill>
            <a:srgbClr val="F4F9F6"/>
          </a:solidFill>
          <a:ln w="12700">
            <a:solidFill>
              <a:srgbClr val="F4F9F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736592" y="10058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4736592" y="1280160"/>
            <a:ext cx="1792224" cy="21945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736592" y="12801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626864" y="1627632"/>
            <a:ext cx="2011680" cy="3255264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737360"/>
            <a:ext cx="329184" cy="329184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5175504" y="17190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4736592" y="2194560"/>
            <a:ext cx="1792224" cy="1371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4736592" y="2249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4937760" y="224942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 provisioning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4736592" y="2752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4937760" y="275234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infrastructure workflows</a:t>
            </a: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4736592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4937760" y="325526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visibility integration</a:t>
            </a:r>
            <a:endParaRPr lang="en-US" sz="950" dirty="0"/>
          </a:p>
        </p:txBody>
      </p:sp>
      <p:sp>
        <p:nvSpPr>
          <p:cNvPr id="55" name="Text 50"/>
          <p:cNvSpPr/>
          <p:nvPr/>
        </p:nvSpPr>
        <p:spPr>
          <a:xfrm>
            <a:off x="4736592" y="3758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4937760" y="375818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onboarding automation</a:t>
            </a:r>
            <a:endParaRPr lang="en-US" sz="950" dirty="0"/>
          </a:p>
        </p:txBody>
      </p:sp>
      <p:sp>
        <p:nvSpPr>
          <p:cNvPr id="57" name="Shape 52"/>
          <p:cNvSpPr/>
          <p:nvPr/>
        </p:nvSpPr>
        <p:spPr>
          <a:xfrm>
            <a:off x="4626864" y="4572000"/>
            <a:ext cx="2011680" cy="31089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4626864" y="45720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target</a:t>
            </a:r>
            <a:endParaRPr lang="en-US" sz="850" dirty="0"/>
          </a:p>
        </p:txBody>
      </p:sp>
      <p:sp>
        <p:nvSpPr>
          <p:cNvPr id="59" name="Shape 54"/>
          <p:cNvSpPr/>
          <p:nvPr/>
        </p:nvSpPr>
        <p:spPr>
          <a:xfrm>
            <a:off x="6757416" y="969264"/>
            <a:ext cx="2011680" cy="658368"/>
          </a:xfrm>
          <a:prstGeom prst="rect">
            <a:avLst/>
          </a:prstGeom>
          <a:solidFill>
            <a:srgbClr val="F4F9F6"/>
          </a:solidFill>
          <a:ln w="12700">
            <a:solidFill>
              <a:srgbClr val="F4F9F6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6867144" y="100584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4</a:t>
            </a:r>
            <a:endParaRPr lang="en-US" sz="1300" dirty="0"/>
          </a:p>
        </p:txBody>
      </p:sp>
      <p:sp>
        <p:nvSpPr>
          <p:cNvPr id="61" name="Shape 56"/>
          <p:cNvSpPr/>
          <p:nvPr/>
        </p:nvSpPr>
        <p:spPr>
          <a:xfrm>
            <a:off x="6867144" y="1280160"/>
            <a:ext cx="1792224" cy="21945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6867144" y="12801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>
            <a:off x="6757416" y="1627632"/>
            <a:ext cx="2011680" cy="3255264"/>
          </a:xfrm>
          <a:prstGeom prst="rect">
            <a:avLst/>
          </a:prstGeom>
          <a:solidFill>
            <a:srgbClr val="F4F9F6"/>
          </a:solidFill>
          <a:ln w="12700">
            <a:solidFill>
              <a:srgbClr val="C5DFD0"/>
            </a:solidFill>
            <a:prstDash val="solid"/>
          </a:ln>
        </p:spPr>
      </p:sp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1737360"/>
            <a:ext cx="329184" cy="329184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7306056" y="17190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+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200" dirty="0"/>
          </a:p>
        </p:txBody>
      </p:sp>
      <p:sp>
        <p:nvSpPr>
          <p:cNvPr id="66" name="Shape 60"/>
          <p:cNvSpPr/>
          <p:nvPr/>
        </p:nvSpPr>
        <p:spPr>
          <a:xfrm>
            <a:off x="6867144" y="2194560"/>
            <a:ext cx="1792224" cy="1371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6867144" y="2249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68" name="Text 62"/>
          <p:cNvSpPr/>
          <p:nvPr/>
        </p:nvSpPr>
        <p:spPr>
          <a:xfrm>
            <a:off x="7068312" y="224942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 via IDP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6867144" y="2752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70" name="Text 64"/>
          <p:cNvSpPr/>
          <p:nvPr/>
        </p:nvSpPr>
        <p:spPr>
          <a:xfrm>
            <a:off x="7068312" y="275234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workflow edge case handling</a:t>
            </a:r>
            <a:endParaRPr lang="en-US" sz="950" dirty="0"/>
          </a:p>
        </p:txBody>
      </p:sp>
      <p:sp>
        <p:nvSpPr>
          <p:cNvPr id="71" name="Text 65"/>
          <p:cNvSpPr/>
          <p:nvPr/>
        </p:nvSpPr>
        <p:spPr>
          <a:xfrm>
            <a:off x="6867144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72" name="Text 66"/>
          <p:cNvSpPr/>
          <p:nvPr/>
        </p:nvSpPr>
        <p:spPr>
          <a:xfrm>
            <a:off x="7068312" y="325526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developer self-service</a:t>
            </a:r>
            <a:endParaRPr lang="en-US" sz="950" dirty="0"/>
          </a:p>
        </p:txBody>
      </p:sp>
      <p:sp>
        <p:nvSpPr>
          <p:cNvPr id="73" name="Text 67"/>
          <p:cNvSpPr/>
          <p:nvPr/>
        </p:nvSpPr>
        <p:spPr>
          <a:xfrm>
            <a:off x="6867144" y="3758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74" name="Text 68"/>
          <p:cNvSpPr/>
          <p:nvPr/>
        </p:nvSpPr>
        <p:spPr>
          <a:xfrm>
            <a:off x="7068312" y="375818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automation scenarios</a:t>
            </a:r>
            <a:endParaRPr lang="en-US" sz="950" dirty="0"/>
          </a:p>
        </p:txBody>
      </p:sp>
      <p:sp>
        <p:nvSpPr>
          <p:cNvPr id="75" name="Shape 69"/>
          <p:cNvSpPr/>
          <p:nvPr/>
        </p:nvSpPr>
        <p:spPr>
          <a:xfrm>
            <a:off x="6757416" y="4572000"/>
            <a:ext cx="2011680" cy="310896"/>
          </a:xfrm>
          <a:prstGeom prst="rect">
            <a:avLst/>
          </a:prstGeom>
          <a:solidFill>
            <a:srgbClr val="C5DFD0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76" name="Text 70"/>
          <p:cNvSpPr/>
          <p:nvPr/>
        </p:nvSpPr>
        <p:spPr>
          <a:xfrm>
            <a:off x="6757416" y="45720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850" dirty="0"/>
          </a:p>
        </p:txBody>
      </p:sp>
      <p:sp>
        <p:nvSpPr>
          <p:cNvPr id="77" name="Text 71"/>
          <p:cNvSpPr/>
          <p:nvPr/>
        </p:nvSpPr>
        <p:spPr>
          <a:xfrm>
            <a:off x="2400300" y="1097280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78" name="Text 72"/>
          <p:cNvSpPr/>
          <p:nvPr/>
        </p:nvSpPr>
        <p:spPr>
          <a:xfrm>
            <a:off x="4530852" y="1097280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79" name="Text 73"/>
          <p:cNvSpPr/>
          <p:nvPr/>
        </p:nvSpPr>
        <p:spPr>
          <a:xfrm>
            <a:off x="6661404" y="1097280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80" name="Shape 74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81" name="Text 75"/>
          <p:cNvSpPr/>
          <p:nvPr/>
        </p:nvSpPr>
        <p:spPr>
          <a:xfrm>
            <a:off x="365760" y="5020056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 ·  Platform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JULY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Promotion Across Accounts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Terraform-driven promotion of all 4 Wave 1 workflows from P-2 to P-1 / Production accounts.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1417320"/>
            <a:ext cx="2011680" cy="2194560"/>
          </a:xfrm>
          <a:prstGeom prst="rect">
            <a:avLst/>
          </a:prstGeom>
          <a:solidFill>
            <a:srgbClr val="155030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8191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80160" y="2825496"/>
            <a:ext cx="1463040" cy="292608"/>
          </a:xfrm>
          <a:prstGeom prst="rect">
            <a:avLst/>
          </a:prstGeom>
          <a:solidFill>
            <a:srgbClr val="0F3D23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825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" y="324612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 Repo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K8s Onboarding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 AD Group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Add Users to AD Group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566160" y="1417320"/>
            <a:ext cx="2011680" cy="2194560"/>
          </a:xfrm>
          <a:prstGeom prst="rect">
            <a:avLst/>
          </a:prstGeom>
          <a:solidFill>
            <a:srgbClr val="155030"/>
          </a:solidFill>
          <a:ln w="25400">
            <a:solidFill>
              <a:srgbClr val="E8A4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58191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356616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2825496"/>
            <a:ext cx="1463040" cy="292608"/>
          </a:xfrm>
          <a:prstGeom prst="rect">
            <a:avLst/>
          </a:prstGeom>
          <a:solidFill>
            <a:srgbClr val="0F3D23"/>
          </a:solidFill>
          <a:ln w="12700">
            <a:solidFill>
              <a:srgbClr val="E8A4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825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DEMO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12464" y="324612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 Repo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K8s Onboarding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 AD Group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A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Add Users to AD Group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2011680" cy="2194560"/>
          </a:xfrm>
          <a:prstGeom prst="rect">
            <a:avLst/>
          </a:prstGeom>
          <a:solidFill>
            <a:srgbClr val="1A4530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58191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612648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2825496"/>
            <a:ext cx="1463040" cy="292608"/>
          </a:xfrm>
          <a:prstGeom prst="rect">
            <a:avLst/>
          </a:prstGeom>
          <a:solidFill>
            <a:srgbClr val="0F3D23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825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NEXT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72784" y="324612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 Repo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K8s Onboarding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 AD Group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Add Users to AD Group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072384" y="228600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072384" y="25968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32704" y="228600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632704" y="25968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3785616"/>
            <a:ext cx="8412480" cy="182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85876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 IN THE DEMO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" y="407822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workflow request via IDP form in P-2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42032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834640" y="407822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pipeline triggers — promotes configuration across accounts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18304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407822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workflows become available in P-1 account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94576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87184" y="407822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Confirmation: same IDP form, same experience, new account target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 Platform — July Capstone</dc:title>
  <dc:subject>PptxGenJS Presentation</dc:subject>
  <dc:creator>PptxGenJS</dc:creator>
  <cp:lastModifiedBy>PptxGenJS</cp:lastModifiedBy>
  <cp:revision>1</cp:revision>
  <dcterms:created xsi:type="dcterms:W3CDTF">2026-06-03T11:16:03Z</dcterms:created>
  <dcterms:modified xsi:type="dcterms:W3CDTF">2026-06-03T11:16:03Z</dcterms:modified>
</cp:coreProperties>
</file>