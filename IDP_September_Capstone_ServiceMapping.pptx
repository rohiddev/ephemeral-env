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 ·  IDP PLATFORM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Mapping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in every repo. CSDM as Code flowing to CMDB. SBOM and telemetry keeping it accurate. Blast radius available before incidents happen.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8412480" cy="16459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267712"/>
            <a:ext cx="2679192" cy="804672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86000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" y="2724912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IN SCOPE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889504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in every GitHub repo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27832" y="2267712"/>
            <a:ext cx="2679192" cy="804672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2286000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27832" y="2724912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TYPES MAPPED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27832" y="2889504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DB · MQ · SFTP · Kafka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89904" y="2267712"/>
            <a:ext cx="2679192" cy="804672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9904" y="2286000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89904" y="2724912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REPORTS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89904" y="2889504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1–5 apps proactively covered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145536"/>
            <a:ext cx="8412480" cy="274320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31455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AUGUST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591056" y="3255264"/>
            <a:ext cx="16459" cy="54864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64208" y="3145536"/>
            <a:ext cx="7022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MVP live  ·  Wave 2 Terraform complete  ·  now.yaml schema validated  ·  Batch seeding underway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8412480" cy="16459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547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767328"/>
            <a:ext cx="2679192" cy="1152144"/>
          </a:xfrm>
          <a:prstGeom prst="rect">
            <a:avLst/>
          </a:prstGeom>
          <a:solidFill>
            <a:srgbClr val="155030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767328"/>
            <a:ext cx="2679192" cy="3657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382219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93776" y="4242816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MAPPING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" y="4462272"/>
            <a:ext cx="2459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→ CMDB → ITOM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relationship pipeline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27832" y="3767328"/>
            <a:ext cx="2679192" cy="1152144"/>
          </a:xfrm>
          <a:prstGeom prst="rect">
            <a:avLst/>
          </a:prstGeom>
          <a:solidFill>
            <a:srgbClr val="155030"/>
          </a:solidFill>
          <a:ln w="19050">
            <a:solidFill>
              <a:srgbClr val="2D7D4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27832" y="3767328"/>
            <a:ext cx="2679192" cy="36576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382219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355848" y="4242816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55848" y="4462272"/>
            <a:ext cx="2459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+ Datadog/Dynatrace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alert system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89904" y="3767328"/>
            <a:ext cx="2679192" cy="1152144"/>
          </a:xfrm>
          <a:prstGeom prst="rect">
            <a:avLst/>
          </a:prstGeom>
          <a:solidFill>
            <a:srgbClr val="155030"/>
          </a:solidFill>
          <a:ln w="19050">
            <a:solidFill>
              <a:srgbClr val="2D7D4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9904" y="3767328"/>
            <a:ext cx="2679192" cy="36576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82219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217920" y="4242816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4462272"/>
            <a:ext cx="2459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proactive reports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P1 impact analysis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MAPPING  ·  CSDM AS CODE  ·  RAPDEV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383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Code Repo to CMDB — Relationships Captured Automatically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1883664" cy="768096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241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committed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team / batch program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267712" y="118872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50592" y="950976"/>
            <a:ext cx="1883664" cy="768096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104241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RapDev CSDM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42032" y="1353312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now.yaml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to ServiceNow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52544" y="118872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35424" y="950976"/>
            <a:ext cx="1883664" cy="768096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04241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CMDB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6864" y="1353312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records created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mapped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37376" y="118872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620256" y="950976"/>
            <a:ext cx="1883664" cy="76809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104241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ITOM Visibility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11696" y="1353312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map built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available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1883664"/>
            <a:ext cx="2706624" cy="299923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883664"/>
            <a:ext cx="2706624" cy="34747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192024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Types in now.yaml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432304"/>
            <a:ext cx="201168" cy="20116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86384" y="2340864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/ APIs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86384" y="257860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application services</a:t>
            </a:r>
            <a:endParaRPr lang="en-US" sz="8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2907792"/>
            <a:ext cx="201168" cy="20116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86384" y="2816352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786384" y="305409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· SQL Server · PostgreSQL</a:t>
            </a:r>
            <a:endParaRPr lang="en-US" sz="8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383280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86384" y="329184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MQ Queues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786384" y="352958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· Reply · Pub-Sub</a:t>
            </a:r>
            <a:endParaRPr lang="en-US" sz="8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858768"/>
            <a:ext cx="201168" cy="20116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86384" y="3767328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Endpoints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786384" y="400507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and outbound transfers</a:t>
            </a:r>
            <a:endParaRPr lang="en-US" sz="8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4334256"/>
            <a:ext cx="201168" cy="20116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86384" y="424281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Topics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786384" y="448056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· Consumer · Consumer group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3255264" y="1883664"/>
            <a:ext cx="2798064" cy="299923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383280" y="192024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— Relationship Declarations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3383280" y="2212848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A8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service:</a:t>
            </a:r>
            <a:endParaRPr lang="en-US" sz="780" dirty="0"/>
          </a:p>
        </p:txBody>
      </p:sp>
      <p:sp>
        <p:nvSpPr>
          <p:cNvPr id="41" name="Text 34"/>
          <p:cNvSpPr/>
          <p:nvPr/>
        </p:nvSpPr>
        <p:spPr>
          <a:xfrm>
            <a:off x="3383280" y="2348179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D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payments-api</a:t>
            </a:r>
            <a:endParaRPr lang="en-US" sz="780" dirty="0"/>
          </a:p>
        </p:txBody>
      </p:sp>
      <p:sp>
        <p:nvSpPr>
          <p:cNvPr id="42" name="Text 35"/>
          <p:cNvSpPr/>
          <p:nvPr/>
        </p:nvSpPr>
        <p:spPr>
          <a:xfrm>
            <a:off x="3383280" y="2483510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D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app_key: PAY001</a:t>
            </a:r>
            <a:endParaRPr lang="en-US" sz="780" dirty="0"/>
          </a:p>
        </p:txBody>
      </p:sp>
      <p:sp>
        <p:nvSpPr>
          <p:cNvPr id="43" name="Text 36"/>
          <p:cNvSpPr/>
          <p:nvPr/>
        </p:nvSpPr>
        <p:spPr>
          <a:xfrm>
            <a:off x="3383280" y="2618842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D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tier: 1</a:t>
            </a:r>
            <a:endParaRPr lang="en-US" sz="780" dirty="0"/>
          </a:p>
        </p:txBody>
      </p:sp>
      <p:sp>
        <p:nvSpPr>
          <p:cNvPr id="44" name="Text 37"/>
          <p:cNvSpPr/>
          <p:nvPr/>
        </p:nvSpPr>
        <p:spPr>
          <a:xfrm>
            <a:off x="3383280" y="2754173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D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owner: payments-team</a:t>
            </a:r>
            <a:endParaRPr lang="en-US" sz="780" dirty="0"/>
          </a:p>
        </p:txBody>
      </p:sp>
      <p:sp>
        <p:nvSpPr>
          <p:cNvPr id="45" name="Text 38"/>
          <p:cNvSpPr/>
          <p:nvPr/>
        </p:nvSpPr>
        <p:spPr>
          <a:xfrm>
            <a:off x="3383280" y="2889504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80" dirty="0"/>
          </a:p>
        </p:txBody>
      </p:sp>
      <p:sp>
        <p:nvSpPr>
          <p:cNvPr id="46" name="Text 39"/>
          <p:cNvSpPr/>
          <p:nvPr/>
        </p:nvSpPr>
        <p:spPr>
          <a:xfrm>
            <a:off x="3383280" y="3024835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A8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dependencies:</a:t>
            </a:r>
            <a:endParaRPr lang="en-US" sz="780" dirty="0"/>
          </a:p>
        </p:txBody>
      </p:sp>
      <p:sp>
        <p:nvSpPr>
          <p:cNvPr id="47" name="Text 40"/>
          <p:cNvSpPr/>
          <p:nvPr/>
        </p:nvSpPr>
        <p:spPr>
          <a:xfrm>
            <a:off x="3383280" y="3160166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A8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databases:</a:t>
            </a:r>
            <a:endParaRPr lang="en-US" sz="780" dirty="0"/>
          </a:p>
        </p:txBody>
      </p:sp>
      <p:sp>
        <p:nvSpPr>
          <p:cNvPr id="48" name="Text 41"/>
          <p:cNvSpPr/>
          <p:nvPr/>
        </p:nvSpPr>
        <p:spPr>
          <a:xfrm>
            <a:off x="3383280" y="3295498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D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payments-db</a:t>
            </a:r>
            <a:endParaRPr lang="en-US" sz="780" dirty="0"/>
          </a:p>
        </p:txBody>
      </p:sp>
      <p:sp>
        <p:nvSpPr>
          <p:cNvPr id="49" name="Text 42"/>
          <p:cNvSpPr/>
          <p:nvPr/>
        </p:nvSpPr>
        <p:spPr>
          <a:xfrm>
            <a:off x="3383280" y="3430829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D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engine: oracle</a:t>
            </a:r>
            <a:endParaRPr lang="en-US" sz="780" dirty="0"/>
          </a:p>
        </p:txBody>
      </p:sp>
      <p:sp>
        <p:nvSpPr>
          <p:cNvPr id="50" name="Text 43"/>
          <p:cNvSpPr/>
          <p:nvPr/>
        </p:nvSpPr>
        <p:spPr>
          <a:xfrm>
            <a:off x="3383280" y="3566160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A8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queues:</a:t>
            </a:r>
            <a:endParaRPr lang="en-US" sz="780" dirty="0"/>
          </a:p>
        </p:txBody>
      </p:sp>
      <p:sp>
        <p:nvSpPr>
          <p:cNvPr id="51" name="Text 44"/>
          <p:cNvSpPr/>
          <p:nvPr/>
        </p:nvSpPr>
        <p:spPr>
          <a:xfrm>
            <a:off x="3383280" y="3701491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D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PAYMENT.REQUEST.Q</a:t>
            </a:r>
            <a:endParaRPr lang="en-US" sz="780" dirty="0"/>
          </a:p>
        </p:txBody>
      </p:sp>
      <p:sp>
        <p:nvSpPr>
          <p:cNvPr id="52" name="Text 45"/>
          <p:cNvSpPr/>
          <p:nvPr/>
        </p:nvSpPr>
        <p:spPr>
          <a:xfrm>
            <a:off x="3383280" y="3836822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D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direction: consumer</a:t>
            </a:r>
            <a:endParaRPr lang="en-US" sz="780" dirty="0"/>
          </a:p>
        </p:txBody>
      </p:sp>
      <p:sp>
        <p:nvSpPr>
          <p:cNvPr id="53" name="Text 46"/>
          <p:cNvSpPr/>
          <p:nvPr/>
        </p:nvSpPr>
        <p:spPr>
          <a:xfrm>
            <a:off x="3383280" y="3972154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A8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kafka:</a:t>
            </a:r>
            <a:endParaRPr lang="en-US" sz="780" dirty="0"/>
          </a:p>
        </p:txBody>
      </p:sp>
      <p:sp>
        <p:nvSpPr>
          <p:cNvPr id="54" name="Text 47"/>
          <p:cNvSpPr/>
          <p:nvPr/>
        </p:nvSpPr>
        <p:spPr>
          <a:xfrm>
            <a:off x="3383280" y="4107485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D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topic: payment-events</a:t>
            </a:r>
            <a:endParaRPr lang="en-US" sz="780" dirty="0"/>
          </a:p>
        </p:txBody>
      </p:sp>
      <p:sp>
        <p:nvSpPr>
          <p:cNvPr id="55" name="Text 48"/>
          <p:cNvSpPr/>
          <p:nvPr/>
        </p:nvSpPr>
        <p:spPr>
          <a:xfrm>
            <a:off x="3383280" y="4242816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D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role: producer</a:t>
            </a:r>
            <a:endParaRPr lang="en-US" sz="780" dirty="0"/>
          </a:p>
        </p:txBody>
      </p:sp>
      <p:sp>
        <p:nvSpPr>
          <p:cNvPr id="56" name="Text 49"/>
          <p:cNvSpPr/>
          <p:nvPr/>
        </p:nvSpPr>
        <p:spPr>
          <a:xfrm>
            <a:off x="3383280" y="4378147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A8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sftp:</a:t>
            </a:r>
            <a:endParaRPr lang="en-US" sz="780" dirty="0"/>
          </a:p>
        </p:txBody>
      </p:sp>
      <p:sp>
        <p:nvSpPr>
          <p:cNvPr id="57" name="Text 50"/>
          <p:cNvSpPr/>
          <p:nvPr/>
        </p:nvSpPr>
        <p:spPr>
          <a:xfrm>
            <a:off x="3383280" y="4513478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D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host: partner-sftp.com</a:t>
            </a:r>
            <a:endParaRPr lang="en-US" sz="780" dirty="0"/>
          </a:p>
        </p:txBody>
      </p:sp>
      <p:sp>
        <p:nvSpPr>
          <p:cNvPr id="58" name="Text 51"/>
          <p:cNvSpPr/>
          <p:nvPr/>
        </p:nvSpPr>
        <p:spPr>
          <a:xfrm>
            <a:off x="3383280" y="4648810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8D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direction: outbound</a:t>
            </a:r>
            <a:endParaRPr lang="en-US" sz="780" dirty="0"/>
          </a:p>
        </p:txBody>
      </p:sp>
      <p:sp>
        <p:nvSpPr>
          <p:cNvPr id="59" name="Shape 52"/>
          <p:cNvSpPr/>
          <p:nvPr/>
        </p:nvSpPr>
        <p:spPr>
          <a:xfrm>
            <a:off x="6236208" y="1883664"/>
            <a:ext cx="2542032" cy="2999232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6236208" y="1883664"/>
            <a:ext cx="2542032" cy="34747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6364224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Relationships Created</a:t>
            </a:r>
            <a:endParaRPr lang="en-US" sz="1100" dirty="0"/>
          </a:p>
        </p:txBody>
      </p:sp>
      <p:sp>
        <p:nvSpPr>
          <p:cNvPr id="62" name="Shape 55"/>
          <p:cNvSpPr/>
          <p:nvPr/>
        </p:nvSpPr>
        <p:spPr>
          <a:xfrm>
            <a:off x="6364224" y="2340864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63" name="Text 56"/>
          <p:cNvSpPr/>
          <p:nvPr/>
        </p:nvSpPr>
        <p:spPr>
          <a:xfrm>
            <a:off x="6455664" y="23774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payments-api</a:t>
            </a:r>
            <a:endParaRPr lang="en-US" sz="850" dirty="0"/>
          </a:p>
        </p:txBody>
      </p:sp>
      <p:sp>
        <p:nvSpPr>
          <p:cNvPr id="64" name="Text 57"/>
          <p:cNvSpPr/>
          <p:nvPr/>
        </p:nvSpPr>
        <p:spPr>
          <a:xfrm>
            <a:off x="6455664" y="252374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</a:t>
            </a:r>
            <a:endParaRPr lang="en-US" sz="750" dirty="0"/>
          </a:p>
        </p:txBody>
      </p:sp>
      <p:sp>
        <p:nvSpPr>
          <p:cNvPr id="65" name="Text 58"/>
          <p:cNvSpPr/>
          <p:nvPr/>
        </p:nvSpPr>
        <p:spPr>
          <a:xfrm>
            <a:off x="6455664" y="26700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payments-db (Oracle)</a:t>
            </a:r>
            <a:endParaRPr lang="en-US" sz="850" dirty="0"/>
          </a:p>
        </p:txBody>
      </p:sp>
      <p:sp>
        <p:nvSpPr>
          <p:cNvPr id="66" name="Shape 59"/>
          <p:cNvSpPr/>
          <p:nvPr/>
        </p:nvSpPr>
        <p:spPr>
          <a:xfrm>
            <a:off x="6364224" y="2962656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67" name="Text 60"/>
          <p:cNvSpPr/>
          <p:nvPr/>
        </p:nvSpPr>
        <p:spPr>
          <a:xfrm>
            <a:off x="6455664" y="29992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payments-api</a:t>
            </a:r>
            <a:endParaRPr lang="en-US" sz="850" dirty="0"/>
          </a:p>
        </p:txBody>
      </p:sp>
      <p:sp>
        <p:nvSpPr>
          <p:cNvPr id="68" name="Text 61"/>
          <p:cNvSpPr/>
          <p:nvPr/>
        </p:nvSpPr>
        <p:spPr>
          <a:xfrm>
            <a:off x="6455664" y="314553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from</a:t>
            </a:r>
            <a:endParaRPr lang="en-US" sz="750" dirty="0"/>
          </a:p>
        </p:txBody>
      </p:sp>
      <p:sp>
        <p:nvSpPr>
          <p:cNvPr id="69" name="Text 62"/>
          <p:cNvSpPr/>
          <p:nvPr/>
        </p:nvSpPr>
        <p:spPr>
          <a:xfrm>
            <a:off x="6455664" y="32918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PAYMENT.REQUEST.Q</a:t>
            </a:r>
            <a:endParaRPr lang="en-US" sz="850" dirty="0"/>
          </a:p>
        </p:txBody>
      </p:sp>
      <p:sp>
        <p:nvSpPr>
          <p:cNvPr id="70" name="Shape 63"/>
          <p:cNvSpPr/>
          <p:nvPr/>
        </p:nvSpPr>
        <p:spPr>
          <a:xfrm>
            <a:off x="6364224" y="3584448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71" name="Text 64"/>
          <p:cNvSpPr/>
          <p:nvPr/>
        </p:nvSpPr>
        <p:spPr>
          <a:xfrm>
            <a:off x="6455664" y="362102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payments-api</a:t>
            </a:r>
            <a:endParaRPr lang="en-US" sz="850" dirty="0"/>
          </a:p>
        </p:txBody>
      </p:sp>
      <p:sp>
        <p:nvSpPr>
          <p:cNvPr id="72" name="Text 65"/>
          <p:cNvSpPr/>
          <p:nvPr/>
        </p:nvSpPr>
        <p:spPr>
          <a:xfrm>
            <a:off x="6455664" y="37673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to</a:t>
            </a:r>
            <a:endParaRPr lang="en-US" sz="750" dirty="0"/>
          </a:p>
        </p:txBody>
      </p:sp>
      <p:sp>
        <p:nvSpPr>
          <p:cNvPr id="73" name="Text 66"/>
          <p:cNvSpPr/>
          <p:nvPr/>
        </p:nvSpPr>
        <p:spPr>
          <a:xfrm>
            <a:off x="6455664" y="39136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payment-events (Kafka)</a:t>
            </a:r>
            <a:endParaRPr lang="en-US" sz="850" dirty="0"/>
          </a:p>
        </p:txBody>
      </p:sp>
      <p:sp>
        <p:nvSpPr>
          <p:cNvPr id="74" name="Shape 67"/>
          <p:cNvSpPr/>
          <p:nvPr/>
        </p:nvSpPr>
        <p:spPr>
          <a:xfrm>
            <a:off x="6364224" y="4206240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75" name="Text 68"/>
          <p:cNvSpPr/>
          <p:nvPr/>
        </p:nvSpPr>
        <p:spPr>
          <a:xfrm>
            <a:off x="6455664" y="424281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payments-api</a:t>
            </a:r>
            <a:endParaRPr lang="en-US" sz="850" dirty="0"/>
          </a:p>
        </p:txBody>
      </p:sp>
      <p:sp>
        <p:nvSpPr>
          <p:cNvPr id="76" name="Text 69"/>
          <p:cNvSpPr/>
          <p:nvPr/>
        </p:nvSpPr>
        <p:spPr>
          <a:xfrm>
            <a:off x="6455664" y="438912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via</a:t>
            </a:r>
            <a:endParaRPr lang="en-US" sz="750" dirty="0"/>
          </a:p>
        </p:txBody>
      </p:sp>
      <p:sp>
        <p:nvSpPr>
          <p:cNvPr id="77" name="Text 70"/>
          <p:cNvSpPr/>
          <p:nvPr/>
        </p:nvSpPr>
        <p:spPr>
          <a:xfrm>
            <a:off x="6455664" y="453542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partner-sftp.com</a:t>
            </a:r>
            <a:endParaRPr lang="en-US" sz="850" dirty="0"/>
          </a:p>
        </p:txBody>
      </p:sp>
      <p:sp>
        <p:nvSpPr>
          <p:cNvPr id="78" name="Shape 71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79" name="Text 72"/>
          <p:cNvSpPr/>
          <p:nvPr/>
        </p:nvSpPr>
        <p:spPr>
          <a:xfrm>
            <a:off x="36576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 ·  Service Mapping  ·  CSDM as Code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 ·  SBOM + OBSERVABILITY TELEMETRY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383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now.yaml Accurate — Two Independent Signals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2706624" cy="391363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9264"/>
            <a:ext cx="2706624" cy="402336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00584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1 — SBOM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" y="1207008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 ·  Build time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3776" y="144475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detected in codebase not declared in now.yaml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3776" y="1993392"/>
            <a:ext cx="2450592" cy="384048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20299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kafka-clients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5216" y="21945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Kafka declared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93776" y="2432304"/>
            <a:ext cx="2450592" cy="384048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4688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ojdbc / mssql-jdbc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5216" y="263347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Database declared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3776" y="2871216"/>
            <a:ext cx="2450592" cy="384048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29077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ibm-mq client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5216" y="307238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Queue declared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93776" y="3310128"/>
            <a:ext cx="2450592" cy="384048"/>
          </a:xfrm>
          <a:prstGeom prst="rect">
            <a:avLst/>
          </a:prstGeom>
          <a:solidFill>
            <a:srgbClr val="155030"/>
          </a:solidFill>
          <a:ln w="6350">
            <a:solidFill>
              <a:srgbClr val="2D7D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33467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jsch / commons-net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5216" y="351129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SFTP declared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3776" y="382219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positives: HIGH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transitive deps, base image artifacts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3776" y="4279392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Medium — early warning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18688" y="969264"/>
            <a:ext cx="2706624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18688" y="969264"/>
            <a:ext cx="2706624" cy="402336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46704" y="100584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Logic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46704" y="1207008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pipeline · cross-reference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46704" y="1481328"/>
            <a:ext cx="2450592" cy="1499616"/>
          </a:xfrm>
          <a:prstGeom prst="rect">
            <a:avLst/>
          </a:prstGeom>
          <a:solidFill>
            <a:srgbClr val="2E1800"/>
          </a:solidFill>
          <a:ln w="12700">
            <a:solidFill>
              <a:srgbClr val="E8A4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38144" y="1554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Alert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38144" y="17556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only — no telemetry signal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38144" y="19568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Low urgency — IDP scorecard flag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38144" y="21762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System auto-suggests reason code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38144" y="23957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Developer suppresses with one click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38144" y="2615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Logged with 90-day auto-expiry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46704" y="2761488"/>
            <a:ext cx="2450592" cy="201168"/>
          </a:xfrm>
          <a:prstGeom prst="rect">
            <a:avLst/>
          </a:prstGeom>
          <a:solidFill>
            <a:srgbClr val="E8A455"/>
          </a:solidFill>
          <a:ln w="12700">
            <a:solidFill>
              <a:srgbClr val="E8A4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46704" y="276148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false positive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46704" y="3127248"/>
            <a:ext cx="2450592" cy="1499616"/>
          </a:xfrm>
          <a:prstGeom prst="rect">
            <a:avLst/>
          </a:prstGeom>
          <a:solidFill>
            <a:srgbClr val="2E0A0A"/>
          </a:solidFill>
          <a:ln w="12700">
            <a:solidFill>
              <a:srgbClr val="E855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38144" y="32004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Alert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38144" y="34015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+ Telemetry confirmed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438144" y="36027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High urgency — scorecard penalised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38144" y="3822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Cannot be auto-suppressed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438144" y="4041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Team lead approval required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438144" y="42611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ServiceNow change record auto-created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346704" y="4407408"/>
            <a:ext cx="2450592" cy="201168"/>
          </a:xfrm>
          <a:prstGeom prst="rect">
            <a:avLst/>
          </a:prstGeom>
          <a:solidFill>
            <a:srgbClr val="E85555"/>
          </a:solidFill>
          <a:ln w="12700">
            <a:solidFill>
              <a:srgbClr val="E855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46704" y="440740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drift — must act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46704" y="299923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071616" y="969264"/>
            <a:ext cx="2706624" cy="391363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71616" y="969264"/>
            <a:ext cx="2706624" cy="4023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9632" y="100584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2 — Telemetry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199632" y="1207008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 ·  Datadog / Dynatrace APM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199632" y="144475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runtime connections not declared in now.yaml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99632" y="1993392"/>
            <a:ext cx="2450592" cy="384048"/>
          </a:xfrm>
          <a:prstGeom prst="rect">
            <a:avLst/>
          </a:prstGeom>
          <a:solidFill>
            <a:srgbClr val="155030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91072" y="20299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DB connection traces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291072" y="21945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Database in now.yaml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199632" y="2432304"/>
            <a:ext cx="2450592" cy="384048"/>
          </a:xfrm>
          <a:prstGeom prst="rect">
            <a:avLst/>
          </a:prstGeom>
          <a:solidFill>
            <a:srgbClr val="155030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91072" y="24688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consumer metrics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291072" y="263347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Kafka topic declared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199632" y="2871216"/>
            <a:ext cx="2450592" cy="384048"/>
          </a:xfrm>
          <a:prstGeom prst="rect">
            <a:avLst/>
          </a:prstGeom>
          <a:solidFill>
            <a:srgbClr val="155030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91072" y="29077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queue depth signals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291072" y="307238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Queue declared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199632" y="3310128"/>
            <a:ext cx="2450592" cy="384048"/>
          </a:xfrm>
          <a:prstGeom prst="rect">
            <a:avLst/>
          </a:prstGeom>
          <a:solidFill>
            <a:srgbClr val="155030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91072" y="33467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session traces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291072" y="351129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SFTP endpoint declared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199632" y="382219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positives: VERY LOW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if APM sees it, it is real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199632" y="4279392"/>
            <a:ext cx="2450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Very High — ground truth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 ·  Service Mapping  ·  Drift Detection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 ·  ITOM OPERATIONS  ·  KEEPING IT ACCURATE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383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to Proactive — Service Map That's Always Current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2798064" cy="3913632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9264"/>
            <a:ext cx="2798064" cy="402336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00584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Nightly Reports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1207008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delivered before incidents happen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93776" y="1499616"/>
            <a:ext cx="2542032" cy="457200"/>
          </a:xfrm>
          <a:prstGeom prst="rect">
            <a:avLst/>
          </a:prstGeom>
          <a:solidFill>
            <a:srgbClr val="1A3D28"/>
          </a:solidFill>
          <a:ln w="12700">
            <a:solidFill>
              <a:srgbClr val="E855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" y="1499616"/>
            <a:ext cx="54864" cy="457200"/>
          </a:xfrm>
          <a:prstGeom prst="rect">
            <a:avLst/>
          </a:prstGeom>
          <a:solidFill>
            <a:srgbClr val="E85555"/>
          </a:solidFill>
          <a:ln w="12700">
            <a:solidFill>
              <a:srgbClr val="E8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3619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criticality · P1 response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93776" y="2029968"/>
            <a:ext cx="2542032" cy="457200"/>
          </a:xfrm>
          <a:prstGeom prst="rect">
            <a:avLst/>
          </a:prstGeom>
          <a:solidFill>
            <a:srgbClr val="1A3D28"/>
          </a:solidFill>
          <a:ln w="12700">
            <a:solidFill>
              <a:srgbClr val="E8A4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" y="2029968"/>
            <a:ext cx="54864" cy="457200"/>
          </a:xfrm>
          <a:prstGeom prst="rect">
            <a:avLst/>
          </a:prstGeom>
          <a:solidFill>
            <a:srgbClr val="E8A455"/>
          </a:solidFill>
          <a:ln w="12700">
            <a:solidFill>
              <a:srgbClr val="E8A4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06654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26771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· Major incident scope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3776" y="2560320"/>
            <a:ext cx="2542032" cy="457200"/>
          </a:xfrm>
          <a:prstGeom prst="rect">
            <a:avLst/>
          </a:prstGeom>
          <a:solidFill>
            <a:srgbClr val="1A3D28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" y="2560320"/>
            <a:ext cx="54864" cy="45720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59689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279806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· Standard escalation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93776" y="3090672"/>
            <a:ext cx="2542032" cy="457200"/>
          </a:xfrm>
          <a:prstGeom prst="rect">
            <a:avLst/>
          </a:prstGeom>
          <a:solidFill>
            <a:srgbClr val="1A3D28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" y="3090672"/>
            <a:ext cx="54864" cy="457200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12724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328416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· Normal SLA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3776" y="3621024"/>
            <a:ext cx="2542032" cy="457200"/>
          </a:xfrm>
          <a:prstGeom prst="rect">
            <a:avLst/>
          </a:prstGeom>
          <a:solidFill>
            <a:srgbClr val="1A3D28"/>
          </a:solidFill>
          <a:ln w="12700">
            <a:solidFill>
              <a:srgbClr val="8AA89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" y="3621024"/>
            <a:ext cx="54864" cy="457200"/>
          </a:xfrm>
          <a:prstGeom prst="rect">
            <a:avLst/>
          </a:prstGeom>
          <a:solidFill>
            <a:srgbClr val="8AA898"/>
          </a:solidFill>
          <a:ln w="12700">
            <a:solidFill>
              <a:srgbClr val="8AA89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65760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858768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· Best effort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3776" y="4224528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includes: impacted CIs · dependency depth · change risk · last validated date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346704" y="969264"/>
            <a:ext cx="2706624" cy="3913632"/>
          </a:xfrm>
          <a:prstGeom prst="rect">
            <a:avLst/>
          </a:prstGeom>
          <a:solidFill>
            <a:srgbClr val="155030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46704" y="969264"/>
            <a:ext cx="2706624" cy="4023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100584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Incident — ITOM Response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74720" y="1207008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 accurate service map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474720" y="1481328"/>
            <a:ext cx="2450592" cy="457200"/>
          </a:xfrm>
          <a:prstGeom prst="rect">
            <a:avLst/>
          </a:prstGeom>
          <a:solidFill>
            <a:srgbClr val="1A3D28"/>
          </a:solidFill>
          <a:ln w="6350">
            <a:solidFill>
              <a:srgbClr val="E85555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7872" y="1591056"/>
            <a:ext cx="201168" cy="20116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3803904" y="157276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CI goes unhealthy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547872" y="1938528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3474720" y="2011680"/>
            <a:ext cx="2450592" cy="457200"/>
          </a:xfrm>
          <a:prstGeom prst="rect">
            <a:avLst/>
          </a:prstGeom>
          <a:solidFill>
            <a:srgbClr val="1A3D28"/>
          </a:solidFill>
          <a:ln w="6350">
            <a:solidFill>
              <a:srgbClr val="2D7D4F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2121408"/>
            <a:ext cx="201168" cy="201168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3803904" y="210312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ITOM reads CI relationships from CMDB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3547872" y="2468880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42" name="Shape 38"/>
          <p:cNvSpPr/>
          <p:nvPr/>
        </p:nvSpPr>
        <p:spPr>
          <a:xfrm>
            <a:off x="3474720" y="2542032"/>
            <a:ext cx="2450592" cy="457200"/>
          </a:xfrm>
          <a:prstGeom prst="rect">
            <a:avLst/>
          </a:prstGeom>
          <a:solidFill>
            <a:srgbClr val="1A3D28"/>
          </a:solidFill>
          <a:ln w="6350">
            <a:solidFill>
              <a:srgbClr val="2D7D4F"/>
            </a:solidFill>
            <a:prstDash val="solid"/>
          </a:ln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2651760"/>
            <a:ext cx="201168" cy="201168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3803904" y="26334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dependent services identified instantly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3547872" y="299923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46" name="Shape 41"/>
          <p:cNvSpPr/>
          <p:nvPr/>
        </p:nvSpPr>
        <p:spPr>
          <a:xfrm>
            <a:off x="3474720" y="3072384"/>
            <a:ext cx="2450592" cy="457200"/>
          </a:xfrm>
          <a:prstGeom prst="rect">
            <a:avLst/>
          </a:prstGeom>
          <a:solidFill>
            <a:srgbClr val="1A3D28"/>
          </a:solidFill>
          <a:ln w="6350">
            <a:solidFill>
              <a:srgbClr val="2D7D4F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3182112"/>
            <a:ext cx="201168" cy="201168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3803904" y="316382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ITOM AIOps correlates into ONE incident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3547872" y="3529584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50" name="Shape 44"/>
          <p:cNvSpPr/>
          <p:nvPr/>
        </p:nvSpPr>
        <p:spPr>
          <a:xfrm>
            <a:off x="3474720" y="3602736"/>
            <a:ext cx="2450592" cy="457200"/>
          </a:xfrm>
          <a:prstGeom prst="rect">
            <a:avLst/>
          </a:prstGeom>
          <a:solidFill>
            <a:srgbClr val="1A3D28"/>
          </a:solidFill>
          <a:ln w="6350">
            <a:solidFill>
              <a:srgbClr val="2D7D4F"/>
            </a:solidFill>
            <a:prstDash val="solid"/>
          </a:ln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3712464"/>
            <a:ext cx="201168" cy="201168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3803904" y="3694176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Auto-assigned to DB owning team</a:t>
            </a:r>
            <a:endParaRPr lang="en-US" sz="900" dirty="0"/>
          </a:p>
        </p:txBody>
      </p:sp>
      <p:sp>
        <p:nvSpPr>
          <p:cNvPr id="53" name="Text 46"/>
          <p:cNvSpPr/>
          <p:nvPr/>
        </p:nvSpPr>
        <p:spPr>
          <a:xfrm>
            <a:off x="3547872" y="4059936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54" name="Shape 47"/>
          <p:cNvSpPr/>
          <p:nvPr/>
        </p:nvSpPr>
        <p:spPr>
          <a:xfrm>
            <a:off x="3474720" y="4133088"/>
            <a:ext cx="2450592" cy="457200"/>
          </a:xfrm>
          <a:prstGeom prst="rect">
            <a:avLst/>
          </a:prstGeom>
          <a:solidFill>
            <a:srgbClr val="1A3D28"/>
          </a:solidFill>
          <a:ln w="6350">
            <a:solidFill>
              <a:srgbClr val="2D7D4F"/>
            </a:solidFill>
            <a:prstDash val="solid"/>
          </a:ln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872" y="4242816"/>
            <a:ext cx="201168" cy="201168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3803904" y="422452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report attached automatically</a:t>
            </a:r>
            <a:endParaRPr lang="en-US" sz="900" dirty="0"/>
          </a:p>
        </p:txBody>
      </p:sp>
      <p:sp>
        <p:nvSpPr>
          <p:cNvPr id="57" name="Shape 49"/>
          <p:cNvSpPr/>
          <p:nvPr/>
        </p:nvSpPr>
        <p:spPr>
          <a:xfrm>
            <a:off x="3474720" y="4590288"/>
            <a:ext cx="2450592" cy="201168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3474720" y="459028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reduced — no manual investigation</a:t>
            </a:r>
            <a:endParaRPr lang="en-US" sz="850" dirty="0"/>
          </a:p>
        </p:txBody>
      </p:sp>
      <p:sp>
        <p:nvSpPr>
          <p:cNvPr id="59" name="Shape 51"/>
          <p:cNvSpPr/>
          <p:nvPr/>
        </p:nvSpPr>
        <p:spPr>
          <a:xfrm>
            <a:off x="6236208" y="969264"/>
            <a:ext cx="2542032" cy="3913632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6236208" y="969264"/>
            <a:ext cx="2542032" cy="402336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61" name="Text 53"/>
          <p:cNvSpPr/>
          <p:nvPr/>
        </p:nvSpPr>
        <p:spPr>
          <a:xfrm>
            <a:off x="6364224" y="1005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It Accurate</a:t>
            </a:r>
            <a:endParaRPr lang="en-US" sz="1100" dirty="0"/>
          </a:p>
        </p:txBody>
      </p:sp>
      <p:sp>
        <p:nvSpPr>
          <p:cNvPr id="62" name="Text 54"/>
          <p:cNvSpPr/>
          <p:nvPr/>
        </p:nvSpPr>
        <p:spPr>
          <a:xfrm>
            <a:off x="6364224" y="120700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loop</a:t>
            </a:r>
            <a:endParaRPr lang="en-US" sz="800" dirty="0"/>
          </a:p>
        </p:txBody>
      </p:sp>
      <p:pic>
        <p:nvPicPr>
          <p:cNvPr id="6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1591056"/>
            <a:ext cx="182880" cy="182880"/>
          </a:xfrm>
          <a:prstGeom prst="rect">
            <a:avLst/>
          </a:prstGeom>
        </p:spPr>
      </p:pic>
      <p:sp>
        <p:nvSpPr>
          <p:cNvPr id="64" name="Text 55"/>
          <p:cNvSpPr/>
          <p:nvPr/>
        </p:nvSpPr>
        <p:spPr>
          <a:xfrm>
            <a:off x="6601968" y="1517904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SBOM scan</a:t>
            </a:r>
            <a:endParaRPr lang="en-US" sz="900" dirty="0"/>
          </a:p>
        </p:txBody>
      </p:sp>
      <p:sp>
        <p:nvSpPr>
          <p:cNvPr id="65" name="Text 56"/>
          <p:cNvSpPr/>
          <p:nvPr/>
        </p:nvSpPr>
        <p:spPr>
          <a:xfrm>
            <a:off x="6601968" y="171907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libraries vs now.yaml declarations</a:t>
            </a:r>
            <a:endParaRPr lang="en-US" sz="750" dirty="0"/>
          </a:p>
        </p:txBody>
      </p:sp>
      <p:pic>
        <p:nvPicPr>
          <p:cNvPr id="6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2139696"/>
            <a:ext cx="182880" cy="182880"/>
          </a:xfrm>
          <a:prstGeom prst="rect">
            <a:avLst/>
          </a:prstGeom>
        </p:spPr>
      </p:pic>
      <p:sp>
        <p:nvSpPr>
          <p:cNvPr id="67" name="Text 57"/>
          <p:cNvSpPr/>
          <p:nvPr/>
        </p:nvSpPr>
        <p:spPr>
          <a:xfrm>
            <a:off x="6601968" y="2066544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telemetry pull</a:t>
            </a:r>
            <a:endParaRPr lang="en-US" sz="900" dirty="0"/>
          </a:p>
        </p:txBody>
      </p:sp>
      <p:sp>
        <p:nvSpPr>
          <p:cNvPr id="68" name="Text 58"/>
          <p:cNvSpPr/>
          <p:nvPr/>
        </p:nvSpPr>
        <p:spPr>
          <a:xfrm>
            <a:off x="6601968" y="226771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/ Dynatrace APM confirms runtime connections</a:t>
            </a:r>
            <a:endParaRPr lang="en-US" sz="750" dirty="0"/>
          </a:p>
        </p:txBody>
      </p:sp>
      <p:pic>
        <p:nvPicPr>
          <p:cNvPr id="6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4224" y="2688336"/>
            <a:ext cx="182880" cy="182880"/>
          </a:xfrm>
          <a:prstGeom prst="rect">
            <a:avLst/>
          </a:prstGeom>
        </p:spPr>
      </p:pic>
      <p:sp>
        <p:nvSpPr>
          <p:cNvPr id="70" name="Text 59"/>
          <p:cNvSpPr/>
          <p:nvPr/>
        </p:nvSpPr>
        <p:spPr>
          <a:xfrm>
            <a:off x="6601968" y="2615184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alert to team</a:t>
            </a:r>
            <a:endParaRPr lang="en-US" sz="900" dirty="0"/>
          </a:p>
        </p:txBody>
      </p:sp>
      <p:sp>
        <p:nvSpPr>
          <p:cNvPr id="71" name="Text 60"/>
          <p:cNvSpPr/>
          <p:nvPr/>
        </p:nvSpPr>
        <p:spPr>
          <a:xfrm>
            <a:off x="6601968" y="281635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or Tier 2 based on both signals combined</a:t>
            </a:r>
            <a:endParaRPr lang="en-US" sz="750" dirty="0"/>
          </a:p>
        </p:txBody>
      </p:sp>
      <p:pic>
        <p:nvPicPr>
          <p:cNvPr id="7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4224" y="3236976"/>
            <a:ext cx="182880" cy="182880"/>
          </a:xfrm>
          <a:prstGeom prst="rect">
            <a:avLst/>
          </a:prstGeom>
        </p:spPr>
      </p:pic>
      <p:sp>
        <p:nvSpPr>
          <p:cNvPr id="73" name="Text 61"/>
          <p:cNvSpPr/>
          <p:nvPr/>
        </p:nvSpPr>
        <p:spPr>
          <a:xfrm>
            <a:off x="6601968" y="3163824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workflow</a:t>
            </a:r>
            <a:endParaRPr lang="en-US" sz="900" dirty="0"/>
          </a:p>
        </p:txBody>
      </p:sp>
      <p:sp>
        <p:nvSpPr>
          <p:cNvPr id="74" name="Text 62"/>
          <p:cNvSpPr/>
          <p:nvPr/>
        </p:nvSpPr>
        <p:spPr>
          <a:xfrm>
            <a:off x="6601968" y="336499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→ team lead approval → 90-day expiry</a:t>
            </a:r>
            <a:endParaRPr lang="en-US" sz="750" dirty="0"/>
          </a:p>
        </p:txBody>
      </p:sp>
      <p:pic>
        <p:nvPicPr>
          <p:cNvPr id="7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4224" y="3785616"/>
            <a:ext cx="182880" cy="182880"/>
          </a:xfrm>
          <a:prstGeom prst="rect">
            <a:avLst/>
          </a:prstGeom>
        </p:spPr>
      </p:pic>
      <p:sp>
        <p:nvSpPr>
          <p:cNvPr id="76" name="Text 63"/>
          <p:cNvSpPr/>
          <p:nvPr/>
        </p:nvSpPr>
        <p:spPr>
          <a:xfrm>
            <a:off x="6601968" y="3712464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scorecard gate</a:t>
            </a:r>
            <a:endParaRPr lang="en-US" sz="900" dirty="0"/>
          </a:p>
        </p:txBody>
      </p:sp>
      <p:sp>
        <p:nvSpPr>
          <p:cNvPr id="77" name="Text 64"/>
          <p:cNvSpPr/>
          <p:nvPr/>
        </p:nvSpPr>
        <p:spPr>
          <a:xfrm>
            <a:off x="6601968" y="391363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Undeclared deps = scorecard penalty, visible to leadership</a:t>
            </a:r>
            <a:endParaRPr lang="en-US" sz="750" dirty="0"/>
          </a:p>
        </p:txBody>
      </p:sp>
      <p:pic>
        <p:nvPicPr>
          <p:cNvPr id="7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64224" y="4334256"/>
            <a:ext cx="182880" cy="182880"/>
          </a:xfrm>
          <a:prstGeom prst="rect">
            <a:avLst/>
          </a:prstGeom>
        </p:spPr>
      </p:pic>
      <p:sp>
        <p:nvSpPr>
          <p:cNvPr id="79" name="Text 65"/>
          <p:cNvSpPr/>
          <p:nvPr/>
        </p:nvSpPr>
        <p:spPr>
          <a:xfrm>
            <a:off x="6601968" y="4261104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change record</a:t>
            </a:r>
            <a:endParaRPr lang="en-US" sz="900" dirty="0"/>
          </a:p>
        </p:txBody>
      </p:sp>
      <p:sp>
        <p:nvSpPr>
          <p:cNvPr id="80" name="Text 66"/>
          <p:cNvSpPr/>
          <p:nvPr/>
        </p:nvSpPr>
        <p:spPr>
          <a:xfrm>
            <a:off x="6601968" y="446227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resolution auto-logged — full audit trail</a:t>
            </a:r>
            <a:endParaRPr lang="en-US" sz="750" dirty="0"/>
          </a:p>
        </p:txBody>
      </p:sp>
      <p:sp>
        <p:nvSpPr>
          <p:cNvPr id="81" name="Shape 67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IDP Platform — September Capstone</dc:title>
  <dc:subject>PptxGenJS Presentation</dc:subject>
  <dc:creator>PptxGenJS</dc:creator>
  <cp:lastModifiedBy>PptxGenJS</cp:lastModifiedBy>
  <cp:revision>1</cp:revision>
  <dcterms:created xsi:type="dcterms:W3CDTF">2026-06-07T13:46:46Z</dcterms:created>
  <dcterms:modified xsi:type="dcterms:W3CDTF">2026-06-07T13:46:46Z</dcterms:modified>
</cp:coreProperties>
</file>