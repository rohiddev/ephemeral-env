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61120" cy="7315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BA872"/>
                </a:solidFill>
              </a:rPr>
              <a:t>WHY IDP MATTERS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Productivity Multiplier for Every Developer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3474720"/>
          </a:xfrm>
          <a:prstGeom prst="rect">
            <a:avLst/>
          </a:prstGeom>
          <a:solidFill>
            <a:srgbClr val="1B5E37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18872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80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Single Front Door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4632" y="274320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One portal replaces Hoover, Fuse &amp; Jarvis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" y="329184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Every developer self-service in one place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" y="384048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No ticket, no wait — instant access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54680" y="1005840"/>
            <a:ext cx="2651760" cy="3474720"/>
          </a:xfrm>
          <a:prstGeom prst="rect">
            <a:avLst/>
          </a:prstGeom>
          <a:solidFill>
            <a:srgbClr val="2D7D4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14800" y="118872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2801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9184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Workflow-Driven Automation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319272" y="274320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8386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All services delivered as workflows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319272" y="329184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83864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Thin UI — automation does the heavy lifting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319272" y="384048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483864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Reuses existing APIs &amp; Jenkins pipelines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5989320" y="1005840"/>
            <a:ext cx="2651760" cy="3474720"/>
          </a:xfrm>
          <a:prstGeom prst="rect">
            <a:avLst/>
          </a:prstGeom>
          <a:solidFill>
            <a:srgbClr val="5BA872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949440" y="118872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8016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12648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Built-in Governance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6153912" y="274320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1850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Audit trail &amp; access control out of the box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6153912" y="329184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18504" y="3246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OPA policy gates on Scorecard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153912" y="3840480"/>
            <a:ext cx="109728" cy="10972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318504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Consistent standards across every team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74320" y="5020056"/>
            <a:ext cx="841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61120" cy="7315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BA872"/>
                </a:solidFill>
              </a:rPr>
              <a:t>K8S NAMESPACE ONBOARDING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Fully Automated — Tested &amp; Live in P-2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583680" y="384048"/>
            <a:ext cx="1097280" cy="34747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3840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P-2 LIVE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0" y="384048"/>
            <a:ext cx="914400" cy="347472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3840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37"/>
                </a:solidFill>
              </a:rPr>
              <a:t>P-1 Next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377440" cy="3291840"/>
          </a:xfrm>
          <a:prstGeom prst="rect">
            <a:avLst/>
          </a:prstGeom>
          <a:solidFill>
            <a:srgbClr val="EBF4F0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960120"/>
            <a:ext cx="2377440" cy="347472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Developer Self-Service Form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417320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435608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SYS ID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5488" y="1581912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</a:rPr>
              <a:t>Enter 5-digit ID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1480" y="1856232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87452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App Key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5488" y="202082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</a:rPr>
              <a:t>Auto-populates from SYS ID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11480" y="2295144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31343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Cluster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" y="2459736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</a:rPr>
              <a:t>Select P-2 / P-1 / Prod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2734056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52344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Cluster Zone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" y="289864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</a:rPr>
              <a:t>Auto-fills from Cluster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3172968"/>
            <a:ext cx="2194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191256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37"/>
                </a:solidFill>
              </a:rPr>
              <a:t>App Name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" y="3337560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</a:rPr>
              <a:t>e.g. hoover-payments-api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11480" y="3639312"/>
            <a:ext cx="2194560" cy="2560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Submit Request →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950208"/>
            <a:ext cx="2194560" cy="237744"/>
          </a:xfrm>
          <a:prstGeom prst="rect">
            <a:avLst/>
          </a:prstGeom>
          <a:solidFill>
            <a:srgbClr val="FFF8E8"/>
          </a:solidFill>
          <a:ln w="12700">
            <a:solidFill>
              <a:srgbClr val="E6C8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950208"/>
            <a:ext cx="2157984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5500"/>
                </a:solidFill>
              </a:rPr>
              <a:t>AD Groups absent? +~35 min (Azure AD sync)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63240" y="9601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C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36392" y="1024128"/>
            <a:ext cx="201168" cy="201168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36392" y="1024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392424" y="9966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Validate Input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92424" y="11430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SYS ID format · App Key lookup · cluster eligibility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836408" y="1033272"/>
            <a:ext cx="749808" cy="18288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36408" y="10332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85FA5"/>
                </a:solidFill>
              </a:rPr>
              <a:t>Validation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063240" y="13030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C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36392" y="1367028"/>
            <a:ext cx="201168" cy="20116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36392" y="13670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392424" y="13395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Create AD Group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92424" y="14859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Azure AD check · create developer &amp; reviewer groups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836408" y="1376172"/>
            <a:ext cx="749808" cy="18288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36408" y="13761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</a:rPr>
              <a:t>Identity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063240" y="16459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C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36392" y="1709928"/>
            <a:ext cx="201168" cy="201168"/>
          </a:xfrm>
          <a:prstGeom prst="ellipse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36392" y="1709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392424" y="16824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Create GitHub Teams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92424" y="18288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Provision teams · link AD groups · sync membership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836408" y="1719072"/>
            <a:ext cx="749808" cy="182880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36408" y="17190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</a:rPr>
              <a:t>Identity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063240" y="19888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C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36392" y="2052828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36392" y="20528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392424" y="20253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Create PaaC Repo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92424" y="21717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Namespace config repo · inject YAML · attach teams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7836408" y="2061972"/>
            <a:ext cx="749808" cy="18288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6408" y="20619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6E56"/>
                </a:solidFill>
              </a:rPr>
              <a:t>Provision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063240" y="23317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C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36392" y="2395728"/>
            <a:ext cx="201168" cy="20116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36392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392424" y="23682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Trigger Jenkins (NS)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392424" y="25146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Fire Jenkins job · K8s namespace live on cluster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836408" y="2404872"/>
            <a:ext cx="749808" cy="18288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36408" y="24048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54F0B"/>
                </a:solidFill>
              </a:rPr>
              <a:t>CI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063240" y="26746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CE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36392" y="2738628"/>
            <a:ext cx="201168" cy="20116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36392" y="27386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392424" y="27111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Create Ops Repo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392424" y="28575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Runbook templates · webhook · team access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7836408" y="2747772"/>
            <a:ext cx="749808" cy="182880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36408" y="27477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6E56"/>
                </a:solidFill>
              </a:rPr>
              <a:t>Provision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3063240" y="30175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CE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136392" y="3081528"/>
            <a:ext cx="201168" cy="20116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36392" y="3081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392424" y="30540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Create Jenkins Folder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392424" y="32004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Seed CI pipelines · assign RBAC permissions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7836408" y="3090672"/>
            <a:ext cx="749808" cy="182880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36408" y="30906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54F0B"/>
                </a:solidFill>
              </a:rPr>
              <a:t>CI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063240" y="33604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CE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136392" y="3424428"/>
            <a:ext cx="201168" cy="201168"/>
          </a:xfrm>
          <a:prstGeom prst="ellipse">
            <a:avLst/>
          </a:prstGeom>
          <a:solidFill>
            <a:srgbClr val="0E6B6B"/>
          </a:solidFill>
          <a:ln w="12700">
            <a:solidFill>
              <a:srgbClr val="0E6B6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36392" y="34244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8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3392424" y="33969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Create Vault Repo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392424" y="35433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Secrets repo · namespace path policy · base secrets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836408" y="3433572"/>
            <a:ext cx="749808" cy="182880"/>
          </a:xfrm>
          <a:prstGeom prst="rect">
            <a:avLst/>
          </a:prstGeom>
          <a:solidFill>
            <a:srgbClr val="D9F0F0"/>
          </a:solidFill>
          <a:ln w="12700">
            <a:solidFill>
              <a:srgbClr val="D9F0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836408" y="34335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6B6B"/>
                </a:solidFill>
              </a:rPr>
              <a:t>Vault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063240" y="3703320"/>
            <a:ext cx="5577840" cy="324612"/>
          </a:xfrm>
          <a:prstGeom prst="rect">
            <a:avLst/>
          </a:prstGeom>
          <a:solidFill>
            <a:srgbClr val="FFFFFF"/>
          </a:solidFill>
          <a:ln w="10160">
            <a:solidFill>
              <a:srgbClr val="E4ECE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136392" y="3767328"/>
            <a:ext cx="201168" cy="201168"/>
          </a:xfrm>
          <a:prstGeom prst="ellipse">
            <a:avLst/>
          </a:prstGeom>
          <a:solidFill>
            <a:srgbClr val="0E6B6B"/>
          </a:solidFill>
          <a:ln w="12700">
            <a:solidFill>
              <a:srgbClr val="0E6B6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36392" y="3767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9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3392424" y="3739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Create Vault Pipeline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392424" y="38862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Bind namespace · enable secret rotation policy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7836408" y="3776472"/>
            <a:ext cx="749808" cy="182880"/>
          </a:xfrm>
          <a:prstGeom prst="rect">
            <a:avLst/>
          </a:prstGeom>
          <a:solidFill>
            <a:srgbClr val="D9F0F0"/>
          </a:solidFill>
          <a:ln w="12700">
            <a:solidFill>
              <a:srgbClr val="D9F0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36408" y="37764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6B6B"/>
                </a:solidFill>
              </a:rPr>
              <a:t>Vault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3063240" y="4046220"/>
            <a:ext cx="5577840" cy="324612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136392" y="4110228"/>
            <a:ext cx="201168" cy="201168"/>
          </a:xfrm>
          <a:prstGeom prst="ellipse">
            <a:avLst/>
          </a:prstGeom>
          <a:solidFill>
            <a:srgbClr val="3B7A0A"/>
          </a:solidFill>
          <a:ln w="12700">
            <a:solidFill>
              <a:srgbClr val="3B7A0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136392" y="41102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10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3392424" y="40827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Email Confirmation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3392424" y="4229100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Namespace live · repos &amp; Jenkins ready · Vault active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7836408" y="4119372"/>
            <a:ext cx="749808" cy="18288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836408" y="4119372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6D11"/>
                </a:solidFill>
              </a:rPr>
              <a:t>Done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3063240" y="4425696"/>
            <a:ext cx="5577840" cy="228600"/>
          </a:xfrm>
          <a:prstGeom prst="rect">
            <a:avLst/>
          </a:prstGeom>
          <a:solidFill>
            <a:srgbClr val="FFF5F5"/>
          </a:solidFill>
          <a:ln w="10160">
            <a:solidFill>
              <a:srgbClr val="F0959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154680" y="4425696"/>
            <a:ext cx="53949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91F1F"/>
                </a:solidFill>
              </a:rPr>
              <a:t>On failure: team notified immediately · pipeline resumes from failed stage — no full restart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063240" y="4700016"/>
            <a:ext cx="2697480" cy="219456"/>
          </a:xfrm>
          <a:prstGeom prst="rect">
            <a:avLst/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136392" y="470001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37"/>
                </a:solidFill>
              </a:rPr>
              <a:t>⚡  ~5 min  (existing AD groups)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5897880" y="4700016"/>
            <a:ext cx="2743200" cy="219456"/>
          </a:xfrm>
          <a:prstGeom prst="rect">
            <a:avLst/>
          </a:prstGeom>
          <a:solidFill>
            <a:srgbClr val="FFF8E8"/>
          </a:solidFill>
          <a:ln w="12700">
            <a:solidFill>
              <a:srgbClr val="E6C84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71032" y="47000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500"/>
                </a:solidFill>
              </a:rPr>
              <a:t>⏱  ~40 min  (new AD groups — Azure AD propagation)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320040" y="4645152"/>
            <a:ext cx="8321040" cy="54864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20040" y="4700016"/>
            <a:ext cx="8321040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57200" y="4709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37"/>
                </a:solidFill>
              </a:rPr>
              <a:t>Next 30 Days:  Terraform work underway to promote K8s namespace workflow to P-1 and P accounts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74320" y="5020056"/>
            <a:ext cx="841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961120" cy="7315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BA872"/>
                </a:solidFill>
              </a:rPr>
              <a:t>IDP CATALOG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Everything a Developer Needs — Wired Into One Place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788920" cy="3886200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789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the Catalog Does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06040" cy="594360"/>
          </a:xfrm>
          <a:prstGeom prst="rect">
            <a:avLst/>
          </a:prstGeom>
          <a:solidFill>
            <a:srgbClr val="163A23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53896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One-time setup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1848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Team registers their system via IDP workflow — catalog-info.yaml created automatically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2606040" cy="594360"/>
          </a:xfrm>
          <a:prstGeom prst="rect">
            <a:avLst/>
          </a:prstGeom>
          <a:solidFill>
            <a:srgbClr val="1E4D2E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Dependency mapping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Teams add system dependencies via workflow — relationships tracked centrally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2715768"/>
            <a:ext cx="2606040" cy="594360"/>
          </a:xfrm>
          <a:prstGeom prst="rect">
            <a:avLst/>
          </a:prstGeom>
          <a:solidFill>
            <a:srgbClr val="163A23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523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Living document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916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Teams own and maintain their catalog-info.yaml — updated as systems evolve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3364992"/>
            <a:ext cx="2606040" cy="594360"/>
          </a:xfrm>
          <a:prstGeom prst="rect">
            <a:avLst/>
          </a:prstGeom>
          <a:solidFill>
            <a:srgbClr val="1E4D2E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01568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Readonly integrations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566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Links to all systems a developer touches daily — no context switching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4014216"/>
            <a:ext cx="2606040" cy="594360"/>
          </a:xfrm>
          <a:prstGeom prst="rect">
            <a:avLst/>
          </a:prstGeom>
          <a:solidFill>
            <a:srgbClr val="163A23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5079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A872"/>
                </a:solidFill>
              </a:rPr>
              <a:t>Scorecard enforcement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2153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E6D4"/>
                </a:solidFill>
              </a:rPr>
              <a:t>Engineering standards visible to leadership — OPA gates on completeness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46120" y="9875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5568"/>
                </a:solidFill>
              </a:rPr>
              <a:t>Daily Developer Integrations — All Read-Only Links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316736"/>
            <a:ext cx="2542032" cy="932688"/>
          </a:xfrm>
          <a:prstGeom prst="rect">
            <a:avLst/>
          </a:prstGeom>
          <a:solidFill>
            <a:srgbClr val="FFF8EE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316736"/>
            <a:ext cx="54864" cy="93268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2424" y="1517904"/>
            <a:ext cx="34747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3813048" y="144475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CI/CD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813048" y="170078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Jenkins pipelines &amp; build history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934456" y="1316736"/>
            <a:ext cx="2542032" cy="932688"/>
          </a:xfrm>
          <a:prstGeom prst="rect">
            <a:avLst/>
          </a:prstGeom>
          <a:solidFill>
            <a:srgbClr val="EBF5EF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934456" y="1316736"/>
            <a:ext cx="54864" cy="932688"/>
          </a:xfrm>
          <a:prstGeom prst="rect">
            <a:avLst/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517904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501384" y="144475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SonarQube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501384" y="1700784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Code quality &amp; security scan results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246120" y="2377440"/>
            <a:ext cx="2542032" cy="932688"/>
          </a:xfrm>
          <a:prstGeom prst="rect">
            <a:avLst/>
          </a:prstGeom>
          <a:solidFill>
            <a:srgbClr val="EBF3FC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3246120" y="2377440"/>
            <a:ext cx="54864" cy="93268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578608"/>
            <a:ext cx="347472" cy="34747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3813048" y="250545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Kubernetes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3813048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Namespace health, pods &amp; logs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5934456" y="2377440"/>
            <a:ext cx="2542032" cy="932688"/>
          </a:xfrm>
          <a:prstGeom prst="rect">
            <a:avLst/>
          </a:prstGeom>
          <a:solidFill>
            <a:srgbClr val="F0EEFD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5934456" y="2377440"/>
            <a:ext cx="54864" cy="93268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578608"/>
            <a:ext cx="347472" cy="34747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501384" y="250545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42" name="Text 36"/>
          <p:cNvSpPr/>
          <p:nvPr/>
        </p:nvSpPr>
        <p:spPr>
          <a:xfrm>
            <a:off x="6501384" y="276148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Metrics, traces &amp; alert endpoints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3246120" y="3438144"/>
            <a:ext cx="2542032" cy="932688"/>
          </a:xfrm>
          <a:prstGeom prst="rect">
            <a:avLst/>
          </a:prstGeom>
          <a:solidFill>
            <a:srgbClr val="FDECEA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3246120" y="3438144"/>
            <a:ext cx="54864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639312"/>
            <a:ext cx="347472" cy="34747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3813048" y="3566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Wiz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3813048" y="38221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Cloud security posture &amp; findings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5934456" y="3438144"/>
            <a:ext cx="2542032" cy="932688"/>
          </a:xfrm>
          <a:prstGeom prst="rect">
            <a:avLst/>
          </a:prstGeom>
          <a:solidFill>
            <a:srgbClr val="E8F5F5"/>
          </a:solidFill>
          <a:ln w="12700">
            <a:solidFill>
              <a:srgbClr val="E0E8E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5934456" y="3438144"/>
            <a:ext cx="54864" cy="932688"/>
          </a:xfrm>
          <a:prstGeom prst="rect">
            <a:avLst/>
          </a:prstGeom>
          <a:solidFill>
            <a:srgbClr val="0E6B6B"/>
          </a:solidFill>
          <a:ln w="12700">
            <a:solidFill>
              <a:srgbClr val="0E6B6B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639312"/>
            <a:ext cx="347472" cy="347472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501384" y="356616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API Docs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6501384" y="3822192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OpenAPI specs &amp; endpoint catalog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320040" y="4645152"/>
            <a:ext cx="8321040" cy="54864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320040" y="4700016"/>
            <a:ext cx="8321040" cy="2743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5" name="Text 47"/>
          <p:cNvSpPr/>
          <p:nvPr/>
        </p:nvSpPr>
        <p:spPr>
          <a:xfrm>
            <a:off x="457200" y="4709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5E37"/>
                </a:solidFill>
              </a:rPr>
              <a:t>Catalog is critical for release · Reduces context switching · One place for everything a developer needs every day</a:t>
            </a:r>
            <a:endParaRPr lang="en-US" sz="950" dirty="0"/>
          </a:p>
        </p:txBody>
      </p:sp>
      <p:sp>
        <p:nvSpPr>
          <p:cNvPr id="56" name="Shape 48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274320" y="5020056"/>
            <a:ext cx="841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Engineering – RTB Capstone June 2026</dc:title>
  <dc:subject>PptxGenJS Presentation</dc:subject>
  <dc:creator>PptxGenJS</dc:creator>
  <cp:lastModifiedBy>PptxGenJS</cp:lastModifiedBy>
  <cp:revision>1</cp:revision>
  <dcterms:created xsi:type="dcterms:W3CDTF">2026-06-01T12:11:59Z</dcterms:created>
  <dcterms:modified xsi:type="dcterms:W3CDTF">2026-06-01T12:11:59Z</dcterms:modified>
</cp:coreProperties>
</file>