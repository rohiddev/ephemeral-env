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DEVELOPMENT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Development — 4 Waves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features built in priority order — highest developer value first, expanding to full platform coverage.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42416"/>
            <a:ext cx="2011680" cy="3858768"/>
          </a:xfrm>
          <a:prstGeom prst="rect">
            <a:avLst/>
          </a:prstGeom>
          <a:solidFill>
            <a:srgbClr val="155030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42416"/>
            <a:ext cx="2011680" cy="62179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9728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29844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1719072"/>
            <a:ext cx="1792224" cy="201168"/>
          </a:xfrm>
          <a:prstGeom prst="rect">
            <a:avLst/>
          </a:prstGeom>
          <a:solidFill>
            <a:srgbClr val="155030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7190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9768" y="197510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frequently requested developer actions — fully automated, no ticket required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9768" y="2450592"/>
            <a:ext cx="1792224" cy="1371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487168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DELIVERED</a:t>
            </a:r>
            <a:endParaRPr lang="en-US" sz="7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670048"/>
            <a:ext cx="146304" cy="14630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2648" y="265176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2648" y="288950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· branch protection · GitHub Teams auto-provisioned</a:t>
            </a:r>
            <a:endParaRPr lang="en-US" sz="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3182112"/>
            <a:ext cx="146304" cy="1463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2648" y="316382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612648" y="340156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 · AD groups · PaaS/Ops repos · Vault · Jenkins</a:t>
            </a:r>
            <a:endParaRPr lang="en-US" sz="7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694176"/>
            <a:ext cx="146304" cy="1463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" y="367588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612648" y="391363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via Microsoft Graph API · no ticket · instant</a:t>
            </a:r>
            <a:endParaRPr lang="en-US" sz="7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4206240"/>
            <a:ext cx="146304" cy="1463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2648" y="418795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to AD Group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12648" y="442569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 · validates group + user · confirmation on done</a:t>
            </a:r>
            <a:endParaRPr lang="en-US" sz="700" dirty="0"/>
          </a:p>
        </p:txBody>
      </p:sp>
      <p:sp>
        <p:nvSpPr>
          <p:cNvPr id="27" name="Shape 21"/>
          <p:cNvSpPr/>
          <p:nvPr/>
        </p:nvSpPr>
        <p:spPr>
          <a:xfrm>
            <a:off x="2450592" y="1042416"/>
            <a:ext cx="2011680" cy="3858768"/>
          </a:xfrm>
          <a:prstGeom prst="rect">
            <a:avLst/>
          </a:prstGeom>
          <a:solidFill>
            <a:srgbClr val="1E2A1E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450592" y="1042416"/>
            <a:ext cx="2011680" cy="621792"/>
          </a:xfrm>
          <a:prstGeom prst="rect">
            <a:avLst/>
          </a:prstGeom>
          <a:solidFill>
            <a:srgbClr val="E8A455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560320" y="109728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2560320" y="129844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D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Release +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D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2560320" y="1719072"/>
            <a:ext cx="1792224" cy="201168"/>
          </a:xfrm>
          <a:prstGeom prst="rect">
            <a:avLst/>
          </a:prstGeom>
          <a:solidFill>
            <a:srgbClr val="3D2800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560320" y="17190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2560320" y="197510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all workflows to production accounts · build the catalog foundation for MVP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2560320" y="2450592"/>
            <a:ext cx="1792224" cy="13716"/>
          </a:xfrm>
          <a:prstGeom prst="rect">
            <a:avLst/>
          </a:prstGeom>
          <a:solidFill>
            <a:srgbClr val="E8A455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560320" y="2487168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— PROMOTION</a:t>
            </a:r>
            <a:endParaRPr lang="en-US" sz="7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2670048"/>
            <a:ext cx="146304" cy="14630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2743200" y="265176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workflows: P-2 → P-1 → P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2743200" y="288950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delegate · ShellScript steps · Azure subscription orchestration</a:t>
            </a:r>
            <a:endParaRPr lang="en-US" sz="7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3182112"/>
            <a:ext cx="146304" cy="14630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2743200" y="316382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 · same experience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2743200" y="340156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workflow unchanged · Terraform handles cross-account config</a:t>
            </a:r>
            <a:endParaRPr lang="en-US" sz="700" dirty="0"/>
          </a:p>
        </p:txBody>
      </p:sp>
      <p:sp>
        <p:nvSpPr>
          <p:cNvPr id="42" name="Text 34"/>
          <p:cNvSpPr/>
          <p:nvPr/>
        </p:nvSpPr>
        <p:spPr>
          <a:xfrm>
            <a:off x="2560320" y="3749040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CATALOG-INFO DEVELOPMENT</a:t>
            </a:r>
            <a:endParaRPr lang="en-US" sz="7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931920"/>
            <a:ext cx="146304" cy="14630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2743200" y="39136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Service catalog entities</a:t>
            </a:r>
            <a:endParaRPr lang="en-US" sz="850" dirty="0"/>
          </a:p>
        </p:txBody>
      </p:sp>
      <p:sp>
        <p:nvSpPr>
          <p:cNvPr id="45" name="Text 36"/>
          <p:cNvSpPr/>
          <p:nvPr/>
        </p:nvSpPr>
        <p:spPr>
          <a:xfrm>
            <a:off x="2743200" y="415137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catalog-info.yaml auto-generated · CMDB as source of truth</a:t>
            </a:r>
            <a:endParaRPr lang="en-US" sz="700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" y="4443984"/>
            <a:ext cx="146304" cy="146304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2743200" y="4425696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integrations for MVP</a:t>
            </a:r>
            <a:endParaRPr lang="en-US" sz="850" dirty="0"/>
          </a:p>
        </p:txBody>
      </p:sp>
      <p:sp>
        <p:nvSpPr>
          <p:cNvPr id="48" name="Text 38"/>
          <p:cNvSpPr/>
          <p:nvPr/>
        </p:nvSpPr>
        <p:spPr>
          <a:xfrm>
            <a:off x="2743200" y="466344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K8s · SonarQube · Wiz · Observability · TechDocs</a:t>
            </a:r>
            <a:endParaRPr lang="en-US" sz="700" dirty="0"/>
          </a:p>
        </p:txBody>
      </p:sp>
      <p:sp>
        <p:nvSpPr>
          <p:cNvPr id="49" name="Shape 39"/>
          <p:cNvSpPr/>
          <p:nvPr/>
        </p:nvSpPr>
        <p:spPr>
          <a:xfrm>
            <a:off x="4581144" y="1042416"/>
            <a:ext cx="2011680" cy="3858768"/>
          </a:xfrm>
          <a:prstGeom prst="rect">
            <a:avLst/>
          </a:prstGeom>
          <a:solidFill>
            <a:srgbClr val="1A2E22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4581144" y="1042416"/>
            <a:ext cx="2011680" cy="62179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4690872" y="109728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4690872" y="129844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050" dirty="0"/>
          </a:p>
        </p:txBody>
      </p:sp>
      <p:sp>
        <p:nvSpPr>
          <p:cNvPr id="53" name="Shape 43"/>
          <p:cNvSpPr/>
          <p:nvPr/>
        </p:nvSpPr>
        <p:spPr>
          <a:xfrm>
            <a:off x="4690872" y="1719072"/>
            <a:ext cx="1792224" cy="201168"/>
          </a:xfrm>
          <a:prstGeom prst="rect">
            <a:avLst/>
          </a:prstGeom>
          <a:solidFill>
            <a:srgbClr val="2A3F34"/>
          </a:solidFill>
          <a:ln w="12700">
            <a:solidFill>
              <a:srgbClr val="8AA898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4690872" y="17190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55" name="Text 45"/>
          <p:cNvSpPr/>
          <p:nvPr/>
        </p:nvSpPr>
        <p:spPr>
          <a:xfrm>
            <a:off x="4690872" y="197510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self-service to public cloud infrastructure provisioning across AWS and Azure</a:t>
            </a:r>
            <a:endParaRPr lang="en-US" sz="800" dirty="0"/>
          </a:p>
        </p:txBody>
      </p:sp>
      <p:sp>
        <p:nvSpPr>
          <p:cNvPr id="56" name="Shape 46"/>
          <p:cNvSpPr/>
          <p:nvPr/>
        </p:nvSpPr>
        <p:spPr>
          <a:xfrm>
            <a:off x="4690872" y="2450592"/>
            <a:ext cx="1792224" cy="1371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4690872" y="2487168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WORKFLOWS</a:t>
            </a:r>
            <a:endParaRPr lang="en-US" sz="70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0872" y="2670048"/>
            <a:ext cx="146304" cy="146304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4873752" y="265176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 provisioning via IDP form</a:t>
            </a:r>
            <a:endParaRPr lang="en-US" sz="850" dirty="0"/>
          </a:p>
        </p:txBody>
      </p:sp>
      <p:sp>
        <p:nvSpPr>
          <p:cNvPr id="60" name="Text 49"/>
          <p:cNvSpPr/>
          <p:nvPr/>
        </p:nvSpPr>
        <p:spPr>
          <a:xfrm>
            <a:off x="4873752" y="288950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IAM roles · EC2 · VPC — developer-initiated, guardrails built in</a:t>
            </a:r>
            <a:endParaRPr lang="en-US" sz="700" dirty="0"/>
          </a:p>
        </p:txBody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0872" y="3182112"/>
            <a:ext cx="146304" cy="146304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4873752" y="316382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infrastructure workflows</a:t>
            </a:r>
            <a:endParaRPr lang="en-US" sz="850" dirty="0"/>
          </a:p>
        </p:txBody>
      </p:sp>
      <p:sp>
        <p:nvSpPr>
          <p:cNvPr id="63" name="Text 51"/>
          <p:cNvSpPr/>
          <p:nvPr/>
        </p:nvSpPr>
        <p:spPr>
          <a:xfrm>
            <a:off x="4873752" y="340156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groups · service principals · storage · networking</a:t>
            </a:r>
            <a:endParaRPr lang="en-US" sz="700" dirty="0"/>
          </a:p>
        </p:txBody>
      </p:sp>
      <p:pic>
        <p:nvPicPr>
          <p:cNvPr id="6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0872" y="3694176"/>
            <a:ext cx="146304" cy="146304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4873752" y="367588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visibility per service</a:t>
            </a:r>
            <a:endParaRPr lang="en-US" sz="850" dirty="0"/>
          </a:p>
        </p:txBody>
      </p:sp>
      <p:sp>
        <p:nvSpPr>
          <p:cNvPr id="66" name="Text 53"/>
          <p:cNvSpPr/>
          <p:nvPr/>
        </p:nvSpPr>
        <p:spPr>
          <a:xfrm>
            <a:off x="4873752" y="391363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Kubecost + AWS Cost Explorer surfaced in catalog — daily signal, no FinOps request</a:t>
            </a:r>
            <a:endParaRPr lang="en-US" sz="700" dirty="0"/>
          </a:p>
        </p:txBody>
      </p:sp>
      <p:sp>
        <p:nvSpPr>
          <p:cNvPr id="67" name="Shape 54"/>
          <p:cNvSpPr/>
          <p:nvPr/>
        </p:nvSpPr>
        <p:spPr>
          <a:xfrm>
            <a:off x="6711696" y="1042416"/>
            <a:ext cx="2011680" cy="3858768"/>
          </a:xfrm>
          <a:prstGeom prst="rect">
            <a:avLst/>
          </a:prstGeom>
          <a:solidFill>
            <a:srgbClr val="141F18"/>
          </a:solidFill>
          <a:ln w="12700">
            <a:solidFill>
              <a:srgbClr val="2A3F34"/>
            </a:solidFill>
            <a:prstDash val="solid"/>
          </a:ln>
        </p:spPr>
      </p:sp>
      <p:sp>
        <p:nvSpPr>
          <p:cNvPr id="68" name="Shape 55"/>
          <p:cNvSpPr/>
          <p:nvPr/>
        </p:nvSpPr>
        <p:spPr>
          <a:xfrm>
            <a:off x="6711696" y="1042416"/>
            <a:ext cx="2011680" cy="621792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  <p:sp>
        <p:nvSpPr>
          <p:cNvPr id="69" name="Text 56"/>
          <p:cNvSpPr/>
          <p:nvPr/>
        </p:nvSpPr>
        <p:spPr>
          <a:xfrm>
            <a:off x="6821424" y="109728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</a:t>
            </a:r>
            <a:endParaRPr lang="en-US" sz="1100" dirty="0"/>
          </a:p>
        </p:txBody>
      </p:sp>
      <p:sp>
        <p:nvSpPr>
          <p:cNvPr id="70" name="Text 57"/>
          <p:cNvSpPr/>
          <p:nvPr/>
        </p:nvSpPr>
        <p:spPr>
          <a:xfrm>
            <a:off x="6821424" y="129844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+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050" dirty="0"/>
          </a:p>
        </p:txBody>
      </p:sp>
      <p:sp>
        <p:nvSpPr>
          <p:cNvPr id="71" name="Shape 58"/>
          <p:cNvSpPr/>
          <p:nvPr/>
        </p:nvSpPr>
        <p:spPr>
          <a:xfrm>
            <a:off x="6821424" y="1719072"/>
            <a:ext cx="1792224" cy="201168"/>
          </a:xfrm>
          <a:prstGeom prst="rect">
            <a:avLst/>
          </a:prstGeom>
          <a:solidFill>
            <a:srgbClr val="2A3F34"/>
          </a:solidFill>
          <a:ln w="12700">
            <a:solidFill>
              <a:srgbClr val="8AA898"/>
            </a:solidFill>
            <a:prstDash val="solid"/>
          </a:ln>
        </p:spPr>
      </p:sp>
      <p:sp>
        <p:nvSpPr>
          <p:cNvPr id="72" name="Text 59"/>
          <p:cNvSpPr/>
          <p:nvPr/>
        </p:nvSpPr>
        <p:spPr>
          <a:xfrm>
            <a:off x="6821424" y="17190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00" dirty="0"/>
          </a:p>
        </p:txBody>
      </p:sp>
      <p:sp>
        <p:nvSpPr>
          <p:cNvPr id="73" name="Text 60"/>
          <p:cNvSpPr/>
          <p:nvPr/>
        </p:nvSpPr>
        <p:spPr>
          <a:xfrm>
            <a:off x="6821424" y="197510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edge cases and conversational developer experience via IDP-hosted chatbot</a:t>
            </a:r>
            <a:endParaRPr lang="en-US" sz="800" dirty="0"/>
          </a:p>
        </p:txBody>
      </p:sp>
      <p:sp>
        <p:nvSpPr>
          <p:cNvPr id="74" name="Shape 61"/>
          <p:cNvSpPr/>
          <p:nvPr/>
        </p:nvSpPr>
        <p:spPr>
          <a:xfrm>
            <a:off x="6821424" y="2450592"/>
            <a:ext cx="1792224" cy="13716"/>
          </a:xfrm>
          <a:prstGeom prst="rect">
            <a:avLst/>
          </a:prstGeom>
          <a:solidFill>
            <a:srgbClr val="2A3F34"/>
          </a:solidFill>
          <a:ln w="12700">
            <a:solidFill>
              <a:srgbClr val="2A3F34"/>
            </a:solidFill>
            <a:prstDash val="solid"/>
          </a:ln>
        </p:spPr>
      </p:sp>
      <p:sp>
        <p:nvSpPr>
          <p:cNvPr id="75" name="Text 62"/>
          <p:cNvSpPr/>
          <p:nvPr/>
        </p:nvSpPr>
        <p:spPr>
          <a:xfrm>
            <a:off x="6821424" y="2487168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+ ADVANCED AUTOMATION</a:t>
            </a:r>
            <a:endParaRPr lang="en-US" sz="700" dirty="0"/>
          </a:p>
        </p:txBody>
      </p:sp>
      <p:pic>
        <p:nvPicPr>
          <p:cNvPr id="7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1424" y="2670048"/>
            <a:ext cx="146304" cy="146304"/>
          </a:xfrm>
          <a:prstGeom prst="rect">
            <a:avLst/>
          </a:prstGeom>
        </p:spPr>
      </p:pic>
      <p:sp>
        <p:nvSpPr>
          <p:cNvPr id="77" name="Text 63"/>
          <p:cNvSpPr/>
          <p:nvPr/>
        </p:nvSpPr>
        <p:spPr>
          <a:xfrm>
            <a:off x="7004304" y="265176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 via IDP</a:t>
            </a:r>
            <a:endParaRPr lang="en-US" sz="850" dirty="0"/>
          </a:p>
        </p:txBody>
      </p:sp>
      <p:sp>
        <p:nvSpPr>
          <p:cNvPr id="78" name="Text 64"/>
          <p:cNvSpPr/>
          <p:nvPr/>
        </p:nvSpPr>
        <p:spPr>
          <a:xfrm>
            <a:off x="7004304" y="288950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Backstage frontend plugin · developer asks, platform responds</a:t>
            </a:r>
            <a:endParaRPr lang="en-US" sz="700" dirty="0"/>
          </a:p>
        </p:txBody>
      </p:sp>
      <p:pic>
        <p:nvPicPr>
          <p:cNvPr id="7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1424" y="3182112"/>
            <a:ext cx="146304" cy="146304"/>
          </a:xfrm>
          <a:prstGeom prst="rect">
            <a:avLst/>
          </a:prstGeom>
        </p:spPr>
      </p:pic>
      <p:sp>
        <p:nvSpPr>
          <p:cNvPr id="80" name="Text 65"/>
          <p:cNvSpPr/>
          <p:nvPr/>
        </p:nvSpPr>
        <p:spPr>
          <a:xfrm>
            <a:off x="7004304" y="316382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developer self-service</a:t>
            </a:r>
            <a:endParaRPr lang="en-US" sz="850" dirty="0"/>
          </a:p>
        </p:txBody>
      </p:sp>
      <p:sp>
        <p:nvSpPr>
          <p:cNvPr id="81" name="Text 66"/>
          <p:cNvSpPr/>
          <p:nvPr/>
        </p:nvSpPr>
        <p:spPr>
          <a:xfrm>
            <a:off x="7004304" y="340156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workflow trigger · reduces onboarding time</a:t>
            </a:r>
            <a:endParaRPr lang="en-US" sz="700" dirty="0"/>
          </a:p>
        </p:txBody>
      </p:sp>
      <p:pic>
        <p:nvPicPr>
          <p:cNvPr id="8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21424" y="3694176"/>
            <a:ext cx="146304" cy="146304"/>
          </a:xfrm>
          <a:prstGeom prst="rect">
            <a:avLst/>
          </a:prstGeom>
        </p:spPr>
      </p:pic>
      <p:sp>
        <p:nvSpPr>
          <p:cNvPr id="83" name="Text 67"/>
          <p:cNvSpPr/>
          <p:nvPr/>
        </p:nvSpPr>
        <p:spPr>
          <a:xfrm>
            <a:off x="7004304" y="367588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workflow edge case handling</a:t>
            </a:r>
            <a:endParaRPr lang="en-US" sz="850" dirty="0"/>
          </a:p>
        </p:txBody>
      </p:sp>
      <p:sp>
        <p:nvSpPr>
          <p:cNvPr id="84" name="Text 68"/>
          <p:cNvSpPr/>
          <p:nvPr/>
        </p:nvSpPr>
        <p:spPr>
          <a:xfrm>
            <a:off x="7004304" y="391363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too nuanced for standard form-based workflows</a:t>
            </a:r>
            <a:endParaRPr lang="en-US" sz="700" dirty="0"/>
          </a:p>
        </p:txBody>
      </p:sp>
      <p:sp>
        <p:nvSpPr>
          <p:cNvPr id="85" name="Text 69"/>
          <p:cNvSpPr/>
          <p:nvPr/>
        </p:nvSpPr>
        <p:spPr>
          <a:xfrm>
            <a:off x="2345436" y="1188720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86" name="Text 70"/>
          <p:cNvSpPr/>
          <p:nvPr/>
        </p:nvSpPr>
        <p:spPr>
          <a:xfrm>
            <a:off x="4475988" y="1188720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87" name="Text 71"/>
          <p:cNvSpPr/>
          <p:nvPr/>
        </p:nvSpPr>
        <p:spPr>
          <a:xfrm>
            <a:off x="6606540" y="1188720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88" name="Shape 72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  <p:sp>
        <p:nvSpPr>
          <p:cNvPr id="89" name="Text 73"/>
          <p:cNvSpPr/>
          <p:nvPr/>
        </p:nvSpPr>
        <p:spPr>
          <a:xfrm>
            <a:off x="32004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Platform Engineering  ·  Internal Reference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 Wave Roadmap</dc:title>
  <dc:subject>PptxGenJS Presentation</dc:subject>
  <dc:creator>PptxGenJS</dc:creator>
  <cp:lastModifiedBy>PptxGenJS</cp:lastModifiedBy>
  <cp:revision>1</cp:revision>
  <dcterms:created xsi:type="dcterms:W3CDTF">2026-06-03T15:15:19Z</dcterms:created>
  <dcterms:modified xsi:type="dcterms:W3CDTF">2026-06-03T15:15:19Z</dcterms:modified>
</cp:coreProperties>
</file>