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097280"/>
            <a:ext cx="109728" cy="2926080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10058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IDP Impact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777240" y="19659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Productivity Transformation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77240" y="28803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Engineering  |  Internal Developer Platform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0" y="4160520"/>
            <a:ext cx="9144000" cy="987552"/>
          </a:xfrm>
          <a:prstGeom prst="rect">
            <a:avLst/>
          </a:prstGeom>
          <a:solidFill>
            <a:srgbClr val="0F3D23"/>
          </a:solidFill>
          <a:ln w="12700">
            <a:solidFill>
              <a:srgbClr val="0F3D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206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65760" y="46360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06040" y="4206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73,000+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606040" y="46360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Recovered / yr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4206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$3.7M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846320" y="46360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Value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86600" y="4206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086600" y="46360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Engineers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—  The Fragmented Developer Experience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4023360" cy="3246120"/>
          </a:xfrm>
          <a:prstGeom prst="rect">
            <a:avLst/>
          </a:prstGeom>
          <a:solidFill>
            <a:srgbClr val="E8F5EE"/>
          </a:solidFill>
          <a:ln w="19050">
            <a:solidFill>
              <a:srgbClr val="5BA8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132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Sprawl — Daily Context Switches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16128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/ Harness</a:t>
            </a:r>
            <a:pPr algn="l" indent="0" marL="0">
              <a:buNone/>
            </a:pPr>
            <a:r>
              <a:rPr lang="en-US" sz="13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Pipeline status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536192"/>
            <a:ext cx="3566160" cy="0"/>
          </a:xfrm>
          <a:prstGeom prst="line">
            <a:avLst/>
          </a:prstGeom>
          <a:noFill/>
          <a:ln w="8890">
            <a:solidFill>
              <a:srgbClr val="E5EA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3677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dashboards</a:t>
            </a:r>
            <a:pPr algn="l" indent="0" marL="0">
              <a:buNone/>
            </a:pPr>
            <a:r>
              <a:rPr lang="en-US" sz="13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Deployment health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3566160" cy="0"/>
          </a:xfrm>
          <a:prstGeom prst="line">
            <a:avLst/>
          </a:prstGeom>
          <a:noFill/>
          <a:ln w="8890">
            <a:solidFill>
              <a:srgbClr val="E5EA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112264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 / Datadog</a:t>
            </a:r>
            <a:pPr algn="l" indent="0" marL="0">
              <a:buNone/>
            </a:pPr>
            <a:r>
              <a:rPr lang="en-US" sz="13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Logs &amp; metrics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487168"/>
            <a:ext cx="3566160" cy="0"/>
          </a:xfrm>
          <a:prstGeom prst="line">
            <a:avLst/>
          </a:prstGeom>
          <a:noFill/>
          <a:ln w="8890">
            <a:solidFill>
              <a:srgbClr val="E5EA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58775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/ Wiz</a:t>
            </a:r>
            <a:pPr algn="l" indent="0" marL="0">
              <a:buNone/>
            </a:pPr>
            <a:r>
              <a:rPr lang="en-US" sz="13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Security findings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962656"/>
            <a:ext cx="3566160" cy="0"/>
          </a:xfrm>
          <a:prstGeom prst="line">
            <a:avLst/>
          </a:prstGeom>
          <a:noFill/>
          <a:ln w="8890">
            <a:solidFill>
              <a:srgbClr val="E5EA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06324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Hoover, Fuse, Jarvis</a:t>
            </a:r>
            <a:pPr algn="l" indent="0" marL="0">
              <a:buNone/>
            </a:pPr>
            <a:r>
              <a:rPr lang="en-US" sz="13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Multiple portals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17720" y="658368"/>
            <a:ext cx="4206240" cy="3246120"/>
          </a:xfrm>
          <a:prstGeom prst="rect">
            <a:avLst/>
          </a:prstGeom>
          <a:solidFill>
            <a:srgbClr val="E8F5EE"/>
          </a:solidFill>
          <a:ln w="19050">
            <a:solidFill>
              <a:srgbClr val="2D7D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7132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116128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6–10 tool switches per day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00600" y="1536192"/>
            <a:ext cx="3840480" cy="0"/>
          </a:xfrm>
          <a:prstGeom prst="line">
            <a:avLst/>
          </a:prstGeom>
          <a:noFill/>
          <a:ln w="8890">
            <a:solidFill>
              <a:srgbClr val="E5EA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636776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2–4 minutes per lookup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00600" y="2011680"/>
            <a:ext cx="3840480" cy="0"/>
          </a:xfrm>
          <a:prstGeom prst="line">
            <a:avLst/>
          </a:prstGeom>
          <a:noFill/>
          <a:ln w="8890">
            <a:solidFill>
              <a:srgbClr val="E5EA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112264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Constant context switching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00600" y="2487168"/>
            <a:ext cx="3840480" cy="0"/>
          </a:xfrm>
          <a:prstGeom prst="line">
            <a:avLst/>
          </a:prstGeom>
          <a:noFill/>
          <a:ln w="8890">
            <a:solidFill>
              <a:srgbClr val="E5EA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258775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Cognitive overload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00600" y="2962656"/>
            <a:ext cx="3840480" cy="0"/>
          </a:xfrm>
          <a:prstGeom prst="line">
            <a:avLst/>
          </a:prstGeom>
          <a:noFill/>
          <a:ln w="8890">
            <a:solidFill>
              <a:srgbClr val="E5EA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306324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Repeated searching for same service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20040" y="4069080"/>
            <a:ext cx="8503920" cy="685800"/>
          </a:xfrm>
          <a:prstGeom prst="rect">
            <a:avLst/>
          </a:prstGeom>
          <a:solidFill>
            <a:srgbClr val="0F3D23"/>
          </a:solidFill>
          <a:ln w="12700">
            <a:solidFill>
              <a:srgbClr val="0F3D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142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TIME LOST:  ~20 minutes per developer, per day  =  Over 73,000 hours per year wasted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0" y="5001768"/>
            <a:ext cx="9144000" cy="137160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—  Unified IDP Catalog: One Front Door for Developer Experience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4023360" cy="2743200"/>
          </a:xfrm>
          <a:prstGeom prst="rect">
            <a:avLst/>
          </a:prstGeom>
          <a:solidFill>
            <a:srgbClr val="E8F5EE"/>
          </a:solidFill>
          <a:ln w="19050">
            <a:solidFill>
              <a:srgbClr val="5BA8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132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One View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1612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CI/CD status in one tab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3566160" cy="0"/>
          </a:xfrm>
          <a:prstGeom prst="line">
            <a:avLst/>
          </a:prstGeom>
          <a:noFill/>
          <a:ln w="8890">
            <a:solidFill>
              <a:srgbClr val="5BA8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002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Kubernetes health embedded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947672"/>
            <a:ext cx="3566160" cy="0"/>
          </a:xfrm>
          <a:prstGeom prst="line">
            <a:avLst/>
          </a:prstGeom>
          <a:noFill/>
          <a:ln w="8890">
            <a:solidFill>
              <a:srgbClr val="5BA8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391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Security findings visible instantly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386584"/>
            <a:ext cx="3566160" cy="0"/>
          </a:xfrm>
          <a:prstGeom prst="line">
            <a:avLst/>
          </a:prstGeom>
          <a:noFill/>
          <a:ln w="8890">
            <a:solidFill>
              <a:srgbClr val="5BA8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7802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Observability (logs / metrics) centralized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825496"/>
            <a:ext cx="3566160" cy="0"/>
          </a:xfrm>
          <a:prstGeom prst="line">
            <a:avLst/>
          </a:prstGeom>
          <a:noFill/>
          <a:ln w="8890">
            <a:solidFill>
              <a:srgbClr val="5BA8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1693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All data pre-contextualized to service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658368"/>
            <a:ext cx="2057400" cy="1261872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768096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Zero Tool Hopping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120700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one place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12280" y="658368"/>
            <a:ext cx="2057400" cy="1261872"/>
          </a:xfrm>
          <a:prstGeom prst="rect">
            <a:avLst/>
          </a:prstGeom>
          <a:solidFill>
            <a:srgbClr val="2D7D4F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768096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No Re-Navigation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03720" y="120700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searching required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2075688"/>
            <a:ext cx="2057400" cy="1261872"/>
          </a:xfrm>
          <a:prstGeom prst="rect">
            <a:avLst/>
          </a:prstGeom>
          <a:solidFill>
            <a:srgbClr val="5BA872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185416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Continuous Flow State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262432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work, uninterrupted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12280" y="2075688"/>
            <a:ext cx="2057400" cy="1261872"/>
          </a:xfrm>
          <a:prstGeom prst="rect">
            <a:avLst/>
          </a:prstGeom>
          <a:solidFill>
            <a:srgbClr val="5B8A6A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03720" y="2185416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Self-Service at Scale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03720" y="262432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autonomy built in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3566160"/>
            <a:ext cx="8503920" cy="621792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630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TIME SAVED:  ~20 minutes per developer, per day  ≡  73,000+ hours recovered annually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20040" y="43159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Consolidation in Progress:  Hoover  ▶  Fuse  ▶  Jarvis  →  Single IDP Platform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5001768"/>
            <a:ext cx="9144000" cy="137160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 —  The ROI Case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2011680" cy="1828800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772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73,000+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Hours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/ Year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50592" y="640080"/>
            <a:ext cx="2011680" cy="1828800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50592" y="7772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$3.7M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542032" y="16002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Value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26864" y="640080"/>
            <a:ext cx="2011680" cy="1828800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6864" y="7772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718304" y="16002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Engineer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Added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03136" y="640080"/>
            <a:ext cx="2011680" cy="1828800"/>
          </a:xfrm>
          <a:prstGeom prst="rect">
            <a:avLst/>
          </a:prstGeom>
          <a:solidFill>
            <a:srgbClr val="0F3D23"/>
          </a:solidFill>
          <a:ln w="12700">
            <a:solidFill>
              <a:srgbClr val="0F3D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03136" y="7772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894576" y="16002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Per Developer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Day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651760"/>
          <a:ext cx="8595360" cy="1691640"/>
        </p:xfrm>
        <a:graphic>
          <a:graphicData uri="http://schemas.openxmlformats.org/drawingml/2006/table">
            <a:tbl>
              <a:tblPr/>
              <a:tblGrid>
                <a:gridCol w="2011680"/>
                <a:gridCol w="1554480"/>
                <a:gridCol w="3017520"/>
                <a:gridCol w="201168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Annualized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7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D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 engineers impacted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Saved/Day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D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min/dev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 × 20 min × 250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73,000+ hours/year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Productivity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D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$50/hr blended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73,000 hrs × $50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~$3.7M/year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Equivalent Headcount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D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$3.7M ÷ avg engineer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~35 engineers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0" y="5001768"/>
            <a:ext cx="9144000" cy="137160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5E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371600" y="960120"/>
            <a:ext cx="6400800" cy="0"/>
          </a:xfrm>
          <a:prstGeom prst="line">
            <a:avLst/>
          </a:prstGeom>
          <a:noFill/>
          <a:ln w="25400">
            <a:solidFill>
              <a:srgbClr val="5BA87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1417320"/>
          </a:xfrm>
          <a:prstGeom prst="rect">
            <a:avLst/>
          </a:prstGeom>
          <a:solidFill>
            <a:srgbClr val="0F3D23"/>
          </a:solidFill>
          <a:ln w="19050">
            <a:solidFill>
              <a:srgbClr val="5BA8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“By consolidating developer workflows into a single IDP, we eliminate context switching and recover over 73,000 engineering hours annually — delivering ~$3.7M in productivity gains and the equivalent output of 35 engineers.”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743200"/>
            <a:ext cx="2651760" cy="1508760"/>
          </a:xfrm>
          <a:prstGeom prst="rect">
            <a:avLst/>
          </a:prstGeom>
          <a:solidFill>
            <a:srgbClr val="2D7D4F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743200"/>
            <a:ext cx="2651760" cy="384048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7706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Hoover, Fuse &amp; Jarvis silos into a single IDP catalog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2743200"/>
            <a:ext cx="2651760" cy="1508760"/>
          </a:xfrm>
          <a:prstGeom prst="rect">
            <a:avLst/>
          </a:prstGeom>
          <a:solidFill>
            <a:srgbClr val="2D7D4F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2743200"/>
            <a:ext cx="2651760" cy="384048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27706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Workflow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0" y="32004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pipelines from repo creation to K8s namespace onboarding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2743200"/>
            <a:ext cx="2651760" cy="1508760"/>
          </a:xfrm>
          <a:prstGeom prst="rect">
            <a:avLst/>
          </a:prstGeom>
          <a:solidFill>
            <a:srgbClr val="2D7D4F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2743200"/>
            <a:ext cx="2651760" cy="384048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27706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Front Door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26480" y="32004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context — CI/CD, K8s health, security, observability — in one tab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434840"/>
            <a:ext cx="9144000" cy="566928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489704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a portal — a force multiplier for developer velocity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0" y="5001768"/>
            <a:ext cx="9144000" cy="137160"/>
          </a:xfrm>
          <a:prstGeom prst="rect">
            <a:avLst/>
          </a:prstGeom>
          <a:solidFill>
            <a:srgbClr val="0F3D23"/>
          </a:solidFill>
          <a:ln w="12700">
            <a:solidFill>
              <a:srgbClr val="0F3D2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Unified IDP Impact — Developer Productivity Transformation</dc:title>
  <dc:subject>PptxGenJS Presentation</dc:subject>
  <dc:creator>PptxGenJS</dc:creator>
  <cp:lastModifiedBy>PptxGenJS</cp:lastModifiedBy>
  <cp:revision>1</cp:revision>
  <dcterms:created xsi:type="dcterms:W3CDTF">2026-05-13T13:15:27Z</dcterms:created>
  <dcterms:modified xsi:type="dcterms:W3CDTF">2026-05-13T13:15:27Z</dcterms:modified>
</cp:coreProperties>
</file>