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IDP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Underway.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high-value developer workflows delivered. Terraform promotion and catalog development now in progress.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76272"/>
            <a:ext cx="2679192" cy="9144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2176272"/>
            <a:ext cx="2679192" cy="9144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194560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27832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PROGRESS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Catalog MVP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9904" y="2176272"/>
            <a:ext cx="2679192" cy="9144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194560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P-1/P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9904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via Terraform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18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20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workflows 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· K8s · AD Group · Add Users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27832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20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37560" y="399592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PROGRESS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cross-account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system MVP development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520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99632" y="399592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promotion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 → P-1 via Terraform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High-Value Workflows Delivered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requested developer actions — now fully automated, self-service, and running in P-2.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10128" y="131673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13350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2064" y="177393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submits app key via IDP form. GitHub repo created from approved template with branch protection, team permissions, and webhook configuration — fully automated.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12064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2064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· Branch protection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1810512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10512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Teams auto-provisioned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108960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08960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environments live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645152" y="1207008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45152" y="1207008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29844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89520" y="131673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35331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66944" y="13350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791456" y="177393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 provisions namespace, AD groups, PaaS repo, Ops repo, Jenkins folder, Vault repo, and Vault pipeline. Developer receives email confirmation.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91456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91456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 · ~5 min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6089904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89904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auto-creation if absent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7388352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388352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P-2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365760" y="3044952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760" y="3044952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136392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310128" y="31546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8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91256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87552" y="3172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12064" y="3611880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requests a new Azure AD group via IDP form. Group provisioned automatically via Microsoft Graph API — no ServiceNow ticket, no wait.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12064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12064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1810512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810512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No wait</a:t>
            </a:r>
            <a:endParaRPr lang="en-US" sz="750" dirty="0"/>
          </a:p>
        </p:txBody>
      </p:sp>
      <p:sp>
        <p:nvSpPr>
          <p:cNvPr id="43" name="Shape 35"/>
          <p:cNvSpPr/>
          <p:nvPr/>
        </p:nvSpPr>
        <p:spPr>
          <a:xfrm>
            <a:off x="3108960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3108960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P-2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4645152" y="3044952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645152" y="3044952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3136392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589520" y="31546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8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191256"/>
            <a:ext cx="347472" cy="34747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266944" y="3172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4791456" y="3611880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user membership managed through IDP. Validates group and user existence before assignment. Confirmation sent on completion.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4791456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4791456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</a:t>
            </a:r>
            <a:endParaRPr lang="en-US" sz="750" dirty="0"/>
          </a:p>
        </p:txBody>
      </p:sp>
      <p:sp>
        <p:nvSpPr>
          <p:cNvPr id="54" name="Shape 44"/>
          <p:cNvSpPr/>
          <p:nvPr/>
        </p:nvSpPr>
        <p:spPr>
          <a:xfrm>
            <a:off x="6089904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6089904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validation built-in</a:t>
            </a:r>
            <a:endParaRPr lang="en-US" sz="750" dirty="0"/>
          </a:p>
        </p:txBody>
      </p:sp>
      <p:sp>
        <p:nvSpPr>
          <p:cNvPr id="56" name="Shape 46"/>
          <p:cNvSpPr/>
          <p:nvPr/>
        </p:nvSpPr>
        <p:spPr>
          <a:xfrm>
            <a:off x="7388352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7388352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P-2</a:t>
            </a:r>
            <a:endParaRPr lang="en-US" sz="750" dirty="0"/>
          </a:p>
        </p:txBody>
      </p:sp>
      <p:sp>
        <p:nvSpPr>
          <p:cNvPr id="58" name="Shape 4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 ·  4 WAVES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 Full Self-Service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2011680" cy="65836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280160"/>
            <a:ext cx="1792224" cy="219456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73736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6656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548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5488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6656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4572000"/>
            <a:ext cx="2011680" cy="3108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 P-2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496312" y="969264"/>
            <a:ext cx="2011680" cy="65836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06040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606040" y="1280160"/>
            <a:ext cx="1792224" cy="219456"/>
          </a:xfrm>
          <a:prstGeom prst="rect">
            <a:avLst/>
          </a:prstGeom>
          <a:solidFill>
            <a:srgbClr val="3D2800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06040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496312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737360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044952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MVP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606040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606040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2807208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promote all workflows to P-1 / P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60604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807208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system development for MVP release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260604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2807208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CMDB integration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2606040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807208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integrations: CI/CD, K8s, Security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2496312" y="4572000"/>
            <a:ext cx="2011680" cy="3108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496312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this quarter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626864" y="969264"/>
            <a:ext cx="2011680" cy="658368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36592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4736592" y="1280160"/>
            <a:ext cx="1792224" cy="21945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736592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626864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37360"/>
            <a:ext cx="329184" cy="32918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5175504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4736592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736592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4937760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 provisioning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4736592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4937760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infrastructure workflows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4736592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4937760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visibility integration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4736592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937760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onboarding automation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4626864" y="4572000"/>
            <a:ext cx="2011680" cy="31089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626864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target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6757416" y="969264"/>
            <a:ext cx="2011680" cy="658368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867144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300" dirty="0"/>
          </a:p>
        </p:txBody>
      </p:sp>
      <p:sp>
        <p:nvSpPr>
          <p:cNvPr id="61" name="Shape 56"/>
          <p:cNvSpPr/>
          <p:nvPr/>
        </p:nvSpPr>
        <p:spPr>
          <a:xfrm>
            <a:off x="6867144" y="1280160"/>
            <a:ext cx="1792224" cy="21945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867144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6757416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737360"/>
            <a:ext cx="329184" cy="329184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7306056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6867144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6867144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7068312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via IDP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6867144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7068312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workflow edge case handling</a:t>
            </a:r>
            <a:endParaRPr lang="en-US" sz="950" dirty="0"/>
          </a:p>
        </p:txBody>
      </p:sp>
      <p:sp>
        <p:nvSpPr>
          <p:cNvPr id="71" name="Text 65"/>
          <p:cNvSpPr/>
          <p:nvPr/>
        </p:nvSpPr>
        <p:spPr>
          <a:xfrm>
            <a:off x="6867144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2" name="Text 66"/>
          <p:cNvSpPr/>
          <p:nvPr/>
        </p:nvSpPr>
        <p:spPr>
          <a:xfrm>
            <a:off x="7068312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developer self-service</a:t>
            </a:r>
            <a:endParaRPr lang="en-US" sz="950" dirty="0"/>
          </a:p>
        </p:txBody>
      </p:sp>
      <p:sp>
        <p:nvSpPr>
          <p:cNvPr id="73" name="Text 67"/>
          <p:cNvSpPr/>
          <p:nvPr/>
        </p:nvSpPr>
        <p:spPr>
          <a:xfrm>
            <a:off x="6867144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4" name="Text 68"/>
          <p:cNvSpPr/>
          <p:nvPr/>
        </p:nvSpPr>
        <p:spPr>
          <a:xfrm>
            <a:off x="7068312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automation scenarios</a:t>
            </a:r>
            <a:endParaRPr lang="en-US" sz="950" dirty="0"/>
          </a:p>
        </p:txBody>
      </p:sp>
      <p:sp>
        <p:nvSpPr>
          <p:cNvPr id="75" name="Shape 69"/>
          <p:cNvSpPr/>
          <p:nvPr/>
        </p:nvSpPr>
        <p:spPr>
          <a:xfrm>
            <a:off x="6757416" y="4572000"/>
            <a:ext cx="2011680" cy="31089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6757416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850" dirty="0"/>
          </a:p>
        </p:txBody>
      </p:sp>
      <p:sp>
        <p:nvSpPr>
          <p:cNvPr id="77" name="Text 71"/>
          <p:cNvSpPr/>
          <p:nvPr/>
        </p:nvSpPr>
        <p:spPr>
          <a:xfrm>
            <a:off x="2400300" y="10972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8" name="Text 72"/>
          <p:cNvSpPr/>
          <p:nvPr/>
        </p:nvSpPr>
        <p:spPr>
          <a:xfrm>
            <a:off x="4530852" y="10972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9" name="Text 73"/>
          <p:cNvSpPr/>
          <p:nvPr/>
        </p:nvSpPr>
        <p:spPr>
          <a:xfrm>
            <a:off x="6661404" y="10972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0" name="Shape 74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JULY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Promotion Across Accounts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Terraform-driven promotion of all 4 Wave 1 workflows from P-2 to P-1 / Production accounts.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2011680" cy="2194560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81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2825496"/>
            <a:ext cx="1463040" cy="292608"/>
          </a:xfrm>
          <a:prstGeom prst="rect">
            <a:avLst/>
          </a:prstGeom>
          <a:solidFill>
            <a:srgbClr val="0F3D23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" y="3246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K8s Onboarding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AD 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 Users to AD Group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66160" y="1417320"/>
            <a:ext cx="2011680" cy="2194560"/>
          </a:xfrm>
          <a:prstGeom prst="rect">
            <a:avLst/>
          </a:prstGeom>
          <a:solidFill>
            <a:srgbClr val="155030"/>
          </a:solidFill>
          <a:ln w="25400">
            <a:solidFill>
              <a:srgbClr val="E8A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581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825496"/>
            <a:ext cx="1463040" cy="292608"/>
          </a:xfrm>
          <a:prstGeom prst="rect">
            <a:avLst/>
          </a:prstGeom>
          <a:solidFill>
            <a:srgbClr val="0F3D23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12464" y="3246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K8s Onboarding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AD 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 Users to AD Group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011680" cy="2194560"/>
          </a:xfrm>
          <a:prstGeom prst="rect">
            <a:avLst/>
          </a:prstGeom>
          <a:solidFill>
            <a:srgbClr val="1A45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581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2825496"/>
            <a:ext cx="1463040" cy="292608"/>
          </a:xfrm>
          <a:prstGeom prst="rect">
            <a:avLst/>
          </a:prstGeom>
          <a:solidFill>
            <a:srgbClr val="0F3D23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3246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K8s Onboarding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AD 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 Users to AD Group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72384" y="22860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072384" y="25968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32704" y="22860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32704" y="25968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785616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587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THE DEMO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workflow request via IDP form in P-2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42032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34640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pipeline triggers — promotes configuration across accounts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workflows become available in P-1 account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9457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87184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same IDP form, same experience, new account target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Platform — July Capstone</dc:title>
  <dc:subject>PptxGenJS Presentation</dc:subject>
  <dc:creator>PptxGenJS</dc:creator>
  <cp:lastModifiedBy>PptxGenJS</cp:lastModifiedBy>
  <cp:revision>1</cp:revision>
  <dcterms:created xsi:type="dcterms:W3CDTF">2026-06-03T11:07:20Z</dcterms:created>
  <dcterms:modified xsi:type="dcterms:W3CDTF">2026-06-03T11:07:20Z</dcterms:modified>
</cp:coreProperties>
</file>