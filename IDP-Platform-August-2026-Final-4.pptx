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34"/>
    <p:sldId id="258" r:id="rId4"/>
    <p:sldId id="259" r:id="rId5"/>
    <p:sldId id="262" r:id="rId30"/>
    <p:sldId id="263" r:id="rId31"/>
    <p:sldId id="264" r:id="rId33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30" Type="http://schemas.openxmlformats.org/officeDocument/2006/relationships/slide" Target="slides/slide7.xml"/>
<Relationship Id="rId31" Type="http://schemas.openxmlformats.org/officeDocument/2006/relationships/slide" Target="slides/slide8.xml"/>
<Relationship Id="rId32" Type="http://schemas.openxmlformats.org/officeDocument/2006/relationships/slide" Target="slides/slide9.xml"/>
<Relationship Id="rId33" Type="http://schemas.openxmlformats.org/officeDocument/2006/relationships/slide" Target="slides/slide10.xml"/>
  <Relationship Id="rId34" Type="http://schemas.openxmlformats.org/officeDocument/2006/relationships/slide" Target="slides/slide11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Diagram: catalog-info.yaml (left lane) → GitHub Actions validation → IDP_Catalog Repo → IDP Portal. now.yaml (right lane) → RapDev Workflow Sync → ServiceNow CMDB → ITOM. Centre rail shows they diverge from the same master branch commit.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Architecture: Source repos → GitHub Actions validation → IDP_Catalog central repo → IDP Portal tabs (Overview, CI/CD, Code Quality, Security, K8s, Observability, TechDocs). Read-only views by audience: Engineers, Architects, SRE.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11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105156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Complete.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Underway.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" y="3310128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developer workflows complete, now in P-2. K8s pod self-service live. Wave 2 firmly underway.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26280" y="347472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6035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17720" y="1399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DELIVERED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105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· in P-2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30568" y="347472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67728" y="603504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K8s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922008" y="13990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SELF-SERVICE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13448" y="1737360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16" name="Text 14"/>
          <p:cNvSpPr/>
          <p:nvPr/>
        </p:nvSpPr>
        <p:spPr>
          <a:xfrm>
            <a:off x="6922008" y="181051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· Start · Stop services live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26280" y="256032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617720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FIRMLY UNDERWAY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950208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1" name="Text 19"/>
          <p:cNvSpPr/>
          <p:nvPr/>
        </p:nvSpPr>
        <p:spPr>
          <a:xfrm>
            <a:off x="4617720" y="4023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service mapping · IDP catalog build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30568" y="2560320"/>
            <a:ext cx="214884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67728" y="2816352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22008" y="36118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 SERVICES COMPLETE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13448" y="3950208"/>
            <a:ext cx="1783080" cy="13716"/>
          </a:xfrm>
          <a:prstGeom prst="rect">
            <a:avLst/>
          </a:prstGeom>
          <a:solidFill>
            <a:srgbClr val="E8F5EE"/>
          </a:solidFill>
          <a:ln/>
        </p:spPr>
      </p:sp>
      <p:sp>
        <p:nvSpPr>
          <p:cNvPr id="26" name="Text 24"/>
          <p:cNvSpPr/>
          <p:nvPr/>
        </p:nvSpPr>
        <p:spPr>
          <a:xfrm>
            <a:off x="6922008" y="4023360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 payload submission match complete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462272" y="4498848"/>
            <a:ext cx="4681728" cy="672084"/>
          </a:xfrm>
          <a:prstGeom prst="rect">
            <a:avLst/>
          </a:prstGeom>
          <a:solidFill>
            <a:srgbClr val="F7FCF9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4544568"/>
            <a:ext cx="4434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+ K8s Self-Service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Architecture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— Public Cloud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</a:t>
            </a:r>
            <a:pPr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</a:t>
            </a:r>
            <a:pPr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Plan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· COMPLETE · IN P-2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Wave 2 underway — catalog, CMDB, K8s pod self-service expanding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+ K8s Self-Service — Delivered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high-value developer workflows complete, now in P-2. K8s pod management self-service — no kubectl, no ticket, no wait.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56032" y="1554480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645920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64592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64592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1645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69264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08960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config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20624" y="22585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from approved template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" y="24368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protection · team permissions · webhooks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0624" y="26151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· fully automated from IDP form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18304" y="1554480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28032" y="1645920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164592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2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19872" y="1645920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28" name="Text 26"/>
          <p:cNvSpPr/>
          <p:nvPr/>
        </p:nvSpPr>
        <p:spPr>
          <a:xfrm>
            <a:off x="8119872" y="164592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431536" y="1645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8280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996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runtime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571232" y="1975104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71232" y="1975104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on fail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82896" y="2258568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10-stage pipeline: namespace, AD groups, repos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82896" y="243687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PaaS repo · Jenkins folder · Vault repo + pipeline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82896" y="261518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 (existing AD) · ~40 min (new AD) · resume on fail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56032" y="2944368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5760" y="30358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30358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3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0" y="303580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43" name="Text 41"/>
          <p:cNvSpPr/>
          <p:nvPr/>
        </p:nvSpPr>
        <p:spPr>
          <a:xfrm>
            <a:off x="3657600" y="303580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969264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AD Group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373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ticket · No wait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08960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08960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20624" y="36484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 · no ServiceNow ticket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20624" y="38267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Instantaneous from IDP self-service form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20624" y="40050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built-in before provisioning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18304" y="2944368"/>
            <a:ext cx="420624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828032" y="3035808"/>
            <a:ext cx="512064" cy="237744"/>
          </a:xfrm>
          <a:prstGeom prst="roundRect">
            <a:avLst>
              <a:gd name="adj" fmla="val 15385"/>
            </a:avLst>
          </a:prstGeom>
          <a:solidFill>
            <a:srgbClr val="1B5E37"/>
          </a:solidFill>
          <a:ln/>
        </p:spPr>
      </p:sp>
      <p:sp>
        <p:nvSpPr>
          <p:cNvPr id="56" name="Text 54"/>
          <p:cNvSpPr/>
          <p:nvPr/>
        </p:nvSpPr>
        <p:spPr>
          <a:xfrm>
            <a:off x="4828032" y="3035808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 4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8119872" y="3035808"/>
            <a:ext cx="694944" cy="237744"/>
          </a:xfrm>
          <a:prstGeom prst="roundRect">
            <a:avLst>
              <a:gd name="adj" fmla="val 15385"/>
            </a:avLst>
          </a:prstGeom>
          <a:solidFill>
            <a:srgbClr val="5BA872"/>
          </a:solidFill>
          <a:ln/>
        </p:spPr>
      </p:sp>
      <p:sp>
        <p:nvSpPr>
          <p:cNvPr id="58" name="Text 56"/>
          <p:cNvSpPr/>
          <p:nvPr/>
        </p:nvSpPr>
        <p:spPr>
          <a:xfrm>
            <a:off x="8119872" y="3035808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431536" y="30358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Users to AD Group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48280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280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SailPoint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1996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996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571232" y="3364992"/>
            <a:ext cx="1261872" cy="219456"/>
          </a:xfrm>
          <a:prstGeom prst="roundRect">
            <a:avLst>
              <a:gd name="adj" fmla="val 20833"/>
            </a:avLst>
          </a:prstGeom>
          <a:solidFill>
            <a:srgbClr val="E8F5EE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71232" y="3364992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882896" y="3648456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or individual via SailPoint API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882896" y="3826764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group and user before assignment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882896" y="4005072"/>
            <a:ext cx="39319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on completion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256032" y="4261104"/>
            <a:ext cx="8631936" cy="493776"/>
          </a:xfrm>
          <a:prstGeom prst="roundRect">
            <a:avLst>
              <a:gd name="adj" fmla="val 16667"/>
            </a:avLst>
          </a:prstGeom>
          <a:solidFill>
            <a:srgbClr val="F0F9F4"/>
          </a:solidFill>
          <a:ln w="19050">
            <a:solidFill>
              <a:srgbClr val="1B5E3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347472" y="4334256"/>
            <a:ext cx="914400" cy="256032"/>
          </a:xfrm>
          <a:prstGeom prst="roundRect">
            <a:avLst>
              <a:gd name="adj" fmla="val 17857"/>
            </a:avLst>
          </a:prstGeom>
          <a:solidFill>
            <a:srgbClr val="1B5E37"/>
          </a:solidFill>
          <a:ln/>
        </p:spPr>
      </p:sp>
      <p:sp>
        <p:nvSpPr>
          <p:cNvPr id="71" name="Text 69"/>
          <p:cNvSpPr/>
          <p:nvPr/>
        </p:nvSpPr>
        <p:spPr>
          <a:xfrm>
            <a:off x="347472" y="43342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371600" y="43342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 — Restart Services · Start Services · Stop Services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1371600" y="4590288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kubectl · No ticket · No platform team — developers manage pod lifecycle directly from IDP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315200" y="4334256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5BA872"/>
          </a:solidFill>
          <a:ln/>
        </p:spPr>
      </p:sp>
      <p:sp>
        <p:nvSpPr>
          <p:cNvPr id="75" name="Text 73"/>
          <p:cNvSpPr/>
          <p:nvPr/>
        </p:nvSpPr>
        <p:spPr>
          <a:xfrm>
            <a:off x="7315200" y="43342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 P-2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CATALOG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→ SysID → Repository → Portal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Architecture — Reference  |  IDP Platform · Platform Engineering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79" y="457200"/>
            <a:ext cx="855544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LIVE WALKTHROUGH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numbered flow: hierarchy → pipeline → portal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items are read-only views — developers use them to find context, not to edit data  |  IDP Platform · Platform Engineering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79" y="457200"/>
            <a:ext cx="855544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IN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delivering: catalog · CMDB seeding · public cloud parity · portal consolidation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6692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— Firmly Underway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streams in parallel: public cloud parity, catalog development, and service mapping via now.yaml.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2860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F0F9F4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2D7D4F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5895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Conversion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3832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2D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→ IDP workflow conversion: 14 of 20 complete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7490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gate: payload submission 1:1 parity with legacy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7490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automation workflow-driven · native IDP reporting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490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(chatbot-assisted onboarding) deferred to later wave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5468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F2F4F7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1C3557"/>
          </a:solidFill>
          <a:ln/>
        </p:spPr>
      </p:sp>
      <p:sp>
        <p:nvSpPr>
          <p:cNvPr id="21" name="Text 19"/>
          <p:cNvSpPr/>
          <p:nvPr/>
        </p:nvSpPr>
        <p:spPr>
          <a:xfrm>
            <a:off x="326440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8503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Catalog Development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26440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1C3557"/>
          </a:solidFill>
          <a:ln/>
        </p:spPr>
      </p:sp>
      <p:sp>
        <p:nvSpPr>
          <p:cNvPr id="24" name="Text 22"/>
          <p:cNvSpPr/>
          <p:nvPr/>
        </p:nvSpPr>
        <p:spPr>
          <a:xfrm>
            <a:off x="326440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0098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catalog-info.yaml architecture designed and validated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0098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seeding pipeline under development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0098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validation workflow in build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30098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catalog live August 2026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1536192"/>
            <a:ext cx="2788920" cy="3182112"/>
          </a:xfrm>
          <a:prstGeom prst="roundRect">
            <a:avLst>
              <a:gd name="adj" fmla="val 2951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90488" y="1627632"/>
            <a:ext cx="347472" cy="256032"/>
          </a:xfrm>
          <a:prstGeom prst="roundRect">
            <a:avLst>
              <a:gd name="adj" fmla="val 14286"/>
            </a:avLst>
          </a:prstGeom>
          <a:solidFill>
            <a:srgbClr val="1B5E37"/>
          </a:solidFill>
          <a:ln/>
        </p:spPr>
      </p:sp>
      <p:sp>
        <p:nvSpPr>
          <p:cNvPr id="31" name="Text 29"/>
          <p:cNvSpPr/>
          <p:nvPr/>
        </p:nvSpPr>
        <p:spPr>
          <a:xfrm>
            <a:off x="6190488" y="162763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11112" y="16459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CMDB Service Mapping (now.yaml)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190488" y="1956816"/>
            <a:ext cx="2569464" cy="274320"/>
          </a:xfrm>
          <a:prstGeom prst="roundRect">
            <a:avLst>
              <a:gd name="adj" fmla="val 16667"/>
            </a:avLst>
          </a:prstGeom>
          <a:solidFill>
            <a:srgbClr val="1B5E37"/>
          </a:solidFill>
          <a:ln/>
        </p:spPr>
      </p:sp>
      <p:sp>
        <p:nvSpPr>
          <p:cNvPr id="34" name="Text 32"/>
          <p:cNvSpPr/>
          <p:nvPr/>
        </p:nvSpPr>
        <p:spPr>
          <a:xfrm>
            <a:off x="6190488" y="1956816"/>
            <a:ext cx="2569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27064" y="233172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schema validated against 5 CI types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27064" y="288036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 and Loan Application used as real test cases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27064" y="342900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RapDev sync tested end-to-end with ServiceNow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27064" y="3977640"/>
            <a:ext cx="2532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 → informing IDP workflow build next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4645152"/>
            <a:ext cx="8686800" cy="347472"/>
          </a:xfrm>
          <a:prstGeom prst="roundRect">
            <a:avLst>
              <a:gd name="adj" fmla="val 23684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Foundations: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(4/4 live · K8s pod self-service live)  ·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 progress · August target)  ·  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</a:t>
            </a:r>
            <a:pPr indent="0" marL="0">
              <a:buNone/>
            </a:pPr>
            <a:r>
              <a:rPr lang="en-US" sz="11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(planned · Q4)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1206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Management  +  K8s Pod Self-Service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16459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1417320"/>
            <a:ext cx="4160520" cy="3218688"/>
          </a:xfrm>
          <a:prstGeom prst="roundRect">
            <a:avLst>
              <a:gd name="adj" fmla="val 3409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" y="1572768"/>
            <a:ext cx="384048" cy="384048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88136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Manage AD Groups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" y="2011680"/>
            <a:ext cx="37490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2121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a new Azure AD group from the IDP self-service form — no ticket, no wait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648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users individually or in bulk — validation before every assignment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2648" y="3474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sent to developer on completion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83080" y="433425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5BA872"/>
          </a:solidFill>
          <a:ln/>
        </p:spPr>
      </p:sp>
      <p:sp>
        <p:nvSpPr>
          <p:cNvPr id="15" name="Text 13"/>
          <p:cNvSpPr/>
          <p:nvPr/>
        </p:nvSpPr>
        <p:spPr>
          <a:xfrm>
            <a:off x="1783080" y="4334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417320"/>
            <a:ext cx="4160520" cy="3218688"/>
          </a:xfrm>
          <a:prstGeom prst="roundRect">
            <a:avLst>
              <a:gd name="adj" fmla="val 3409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01768" y="1572768"/>
            <a:ext cx="384048" cy="384048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0176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77256" y="1591056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01768" y="2011680"/>
            <a:ext cx="37490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1" name="Text 19"/>
          <p:cNvSpPr/>
          <p:nvPr/>
        </p:nvSpPr>
        <p:spPr>
          <a:xfrm>
            <a:off x="5001768" y="212140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the service catalog page for a target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01768" y="279806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service — trigger a rolling restart of pods, no kubectl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01768" y="34747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service — lifecycle control from the IDP portal directly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4334256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5BA872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43342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screen-share now...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· PUBLIC CLOUD · DELIVERY PROGRESS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8229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3 target: full 25-workflow parity with legacy system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Cloud — Wave 3 Delivery Status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25 workflows converted · payload match progressing · edge cases and custom capabilities in focus.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CONVERTED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workflow build complete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10128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0128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MATCH DONE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parity confirmed end-to-end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44768" y="1417320"/>
            <a:ext cx="2788920" cy="1097280"/>
          </a:xfrm>
          <a:prstGeom prst="roundRect">
            <a:avLst>
              <a:gd name="adj" fmla="val 7500"/>
            </a:avLst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54496" y="15087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54496" y="202996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 PROGRESS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54496" y="223113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comparison underway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" y="2615184"/>
            <a:ext cx="8631936" cy="347472"/>
          </a:xfrm>
          <a:prstGeom prst="roundRect">
            <a:avLst>
              <a:gd name="adj" fmla="val 13158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615184"/>
            <a:ext cx="1726387" cy="347472"/>
          </a:xfrm>
          <a:prstGeom prst="roundRect">
            <a:avLst>
              <a:gd name="adj" fmla="val 13158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6334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match: 5 / 25 complete (20%)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6334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25 / 25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072384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FFBEB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Edge Cases — Harness Support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56432" y="3163824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31638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FLIGHT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4381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of 25 workflows need Harness support — ticket raised, tracked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02336" y="36667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Workarounds documented; not blocking payload parity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26864" y="3072384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2F4F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73168" y="31455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 Generation (Non-Harness Data)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827264" y="3163824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27264" y="316382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2025" y="34381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reports in public cloud — pulls from non-Harness APIs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72025" y="3666744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Harness on a Report Builder for custom API data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950208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F2F4F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Custom Chatbot Integration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56432" y="4041648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56432" y="40416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BUILD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02336" y="4315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onboarding needs custom IDP integration — designed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02336" y="45445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from Wave 2; now actively resourced in Wave 3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26864" y="3950208"/>
            <a:ext cx="4206240" cy="768096"/>
          </a:xfrm>
          <a:prstGeom prst="roundRect">
            <a:avLst>
              <a:gd name="adj" fmla="val 10714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Remaining 2 Workflows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827264" y="4041648"/>
            <a:ext cx="896112" cy="219456"/>
          </a:xfrm>
          <a:prstGeom prst="roundRect">
            <a:avLst>
              <a:gd name="adj" fmla="val 25000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827264" y="4041648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72025" y="43159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workflows pending build — scoped and sequenced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772025" y="454456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all 25 complete before Wave 3 close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Pod Self-Service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· Start · Stop — from the IDP portal, no kubectl, no ticket, no wait.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8229600" cy="18288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Service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IDP catalog · find your target service · open the catalog card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catalog shows all K8s-hosted services with live pod status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01568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50208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01568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Pod Action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01568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22" name="Text 20"/>
          <p:cNvSpPr/>
          <p:nvPr/>
        </p:nvSpPr>
        <p:spPr>
          <a:xfrm>
            <a:off x="3401568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Choose: Restart Service · Start Service · Stop Service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64992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actions available from the self-service panel — no kubectl required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1572768"/>
            <a:ext cx="2697480" cy="2852928"/>
          </a:xfrm>
          <a:prstGeom prst="roundRect">
            <a:avLst>
              <a:gd name="adj" fmla="val 4068"/>
            </a:avLst>
          </a:prstGeom>
          <a:solidFill>
            <a:srgbClr val="2D7D4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737360"/>
            <a:ext cx="438912" cy="438912"/>
          </a:xfrm>
          <a:prstGeom prst="ellipse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1737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803136" y="175564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254496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&amp; Monitor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254496" y="2615184"/>
            <a:ext cx="2377440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1" name="Text 29"/>
          <p:cNvSpPr/>
          <p:nvPr/>
        </p:nvSpPr>
        <p:spPr>
          <a:xfrm>
            <a:off x="6254496" y="26883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executes · rolling restart or lifecycle change visible in real 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310128"/>
            <a:ext cx="2450592" cy="877824"/>
          </a:xfrm>
          <a:prstGeom prst="roundRect">
            <a:avLst>
              <a:gd name="adj" fmla="val 6250"/>
            </a:avLst>
          </a:prstGeom>
          <a:solidFill>
            <a:srgbClr val="1B5E37"/>
          </a:solidFill>
          <a:ln w="6350">
            <a:solidFill>
              <a:srgbClr val="5BA87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364992"/>
            <a:ext cx="22677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live · email confirmation on completion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4048" y="4517136"/>
            <a:ext cx="8375904" cy="402336"/>
          </a:xfrm>
          <a:prstGeom prst="roundRect">
            <a:avLst>
              <a:gd name="adj" fmla="val 18182"/>
            </a:avLst>
          </a:prstGeom>
          <a:solidFill>
            <a:srgbClr val="0D3D1F"/>
          </a:solidFill>
          <a:ln w="9525">
            <a:solidFill>
              <a:srgbClr val="5BA87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453542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replaces:  </a:t>
            </a:r>
            <a:pPr indent="0" marL="0">
              <a:buNone/>
            </a:pPr>
            <a:r>
              <a:rPr lang="en-US" sz="10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exec  →  kubectl rollout restart  →  Slack the platform team  →  Wait for confirmation  →  </a:t>
            </a:r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one click in IDP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49560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Switching to live screen-share now...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· COMMUNICATION PLAN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0" y="82296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Platform · Platform Engineering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developer knows what's available, how to use it, and who to contact  |  IDP Platform · Platform Engineering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Communication Plan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320040" y="105156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communication ensures developers know what's live, how to use it, and where to get help — before they need it.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2F4F7"/>
          </a:solidFill>
          <a:ln w="19050">
            <a:solidFill>
              <a:srgbClr val="1C355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1C3557"/>
          </a:solidFill>
          <a:ln w="12700">
            <a:solidFill>
              <a:srgbClr val="1C3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 before go-live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" y="2084832"/>
            <a:ext cx="1883664" cy="1371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56616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Engineering Managers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56616" y="2633472"/>
            <a:ext cx="1883664" cy="13716"/>
          </a:xfrm>
          <a:prstGeom prst="rect">
            <a:avLst/>
          </a:prstGeom>
          <a:solidFill>
            <a:srgbClr val="1C3557"/>
          </a:solidFill>
          <a:ln/>
        </p:spPr>
      </p:sp>
      <p:sp>
        <p:nvSpPr>
          <p:cNvPr id="18" name="Text 16"/>
          <p:cNvSpPr/>
          <p:nvPr/>
        </p:nvSpPr>
        <p:spPr>
          <a:xfrm>
            <a:off x="356616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what's coming, what changes, what stays the same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preview shared with EMs for team cascades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56616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 live: new workflow, how to access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368296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41448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E8F5EE"/>
          </a:solidFill>
          <a:ln w="19050">
            <a:solidFill>
              <a:srgbClr val="1B5E37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51176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1B5E37"/>
          </a:solidFill>
          <a:ln w="12700">
            <a:solidFill>
              <a:srgbClr val="1B5E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51176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008376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569464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day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9464" y="2084832"/>
            <a:ext cx="1883664" cy="137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8" name="Text 26"/>
          <p:cNvSpPr/>
          <p:nvPr/>
        </p:nvSpPr>
        <p:spPr>
          <a:xfrm>
            <a:off x="2569464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569464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All Developers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9464" y="2633472"/>
            <a:ext cx="1883664" cy="13716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1" name="Text 29"/>
          <p:cNvSpPr/>
          <p:nvPr/>
        </p:nvSpPr>
        <p:spPr>
          <a:xfrm>
            <a:off x="2569464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Teams/Slack announcement: workflow is live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69464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portal banner: 'New: [Workflow Name] now available'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69464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how-to video or GIF attached to announcement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581144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54296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E8F5EE"/>
          </a:solidFill>
          <a:ln w="19050">
            <a:solidFill>
              <a:srgbClr val="5BA872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64024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2D7D4F"/>
          </a:solidFill>
          <a:ln w="12700">
            <a:solidFill>
              <a:srgbClr val="2D7D4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64024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21224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782312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2 weeks post-launch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82312" y="2084832"/>
            <a:ext cx="1883664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41" name="Text 39"/>
          <p:cNvSpPr/>
          <p:nvPr/>
        </p:nvSpPr>
        <p:spPr>
          <a:xfrm>
            <a:off x="4782312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82312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Active Users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82312" y="2633472"/>
            <a:ext cx="1883664" cy="13716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44" name="Text 42"/>
          <p:cNvSpPr/>
          <p:nvPr/>
        </p:nvSpPr>
        <p:spPr>
          <a:xfrm>
            <a:off x="4782312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#idp-support Slack channel monitored daily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782312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hours: 30-min drop-in session week 1 and week 2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782312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issues tracked and updated in Confluence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93992" y="2871216"/>
            <a:ext cx="182880" cy="201168"/>
          </a:xfrm>
          <a:prstGeom prst="rightArrow">
            <a:avLst/>
          </a:prstGeom>
          <a:solidFill>
            <a:srgbClr val="5BA872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67144" y="1426464"/>
            <a:ext cx="2103120" cy="3200400"/>
          </a:xfrm>
          <a:prstGeom prst="roundRect">
            <a:avLst>
              <a:gd name="adj" fmla="val 3913"/>
            </a:avLst>
          </a:prstGeom>
          <a:solidFill>
            <a:srgbClr val="FFFBEB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76872" y="1517904"/>
            <a:ext cx="384048" cy="310896"/>
          </a:xfrm>
          <a:prstGeom prst="roundRect">
            <a:avLst>
              <a:gd name="adj" fmla="val 1470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76872" y="151790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34072" y="153619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Close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95160" y="18470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weeks post-launch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95160" y="2084832"/>
            <a:ext cx="1883664" cy="1371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4" name="Text 52"/>
          <p:cNvSpPr/>
          <p:nvPr/>
        </p:nvSpPr>
        <p:spPr>
          <a:xfrm>
            <a:off x="6995160" y="212140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6995160" y="2286000"/>
            <a:ext cx="1883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 → Leadership + EMs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633472"/>
            <a:ext cx="1883664" cy="13716"/>
          </a:xfrm>
          <a:prstGeom prst="rect">
            <a:avLst/>
          </a:prstGeom>
          <a:solidFill>
            <a:srgbClr val="FCD34D"/>
          </a:solidFill>
          <a:ln/>
        </p:spPr>
      </p:sp>
      <p:sp>
        <p:nvSpPr>
          <p:cNvPr id="57" name="Text 55"/>
          <p:cNvSpPr/>
          <p:nvPr/>
        </p:nvSpPr>
        <p:spPr>
          <a:xfrm>
            <a:off x="6995160" y="2706624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metrics: workflows triggered, unique users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95160" y="3291840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reduction vs. pre-IDP baseline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995160" y="3877056"/>
            <a:ext cx="1901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5BA8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 → applied to next wave rollout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228600" y="4718304"/>
            <a:ext cx="8686800" cy="475488"/>
          </a:xfrm>
          <a:prstGeom prst="roundRect">
            <a:avLst>
              <a:gd name="adj" fmla="val 17308"/>
            </a:avLst>
          </a:prstGeom>
          <a:solidFill>
            <a:srgbClr val="E8F5EE"/>
          </a:solidFill>
          <a:ln w="12700">
            <a:solidFill>
              <a:srgbClr val="5BA8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47548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Channels:  </a:t>
            </a:r>
            <a:pPr indent="0" marL="0">
              <a:buNone/>
            </a:pPr>
            <a:r>
              <a:rPr lang="en-US" sz="1050" dirty="0">
                <a:solidFill>
                  <a:srgbClr val="5C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Slack (#idp-announcements · #idp-support)  ·  Email  ·  IDP Portal Banners  ·  Confluence  ·  Office Hours     </a:t>
            </a:r>
            <a:pPr indent="0" marL="0">
              <a:buNone/>
            </a:pPr>
            <a:r>
              <a:rPr lang="en-US" sz="105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Principle:  </a:t>
            </a:r>
            <a:pPr indent="0" marL="0">
              <a:buNone/>
            </a:pPr>
            <a:r>
              <a:rPr lang="en-US" sz="1050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hear what's live before they discover it by accident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3771" cy="6172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51476"/>
            <a:ext cx="9143771" cy="192024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951476"/>
            <a:ext cx="5486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8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Platform  |  Catalog Communication Plan</a:t>
            </a:r>
            <a:endParaRPr lang="en-US" sz="638" dirty="0"/>
          </a:p>
        </p:txBody>
      </p:sp>
      <p:sp>
        <p:nvSpPr>
          <p:cNvPr id="5" name="Text 3"/>
          <p:cNvSpPr/>
          <p:nvPr/>
        </p:nvSpPr>
        <p:spPr>
          <a:xfrm>
            <a:off x="342900" y="164592"/>
            <a:ext cx="5897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75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Communication Plan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342900" y="493776"/>
            <a:ext cx="84353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b="1" i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Principle: </a:t>
            </a:r>
            <a:pPr indent="0" marL="0">
              <a:buNone/>
            </a:pPr>
            <a:r>
              <a:rPr lang="en-US" sz="938" i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“Ease of Use Is the North Star” — one Point of Contact, plain language, right-sized outreach per tier.</a:t>
            </a:r>
            <a:endParaRPr lang="en-US" sz="938" dirty="0"/>
          </a:p>
        </p:txBody>
      </p:sp>
      <p:sp>
        <p:nvSpPr>
          <p:cNvPr id="7" name="Shape 5"/>
          <p:cNvSpPr/>
          <p:nvPr/>
        </p:nvSpPr>
        <p:spPr>
          <a:xfrm>
            <a:off x="342900" y="836676"/>
            <a:ext cx="2640330" cy="24688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" y="836676"/>
            <a:ext cx="2475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Tiers</a:t>
            </a:r>
            <a:endParaRPr lang="en-US" sz="938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2900" y="1083564"/>
          <a:ext cx="2640330" cy="1337310"/>
        </p:xfrm>
        <a:graphic>
          <a:graphicData uri="http://schemas.openxmlformats.org/drawingml/2006/table">
            <a:tbl>
              <a:tblPr/>
              <a:tblGrid>
                <a:gridCol w="788670"/>
                <a:gridCol w="514350"/>
                <a:gridCol w="1337310"/>
              </a:tblGrid>
              <a:tr h="334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SysIDs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334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— High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Importance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White-glove: 1:1 + brown bag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4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— High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~150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 brown bag + email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34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—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12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12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Self-service video + email</a:t>
                      </a:r>
                      <a:endParaRPr lang="en-US" sz="712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42900" y="2496312"/>
            <a:ext cx="2640330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counts illustrative — confirm vs. governed SysID tiering model.</a:t>
            </a:r>
            <a:endParaRPr lang="en-US" sz="675" dirty="0"/>
          </a:p>
        </p:txBody>
      </p:sp>
      <p:sp>
        <p:nvSpPr>
          <p:cNvPr id="11" name="Shape 8"/>
          <p:cNvSpPr/>
          <p:nvPr/>
        </p:nvSpPr>
        <p:spPr>
          <a:xfrm>
            <a:off x="342900" y="2928366"/>
            <a:ext cx="2640330" cy="582930"/>
          </a:xfrm>
          <a:prstGeom prst="roundRect">
            <a:avLst>
              <a:gd name="adj" fmla="val 5882"/>
            </a:avLst>
          </a:prstGeom>
          <a:solidFill>
            <a:srgbClr val="E8F5EE"/>
          </a:solidFill>
          <a:ln w="7144">
            <a:solidFill>
              <a:srgbClr val="2D7D4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5196" y="2928366"/>
            <a:ext cx="2475738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SysIDs total </a:t>
            </a:r>
            <a:pPr indent="0" marL="0">
              <a:buNone/>
            </a:pPr>
            <a:r>
              <a:rPr lang="en-US" sz="712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intensity of outreach scales with business importance, not a one-size broadcast.</a:t>
            </a:r>
            <a:endParaRPr lang="en-US" sz="825" dirty="0"/>
          </a:p>
        </p:txBody>
      </p:sp>
      <p:sp>
        <p:nvSpPr>
          <p:cNvPr id="13" name="Shape 10"/>
          <p:cNvSpPr/>
          <p:nvPr/>
        </p:nvSpPr>
        <p:spPr>
          <a:xfrm>
            <a:off x="3257550" y="836676"/>
            <a:ext cx="2640330" cy="24688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14" name="Text 11"/>
          <p:cNvSpPr/>
          <p:nvPr/>
        </p:nvSpPr>
        <p:spPr>
          <a:xfrm>
            <a:off x="3339846" y="836676"/>
            <a:ext cx="2475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&amp; Cadence</a:t>
            </a:r>
            <a:endParaRPr lang="en-US" sz="938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57550" y="1083564"/>
          <a:ext cx="2640330" cy="1611630"/>
        </p:xfrm>
        <a:graphic>
          <a:graphicData uri="http://schemas.openxmlformats.org/drawingml/2006/table">
            <a:tbl>
              <a:tblPr/>
              <a:tblGrid>
                <a:gridCol w="1268730"/>
                <a:gridCol w="1371600"/>
              </a:tblGrid>
              <a:tr h="322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Cadence</a:t>
                      </a:r>
                      <a:endParaRPr lang="en-US" sz="78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7D4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(On-Demand)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rollout, refreshed quarterly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Bag Sessions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 → monthly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Announcements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(T1) → monthly (T3)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2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b="1" dirty="0">
                          <a:solidFill>
                            <a:srgbClr val="1B5E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of Contact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8" dirty="0">
                          <a:solidFill>
                            <a:srgbClr val="1C2B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/ as-needed</a:t>
                      </a:r>
                      <a:endParaRPr lang="en-US" sz="728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8580" marR="68580" marT="45720" marB="45720" anchor="ctr">
                    <a:lnL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E4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3257550" y="2791206"/>
            <a:ext cx="2640330" cy="720090"/>
          </a:xfrm>
          <a:prstGeom prst="roundRect">
            <a:avLst>
              <a:gd name="adj" fmla="val 5714"/>
            </a:avLst>
          </a:prstGeom>
          <a:solidFill>
            <a:srgbClr val="1B5E37"/>
          </a:solidFill>
          <a:ln/>
        </p:spPr>
      </p:sp>
      <p:sp>
        <p:nvSpPr>
          <p:cNvPr id="17" name="Shape 13"/>
          <p:cNvSpPr/>
          <p:nvPr/>
        </p:nvSpPr>
        <p:spPr>
          <a:xfrm>
            <a:off x="3360420" y="2880360"/>
            <a:ext cx="534924" cy="53492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4"/>
          <p:cNvSpPr/>
          <p:nvPr/>
        </p:nvSpPr>
        <p:spPr>
          <a:xfrm>
            <a:off x="3360420" y="2880360"/>
            <a:ext cx="534924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</a:t>
            </a:r>
            <a:endParaRPr lang="en-US" sz="825" dirty="0"/>
          </a:p>
        </p:txBody>
      </p:sp>
      <p:sp>
        <p:nvSpPr>
          <p:cNvPr id="19" name="Text 15"/>
          <p:cNvSpPr/>
          <p:nvPr/>
        </p:nvSpPr>
        <p:spPr>
          <a:xfrm>
            <a:off x="3977640" y="2825496"/>
            <a:ext cx="18173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8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accountable owner — no conflicting guidance, clear escalation, feedback to roadmap.</a:t>
            </a:r>
            <a:endParaRPr lang="en-US" sz="728" dirty="0"/>
          </a:p>
        </p:txBody>
      </p:sp>
      <p:sp>
        <p:nvSpPr>
          <p:cNvPr id="20" name="Shape 16"/>
          <p:cNvSpPr/>
          <p:nvPr/>
        </p:nvSpPr>
        <p:spPr>
          <a:xfrm>
            <a:off x="6172200" y="836676"/>
            <a:ext cx="2640330" cy="246888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1" name="Text 17"/>
          <p:cNvSpPr/>
          <p:nvPr/>
        </p:nvSpPr>
        <p:spPr>
          <a:xfrm>
            <a:off x="6254496" y="836676"/>
            <a:ext cx="2475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Timeline</a:t>
            </a:r>
            <a:endParaRPr lang="en-US" sz="938" dirty="0"/>
          </a:p>
        </p:txBody>
      </p:sp>
      <p:sp>
        <p:nvSpPr>
          <p:cNvPr id="22" name="Shape 18"/>
          <p:cNvSpPr/>
          <p:nvPr/>
        </p:nvSpPr>
        <p:spPr>
          <a:xfrm>
            <a:off x="6172200" y="1083564"/>
            <a:ext cx="2640330" cy="7200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906">
            <a:solidFill>
              <a:srgbClr val="1B5E3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72200" y="1083564"/>
            <a:ext cx="2640330" cy="23317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24" name="Text 20"/>
          <p:cNvSpPr/>
          <p:nvPr/>
        </p:nvSpPr>
        <p:spPr>
          <a:xfrm>
            <a:off x="6240780" y="1083564"/>
            <a:ext cx="250317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•  Wks 1–2  •  Tier 1</a:t>
            </a:r>
            <a:endParaRPr lang="en-US" sz="728" dirty="0"/>
          </a:p>
        </p:txBody>
      </p:sp>
      <p:sp>
        <p:nvSpPr>
          <p:cNvPr id="25" name="Text 21"/>
          <p:cNvSpPr/>
          <p:nvPr/>
        </p:nvSpPr>
        <p:spPr>
          <a:xfrm>
            <a:off x="6254496" y="1344168"/>
            <a:ext cx="247573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2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briefings + kickoff video + brown bag</a:t>
            </a:r>
            <a:endParaRPr lang="en-US" sz="712" dirty="0"/>
          </a:p>
        </p:txBody>
      </p:sp>
      <p:sp>
        <p:nvSpPr>
          <p:cNvPr id="26" name="Shape 22"/>
          <p:cNvSpPr/>
          <p:nvPr/>
        </p:nvSpPr>
        <p:spPr>
          <a:xfrm>
            <a:off x="6172200" y="1858518"/>
            <a:ext cx="2640330" cy="7200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906">
            <a:solidFill>
              <a:srgbClr val="2D7D4F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72200" y="1858518"/>
            <a:ext cx="2640330" cy="233172"/>
          </a:xfrm>
          <a:prstGeom prst="rect">
            <a:avLst/>
          </a:prstGeom>
          <a:solidFill>
            <a:srgbClr val="2D7D4F"/>
          </a:solidFill>
          <a:ln/>
        </p:spPr>
      </p:sp>
      <p:sp>
        <p:nvSpPr>
          <p:cNvPr id="28" name="Text 24"/>
          <p:cNvSpPr/>
          <p:nvPr/>
        </p:nvSpPr>
        <p:spPr>
          <a:xfrm>
            <a:off x="6240780" y="1858518"/>
            <a:ext cx="250317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•  Wks 3–5  •  Tier 2</a:t>
            </a:r>
            <a:endParaRPr lang="en-US" sz="728" dirty="0"/>
          </a:p>
        </p:txBody>
      </p:sp>
      <p:sp>
        <p:nvSpPr>
          <p:cNvPr id="29" name="Text 25"/>
          <p:cNvSpPr/>
          <p:nvPr/>
        </p:nvSpPr>
        <p:spPr>
          <a:xfrm>
            <a:off x="6254496" y="2119122"/>
            <a:ext cx="247573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2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Brown bag sessions + targeted email</a:t>
            </a:r>
            <a:endParaRPr lang="en-US" sz="712" dirty="0"/>
          </a:p>
        </p:txBody>
      </p:sp>
      <p:sp>
        <p:nvSpPr>
          <p:cNvPr id="30" name="Shape 26"/>
          <p:cNvSpPr/>
          <p:nvPr/>
        </p:nvSpPr>
        <p:spPr>
          <a:xfrm>
            <a:off x="6172200" y="2633472"/>
            <a:ext cx="2640330" cy="72009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1906">
            <a:solidFill>
              <a:srgbClr val="5BA87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72200" y="2633472"/>
            <a:ext cx="2640330" cy="233172"/>
          </a:xfrm>
          <a:prstGeom prst="rect">
            <a:avLst/>
          </a:prstGeom>
          <a:solidFill>
            <a:srgbClr val="5BA872"/>
          </a:solidFill>
          <a:ln/>
        </p:spPr>
      </p:sp>
      <p:sp>
        <p:nvSpPr>
          <p:cNvPr id="32" name="Text 28"/>
          <p:cNvSpPr/>
          <p:nvPr/>
        </p:nvSpPr>
        <p:spPr>
          <a:xfrm>
            <a:off x="6240780" y="2633472"/>
            <a:ext cx="250317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•  Wks 6–9  •  Tier 3</a:t>
            </a:r>
            <a:endParaRPr lang="en-US" sz="728" dirty="0"/>
          </a:p>
        </p:txBody>
      </p:sp>
      <p:sp>
        <p:nvSpPr>
          <p:cNvPr id="33" name="Text 29"/>
          <p:cNvSpPr/>
          <p:nvPr/>
        </p:nvSpPr>
        <p:spPr>
          <a:xfrm>
            <a:off x="6254496" y="2894076"/>
            <a:ext cx="247573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12" dirty="0">
                <a:solidFill>
                  <a:srgbClr val="1C2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email + self-service video</a:t>
            </a:r>
            <a:endParaRPr lang="en-US" sz="712" dirty="0"/>
          </a:p>
        </p:txBody>
      </p:sp>
      <p:sp>
        <p:nvSpPr>
          <p:cNvPr id="34" name="Text 30"/>
          <p:cNvSpPr/>
          <p:nvPr/>
        </p:nvSpPr>
        <p:spPr>
          <a:xfrm>
            <a:off x="6172200" y="3442716"/>
            <a:ext cx="264033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i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Ongoing: monthly brown bag • quarterly video refresh • POC always available</a:t>
            </a:r>
            <a:endParaRPr lang="en-US" sz="675" dirty="0"/>
          </a:p>
        </p:txBody>
      </p:sp>
      <p:sp>
        <p:nvSpPr>
          <p:cNvPr id="35" name="Shape 31"/>
          <p:cNvSpPr/>
          <p:nvPr/>
        </p:nvSpPr>
        <p:spPr>
          <a:xfrm>
            <a:off x="342900" y="4217670"/>
            <a:ext cx="8435340" cy="582930"/>
          </a:xfrm>
          <a:prstGeom prst="roundRect">
            <a:avLst>
              <a:gd name="adj" fmla="val 8235"/>
            </a:avLst>
          </a:prstGeom>
          <a:solidFill>
            <a:srgbClr val="1B5E37"/>
          </a:solidFill>
          <a:ln/>
        </p:spPr>
      </p:sp>
      <p:sp>
        <p:nvSpPr>
          <p:cNvPr id="36" name="Text 32"/>
          <p:cNvSpPr/>
          <p:nvPr/>
        </p:nvSpPr>
        <p:spPr>
          <a:xfrm>
            <a:off x="548640" y="4217670"/>
            <a:ext cx="8023860" cy="5829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This to Completion:  </a:t>
            </a:r>
            <a:pPr indent="0" marL="0">
              <a:buNone/>
            </a:pPr>
            <a:r>
              <a:rPr lang="en-US" sz="938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rollout schedule is locked, Point of Contact is staffed, and the brown bag calendar is set — Phase 1 (Tier 1) begins as planned.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3" name="Text 1"/>
          <p:cNvSpPr/>
          <p:nvPr/>
        </p:nvSpPr>
        <p:spPr>
          <a:xfrm>
            <a:off x="292608" y="822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 · SERVICE MAPPING &amp; CATALOG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82296"/>
            <a:ext cx="5193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now.yaml · catalog-info.yaml · Master Branch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1B5E3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 · Two Files · Two Value Streams  |  IDP Platform · Platform Engineering</a:t>
            </a:r>
            <a:endParaRPr lang="en-US" sz="8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913209"/>
            <a:ext cx="8961120" cy="34771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2026-07-30T03:06:18Z</dcterms:created>
  <dcterms:modified xsi:type="dcterms:W3CDTF">2026-07-30T03:06:18Z</dcterms:modified>
</cp:coreProperties>
</file>