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468880"/>
            <a:ext cx="82296" cy="1645920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3172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Plan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3794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Consistent, Easy-to-Follow Adoption Across ~500 SysIDs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—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8735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principle, applied at three levels of intensity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1B5E3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“Ease of Use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North Star”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Point of Contact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no platform jargon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outreach per tier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417320"/>
          <a:ext cx="6812280" cy="2651760"/>
        </p:xfrm>
        <a:graphic>
          <a:graphicData uri="http://schemas.openxmlformats.org/drawingml/2006/table">
            <a:tbl>
              <a:tblPr/>
              <a:tblGrid>
                <a:gridCol w="2331720"/>
                <a:gridCol w="1463040"/>
                <a:gridCol w="3017520"/>
              </a:tblGrid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SysIDs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Importance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White-glove: 1:1 + dedicated brown bag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brown bag +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video + broadcast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892040" y="4251960"/>
            <a:ext cx="6812280" cy="1371600"/>
          </a:xfrm>
          <a:prstGeom prst="roundRect">
            <a:avLst>
              <a:gd name="adj" fmla="val 4000"/>
            </a:avLst>
          </a:prstGeom>
          <a:solidFill>
            <a:srgbClr val="E8F5EE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4434840"/>
            <a:ext cx="6355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counts are illustrative for planning — confirm against the governed SysID tiering model before external publication.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8735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Communicate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channels, one Point of Contact coordinating all of them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766560" cy="301752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(On-Demand)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at rollout, refreshed quarterly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Bag Sessions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Bi-weekly during rollout, monthly 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Announcements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1: weekly — Tier 2/3: bi-weekly / monthly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Contact (1:1)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/ as-needed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1417320"/>
            <a:ext cx="4160520" cy="3017520"/>
          </a:xfrm>
          <a:prstGeom prst="roundRect">
            <a:avLst>
              <a:gd name="adj" fmla="val 2424"/>
            </a:avLst>
          </a:prstGeom>
          <a:solidFill>
            <a:srgbClr val="1B5E37"/>
          </a:solidFill>
          <a:ln/>
        </p:spPr>
      </p:sp>
      <p:sp>
        <p:nvSpPr>
          <p:cNvPr id="10" name="Shape 7"/>
          <p:cNvSpPr/>
          <p:nvPr/>
        </p:nvSpPr>
        <p:spPr>
          <a:xfrm>
            <a:off x="9006840" y="1691640"/>
            <a:ext cx="123444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9006840" y="16916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0" y="27432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 for every channel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0" y="320040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conflicting guidance. Clear escalation path. Feedback routes straight back to the platform roadmap.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4617720"/>
            <a:ext cx="11247120" cy="960120"/>
          </a:xfrm>
          <a:prstGeom prst="roundRect">
            <a:avLst>
              <a:gd name="adj" fmla="val 5714"/>
            </a:avLst>
          </a:prstGeom>
          <a:solidFill>
            <a:srgbClr val="E8F5EE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4617720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 in practice: self-service video answers most questions before a ticket is ever filed — the POC handles what's left.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65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68735" y="6565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Timeline &amp; Next Steps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by tier — highest-value SysIDs communicated to first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1B5E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1B5E3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65960"/>
            <a:ext cx="338328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1810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 • Tier 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briefings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video + brown bag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58768" y="2468880"/>
            <a:ext cx="292608" cy="274320"/>
          </a:xfrm>
          <a:prstGeom prst="rightArrow">
            <a:avLst/>
          </a:prstGeom>
          <a:solidFill>
            <a:srgbClr val="1C35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160520" y="14173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2D7D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14173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2D7D4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60520" y="1965960"/>
            <a:ext cx="3383280" cy="274320"/>
          </a:xfrm>
          <a:prstGeom prst="rect">
            <a:avLst/>
          </a:prstGeom>
          <a:solidFill>
            <a:srgbClr val="2D7D4F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1810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3–5 • Tier 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0" y="23774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bag sessions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email + video launch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2088" y="2468880"/>
            <a:ext cx="292608" cy="274320"/>
          </a:xfrm>
          <a:prstGeom prst="rightArrow">
            <a:avLst/>
          </a:prstGeom>
          <a:solidFill>
            <a:srgbClr val="1C3557"/>
          </a:solidFill>
          <a:ln/>
        </p:spPr>
      </p:sp>
      <p:sp>
        <p:nvSpPr>
          <p:cNvPr id="22" name="Shape 20"/>
          <p:cNvSpPr/>
          <p:nvPr/>
        </p:nvSpPr>
        <p:spPr>
          <a:xfrm>
            <a:off x="7863840" y="14173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141732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5BA872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1965960"/>
            <a:ext cx="3383280" cy="274320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46720" y="18105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6–9 • Tier 3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92440" y="23774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email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video + office hours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E8F5EE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319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(all tiers): monthly brown bag  •  quarterly video refresh  •  Point of Contact available continuously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1B5E37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983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Ask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" y="5376672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tiered rollout schedule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Point of Contact staffing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brown bag calendar so Phase 1 (Tier 1) can begin as planned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2026-07-16T15:26:59Z</dcterms:created>
  <dcterms:modified xsi:type="dcterms:W3CDTF">2026-07-16T15:26:59Z</dcterms:modified>
</cp:coreProperties>
</file>