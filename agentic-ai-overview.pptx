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AGENTIC AI  ·  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47472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Agentic AI: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From LLM Calls to Autonomous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D5B5"/>
                </a:solidFill>
              </a:rPr>
              <a:t>Understand agents, retrieval, multi-agent systems, frameworks, safety, and observability.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29968"/>
            <a:ext cx="841248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121408"/>
            <a:ext cx="2679192" cy="896112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24963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BA872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15184"/>
            <a:ext cx="24963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CORE 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98063"/>
            <a:ext cx="24963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Perceive · Reason · Act · Remember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2121408"/>
            <a:ext cx="2679192" cy="896112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9272" y="2139696"/>
            <a:ext cx="24963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BA872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615184"/>
            <a:ext cx="24963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RETRIEVAL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9272" y="2798063"/>
            <a:ext cx="24963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RAG · Graph RAG · Agentic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2121408"/>
            <a:ext cx="2679192" cy="896112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139696"/>
            <a:ext cx="24963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BA872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2615184"/>
            <a:ext cx="24963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MAJOR FRAMEWORKS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2798063"/>
            <a:ext cx="24963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LangChain · LangGraph · ADK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27248"/>
            <a:ext cx="841248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200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TOPICS COVERED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01568"/>
            <a:ext cx="2679192" cy="160020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3465576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BA872"/>
                </a:solidFill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941064"/>
            <a:ext cx="2459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AGENT FUNDAMENTALS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4178808"/>
            <a:ext cx="2459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What is an agent?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The ReAct loop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Memory &amp; 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3401568"/>
            <a:ext cx="2679192" cy="160020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560" y="3465576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BA872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3941064"/>
            <a:ext cx="2459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SYSTEMS &amp; RETRIEVAL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4178808"/>
            <a:ext cx="2459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Multi-agent patterns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RAG · Graph RAG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Agentic RAG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3401568"/>
            <a:ext cx="2679192" cy="160020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3465576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BA872"/>
                </a:solidFill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3941064"/>
            <a:ext cx="2459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4178808"/>
            <a:ext cx="2459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Frameworks compared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Safety &amp; guardrails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A8D5B5"/>
                </a:solidFill>
              </a:rPr>
              <a:t>Eval &amp; observability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AGENT FUNDAMENTALS  ·  THE CORE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Plain LLM Call vs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2560320" cy="388620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78992"/>
            <a:ext cx="2340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Plain LLM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81328"/>
            <a:ext cx="2340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5B5"/>
                </a:solidFill>
              </a:rPr>
              <a:t>Send a prompt. Get a response.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874519"/>
            <a:ext cx="219456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938528"/>
            <a:ext cx="23408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  Stateless — no memory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  One-shot — no loop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  Cannot call tools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  Cannot retry or adapt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  Generates text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987552"/>
            <a:ext cx="2926080" cy="804672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54680" y="987552"/>
            <a:ext cx="54864" cy="8046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82696" y="10789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37"/>
                </a:solidFill>
              </a:rPr>
              <a:t>PERCEIVE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2696" y="13716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Receives input — query,
tool result, system event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828800"/>
            <a:ext cx="2926080" cy="804672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828800"/>
            <a:ext cx="54864" cy="8046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82696" y="19202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37"/>
                </a:solidFill>
              </a:rPr>
              <a:t>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82696" y="221284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LLM decides what to do:
which tool, which answer, stop?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2670048"/>
            <a:ext cx="2926080" cy="804672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4680" y="2670048"/>
            <a:ext cx="54864" cy="8046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82696" y="2761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37"/>
                </a:solidFill>
              </a:rPr>
              <a:t>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82696" y="30540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Calls tools — API, DB,
retrieval, escalate to human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4680" y="3511296"/>
            <a:ext cx="2926080" cy="804672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54680" y="3511296"/>
            <a:ext cx="54864" cy="8046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82696" y="36027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37"/>
                </a:solidFill>
              </a:rPr>
              <a:t>REMEMBER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82696" y="389534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Retains context across
steps and conversation turns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608576"/>
            <a:ext cx="8412480" cy="310896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608576"/>
            <a:ext cx="54864" cy="310896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462686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D5B5"/>
                </a:solidFill>
              </a:rPr>
              <a:t>Agent = "A system that perceives, reasons, acts, and remembers — in a loop."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THE AGENT LOOP  ·  REACT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Thought → Action → Observation — Repeat Until Done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920240" cy="146304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42415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04241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THOUGHT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73736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26464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LLM writes its reasoning
about what to do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554480"/>
            <a:ext cx="18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BA872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4016" y="987552"/>
            <a:ext cx="1920240" cy="146304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05456" y="1042415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04241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05456" y="1371600"/>
            <a:ext cx="173736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5456" y="1426464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LLM picks a tool and
provides arguments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1554480"/>
            <a:ext cx="18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BA872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987552"/>
            <a:ext cx="1920240" cy="146304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53712" y="1042415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104241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OBSERVATION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1371600"/>
            <a:ext cx="173736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426464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Tool executes. Result
fed back into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554480"/>
            <a:ext cx="18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BA872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987552"/>
            <a:ext cx="1920240" cy="1463040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01968" y="1042415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104241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FINAL ANSWER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1968" y="1371600"/>
            <a:ext cx="173736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1426464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No tool_calls in response.
Loop exits cleanly.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5237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8D5B5"/>
                </a:solidFill>
              </a:rPr>
              <a:t>↺  Loop repeats until the LLM produces a response with no tool calls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871216"/>
            <a:ext cx="8412480" cy="2011680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2871216"/>
            <a:ext cx="54864" cy="2011680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37"/>
                </a:solidFill>
              </a:rPr>
              <a:t>Concrete Example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3255264"/>
            <a:ext cx="8138160" cy="182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3310128"/>
            <a:ext cx="81930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B5E37"/>
                </a:solidFill>
              </a:rPr>
              <a:t>User: "What is the weather in Tokyo and convert to Celsius?"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B5E37"/>
                </a:solidFill>
              </a:rPr>
              <a:t/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B5E37"/>
                </a:solidFill>
              </a:rPr>
              <a:t>THOUGHT      I need the Tokyo weather first.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B5E37"/>
                </a:solidFill>
              </a:rPr>
              <a:t>ACTION       get_weather(city='Tokyo')   →   OBSERVATION: 80°F, sunny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B5E37"/>
                </a:solidFill>
              </a:rPr>
              <a:t>THOUGHT      Now convert 80°F to Celsius.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B5E37"/>
                </a:solidFill>
              </a:rPr>
              <a:t>ACTION       calculate('(80-32)*5/9')   →   OBSERVATION: 26.67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B5E37"/>
                </a:solidFill>
              </a:rPr>
              <a:t>FINAL        The weather in Tokyo is 26.67°C, sunny.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MEMORY &amp; STATE  ·  FOUR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How Agents Remember — Across Steps and Sessions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956816" cy="3566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1956816" cy="420624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A872"/>
                </a:solidFill>
              </a:rPr>
              <a:t>In-Context
(Short-Term)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17739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Current conversation in the
context window. Ephemeral.
Clears each session.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99232"/>
            <a:ext cx="177393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Limited by model context
window (e.g. 200K tokens)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0592" y="987552"/>
            <a:ext cx="1956816" cy="3566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50592" y="987552"/>
            <a:ext cx="1956816" cy="420624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005840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A872"/>
                </a:solidFill>
              </a:rPr>
              <a:t>External
(Long-Term)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1481328"/>
            <a:ext cx="17739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Vector DB, relational DB,
key-value store. Persists
across all sessions.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2032" y="2926080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2032" y="2999232"/>
            <a:ext cx="177393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Retrieved via RAG or
lookup tool at query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424" y="987552"/>
            <a:ext cx="1956816" cy="3566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987552"/>
            <a:ext cx="1956816" cy="420624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6864" y="1005840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A872"/>
                </a:solidFill>
              </a:rPr>
              <a:t>Episodic
(Session)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481328"/>
            <a:ext cx="17739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This conversation, persisted
by thread_id. Resumable
after interruption.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26864" y="2926080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2999232"/>
            <a:ext cx="177393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LangGraph: MemorySaver
ADK: SessionService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0256" y="987552"/>
            <a:ext cx="1956816" cy="3566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20256" y="987552"/>
            <a:ext cx="1956816" cy="420624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005840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A872"/>
                </a:solidFill>
              </a:rPr>
              <a:t>Semantic
(Knowledge 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1481328"/>
            <a:ext cx="17739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Shared domain knowledge
for all users. HR policies,
docs, compliance rules.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2926080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2999232"/>
            <a:ext cx="1773936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Retrieved via RAG.
Ground truth for answers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26864"/>
            <a:ext cx="8412480" cy="310896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626864"/>
            <a:ext cx="54864" cy="310896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6451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8D5B5"/>
                </a:solidFill>
              </a:rPr>
              <a:t>Best practice: use ALL FOUR — in-context for coherence · episodic for continuity · semantic for accuracy · external for user data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MULTI-AGENT SYSTEMS  ·  SUPERVISOR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Fan-Out to Specialists — Fan-In to One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987552"/>
            <a:ext cx="2743200" cy="694944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0" y="987552"/>
            <a:ext cx="54864" cy="69494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10128" y="10241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A872"/>
                </a:solidFill>
              </a:rPr>
              <a:t>SUPERVISOR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31673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Classify intent  ·  Route  ·  Aggregate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173736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173736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73736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21408"/>
            <a:ext cx="1828800" cy="1280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21408"/>
            <a:ext cx="182880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3969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BA872"/>
                </a:solidFill>
              </a:rPr>
              <a:t>HR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D5B5"/>
                </a:solidFill>
              </a:rPr>
              <a:t>PTO · Leave
Parental 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2303" y="2121408"/>
            <a:ext cx="1828800" cy="1280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32303" y="2121408"/>
            <a:ext cx="182880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23744" y="213969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BA872"/>
                </a:solidFill>
              </a:rPr>
              <a:t>BENEFITS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2523744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D5B5"/>
                </a:solidFill>
              </a:rPr>
              <a:t>Health · Dental
401k · FSA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98848" y="2121408"/>
            <a:ext cx="1828800" cy="1280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98848" y="2121408"/>
            <a:ext cx="182880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213969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BA872"/>
                </a:solidFill>
              </a:rPr>
              <a:t>PAYROLL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2523744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D5B5"/>
                </a:solidFill>
              </a:rPr>
              <a:t>Salary · Pay dates
Deductions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2121408"/>
            <a:ext cx="1828800" cy="128016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65392" y="2121408"/>
            <a:ext cx="182880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1" y="213969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BA872"/>
                </a:solidFill>
              </a:rPr>
              <a:t>IT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1" y="2523744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D5B5"/>
                </a:solidFill>
              </a:rPr>
              <a:t>VPN · Access
Hardware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7472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All specialist agents run SIMULTANEOUSLY via Send() — results accumulate in parallel via reducer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" y="37490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35808" y="37490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37490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37490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BA872"/>
                </a:solidFill>
              </a:rPr>
              <a:t>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4133087"/>
            <a:ext cx="2743200" cy="56692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0" y="4133087"/>
            <a:ext cx="54864" cy="56692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10128" y="416966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A872"/>
                </a:solidFill>
              </a:rPr>
              <a:t>AGGREGATOR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0128" y="442569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Merge  ·  Cite sources  ·  Deliver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" y="4754880"/>
            <a:ext cx="4572000" cy="25603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6000" y="4773168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Unified answer with citations from all domains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RETRIEVAL PATTERNS  ·  RAG · GRAPH RAG · AGENTIC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Ground Every Answer — Pick the Right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2560320" cy="3749039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2560320" cy="3474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3774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Standard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08176"/>
            <a:ext cx="23774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BA872"/>
                </a:solidFill>
              </a:rPr>
              <a:t>Query → Vector search
→ Top-K chunks → Generate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1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57984"/>
            <a:ext cx="237743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Single retrieval per query
  ·  Flat document chunks
  ·  Fast, low cost
  ·  Weak on multi-hop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39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80390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Use when: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2377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Simple Q&amp;A on flat docs
(FAQs, runbooks, policies)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987552"/>
            <a:ext cx="2560320" cy="3749039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08960" y="987552"/>
            <a:ext cx="2560320" cy="3474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1005840"/>
            <a:ext cx="23774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Graph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1408176"/>
            <a:ext cx="23774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BA872"/>
                </a:solidFill>
              </a:rPr>
              <a:t>Query → Entity match
→ Graph traversal → Generate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2084831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2157984"/>
            <a:ext cx="237743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Entities + relationships
  ·  Multi-hop traversal
  ·  Community summaries
  ·  Higher build cost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749039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0390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Use when: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023360"/>
            <a:ext cx="2377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Relationship queries
across connected domains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987552"/>
            <a:ext cx="2560320" cy="3749039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2160" y="987552"/>
            <a:ext cx="2560320" cy="347472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1005840"/>
            <a:ext cx="23774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Agentic 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1408176"/>
            <a:ext cx="23774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BA872"/>
                </a:solidFill>
              </a:rPr>
              <a:t>Query → Agent decides
→ Retrieve N times → Generate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2084831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2157984"/>
            <a:ext cx="237743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Retrieval is a tool in loop
  ·  Agent retries if result bad
  ·  Combines web + KB + DB
  ·  Highest latency &amp; cost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3749039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380390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Use when: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023360"/>
            <a:ext cx="2377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Complex multi-step queries
that require iteration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FRAMEWORK LANDSCAPE  ·  LANGCHAIN · LANGGRAPH · GOOGLE ADK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Choose Based on Your Cloud and Control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2560320" cy="3749039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256032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BA872"/>
                </a:solidFill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35024"/>
            <a:ext cx="2560320" cy="219456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2377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Component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3774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Raw materials: LLMs, prompts,
tools, retrievers, output parsers.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12848"/>
            <a:ext cx="2377439" cy="182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2377439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  ·  Uniform LLM interface — swap providers
  ·  LCEL pipe: prompt | llm | parser
  ·  Rich retriever ecosystem (Bedrock KB, Pinecone)
  ·  No agent loop — chains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77056"/>
            <a:ext cx="2377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5E37"/>
                </a:solidFill>
              </a:rPr>
              <a:t>Best for: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78224"/>
            <a:ext cx="23774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RAG pipelines, prompt
engineering, LLM chains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987552"/>
            <a:ext cx="2560320" cy="3749039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08960" y="987552"/>
            <a:ext cx="256032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10058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BA872"/>
                </a:solidFill>
              </a:rPr>
              <a:t>LangGraph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335024"/>
            <a:ext cx="2560320" cy="219456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1353312"/>
            <a:ext cx="2377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Graph Orchestration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627632"/>
            <a:ext cx="23774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Explicit state machine: nodes,
edges, reducers, checkpointing.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2212848"/>
            <a:ext cx="2377439" cy="182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2286000"/>
            <a:ext cx="2377439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  ·  Visible, testable agent loop
  ·  Send() for parallel dispatch
  ·  Checkpointing + human-in-the-loop
  ·  Time travel debugging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3822191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3877056"/>
            <a:ext cx="2377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5E37"/>
                </a:solidFill>
              </a:rPr>
              <a:t>Best for: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78224"/>
            <a:ext cx="23774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Enterprise agents on
AWS / Azure / multi-cloud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987552"/>
            <a:ext cx="2560320" cy="3749039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2160" y="987552"/>
            <a:ext cx="2560320" cy="347472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0058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BA872"/>
                </a:solidFill>
              </a:rPr>
              <a:t>Google ADK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1335024"/>
            <a:ext cx="2560320" cy="219456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1353312"/>
            <a:ext cx="2377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Agent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1627632"/>
            <a:ext cx="23774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Opinionated kit: built-in agent
types, session mgmt, eval CLI.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2212848"/>
            <a:ext cx="2377439" cy="182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286000"/>
            <a:ext cx="2377439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  ·  LlmAgent, ParallelAgent, SequentialAgent
  ·  Built-in adk eval harness
  ·  A2A + MCP protocol support
  ·  Native Vertex AI deployment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822191"/>
            <a:ext cx="2377439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877056"/>
            <a:ext cx="2377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5E37"/>
                </a:solidFill>
              </a:rPr>
              <a:t>Best for: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078224"/>
            <a:ext cx="23774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7A5A"/>
                </a:solidFill>
              </a:rPr>
              <a:t>GCP-native agents,
Vertex AI rapid delivery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626864"/>
            <a:ext cx="8412480" cy="27432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626864"/>
            <a:ext cx="54864" cy="274320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64515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D5B5"/>
                </a:solidFill>
              </a:rPr>
              <a:t>LangGraph builds ON TOP of LangChain  ·  ADK is standalone  ·  All three are open source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SAFETY &amp; GUARDRAILS  ·  PRODUCTION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Safety Is Not Optional — Build It In from Day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956816" cy="338328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1956816" cy="402336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773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Input
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A872"/>
                </a:solidFill>
              </a:rPr>
              <a:t>BEFORE LLM sees the query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55648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7393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PHI redaction (SSN, DOB, MRN)
  ·  Topic filter — block clinical
  ·  Content policy 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987552"/>
            <a:ext cx="1956816" cy="338328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1448" y="987552"/>
            <a:ext cx="1956816" cy="402336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2888" y="1005840"/>
            <a:ext cx="1773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Output
Guardrails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1444752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A872"/>
                </a:solidFill>
              </a:rPr>
              <a:t>BEFORE user sees the response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2888" y="1755648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888" y="1828800"/>
            <a:ext cx="177393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Grounding check (in the docs?)
  ·  PII scan — no data leaked
  ·  Tone &amp; policy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7136" y="987552"/>
            <a:ext cx="1956816" cy="338328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7136" y="987552"/>
            <a:ext cx="1956816" cy="402336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8576" y="1005840"/>
            <a:ext cx="1773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Prompt
Injection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1444752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A872"/>
                </a:solidFill>
              </a:rPr>
              <a:t>Agent-specific attack vector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8576" y="1755648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828800"/>
            <a:ext cx="177393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Malicious content in tool results
  ·  Hijacks agent instructions
  ·  Mitigate: separate instruction
from data, restrict tools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2824" y="987552"/>
            <a:ext cx="1956816" cy="338328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92824" y="987552"/>
            <a:ext cx="1956816" cy="402336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84264" y="1005840"/>
            <a:ext cx="1773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Least
Privilege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4264" y="1444752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A872"/>
                </a:solidFill>
              </a:rPr>
              <a:t>Each agent gets only what it needs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84264" y="1755648"/>
            <a:ext cx="1773936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84264" y="1828800"/>
            <a:ext cx="177393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  ·  HR agent: read HR KB only
  ·  No write tools unless required
  ·  Separate IAM roles per agent
  ·  Limits blast radius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43984"/>
            <a:ext cx="4023360" cy="420624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443984"/>
            <a:ext cx="54864" cy="42062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4805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Hard Stop: immediate refusal — no tools called, query terminated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4443984"/>
            <a:ext cx="4023360" cy="420624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54880" y="4443984"/>
            <a:ext cx="54864" cy="42062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64608" y="44805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Soft Stop: partial answer or redirect within policy constraints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EVALUATION &amp; OBSERVABILITY  ·  IF YOU CAN'T TRACE IT, YOU CAN'T TRUST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Measure Everything — Agents Fail in Subtle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3840480" cy="3877056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42415"/>
            <a:ext cx="36210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Do You Know It Works?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426464"/>
            <a:ext cx="3657600" cy="182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8" y="1499616"/>
            <a:ext cx="3621024" cy="475488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499616"/>
            <a:ext cx="54864" cy="4754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5544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Task Success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34381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D5B5"/>
                </a:solidFill>
              </a:rPr>
              <a:t>Did the agent answer correctly?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048255"/>
            <a:ext cx="3621024" cy="475488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048255"/>
            <a:ext cx="54864" cy="4754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1031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Tool Selection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7"/>
            <a:ext cx="34381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D5B5"/>
                </a:solidFill>
              </a:rPr>
              <a:t>Did it call the RIGHT tools?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2596896"/>
            <a:ext cx="3621024" cy="475488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596896"/>
            <a:ext cx="54864" cy="4754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6517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Hallucination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852928"/>
            <a:ext cx="34381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D5B5"/>
                </a:solidFill>
              </a:rPr>
              <a:t>Did it invent facts not in the docs?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145535"/>
            <a:ext cx="3621024" cy="475488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145535"/>
            <a:ext cx="54864" cy="4754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200399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401568"/>
            <a:ext cx="34381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D5B5"/>
                </a:solidFill>
              </a:rPr>
              <a:t>How many LLM calls? Total time?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694176"/>
            <a:ext cx="3621024" cy="475488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694176"/>
            <a:ext cx="54864" cy="4754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3749039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Cost per 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950208"/>
            <a:ext cx="34381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D5B5"/>
                </a:solidFill>
              </a:rPr>
              <a:t>Calls × tokens × price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4242816"/>
            <a:ext cx="3621024" cy="475488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4242816"/>
            <a:ext cx="54864" cy="4754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16" y="4297679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Escalation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4498848"/>
            <a:ext cx="34381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D5B5"/>
                </a:solidFill>
              </a:rPr>
              <a:t>Did it escalate when it should?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987552"/>
            <a:ext cx="4297680" cy="3877056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0560" y="987552"/>
            <a:ext cx="4297680" cy="5486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0288" y="1042415"/>
            <a:ext cx="4078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37"/>
                </a:solidFill>
              </a:rPr>
              <a:t>What to Trace in Every Call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1426464"/>
            <a:ext cx="4078224" cy="1828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0288" y="1499616"/>
            <a:ext cx="4078224" cy="475488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1499616"/>
            <a:ext cx="54864" cy="47548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0016" y="1609343"/>
            <a:ext cx="38953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Every node: entry, exit, timestamp, input, output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2048255"/>
            <a:ext cx="4078224" cy="475488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0288" y="2048255"/>
            <a:ext cx="54864" cy="47548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0016" y="2157984"/>
            <a:ext cx="38953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Every LLM call: tokens in/out, model, latency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90288" y="2596896"/>
            <a:ext cx="4078224" cy="475488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90288" y="2596896"/>
            <a:ext cx="54864" cy="47548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0016" y="2706624"/>
            <a:ext cx="38953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Every tool call: name, args, result, latency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90288" y="3145535"/>
            <a:ext cx="4078224" cy="475488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90288" y="3145535"/>
            <a:ext cx="54864" cy="47548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00016" y="3255263"/>
            <a:ext cx="38953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Every routing decision: which branch and why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90288" y="3694176"/>
            <a:ext cx="4078224" cy="475488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90288" y="3694176"/>
            <a:ext cx="54864" cy="47548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00016" y="3803904"/>
            <a:ext cx="38953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Errors and retries: what failed, how recovered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90288" y="4242816"/>
            <a:ext cx="4078224" cy="475488"/>
          </a:xfrm>
          <a:prstGeom prst="rect">
            <a:avLst/>
          </a:prstGeom>
          <a:solidFill>
            <a:srgbClr val="F4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90288" y="4242816"/>
            <a:ext cx="54864" cy="475488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0016" y="4352544"/>
            <a:ext cx="38953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37"/>
                </a:solidFill>
              </a:rPr>
              <a:t>thread_id — correlate all steps of one conversation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KEY TAKEAWAYS  ·  WHAT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5E37"/>
                </a:solidFill>
              </a:rPr>
              <a:t>Seven Things You Cannot Forget About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8412480" cy="54864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042416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Agent = LLM + loop + tools + memory. Not a prompt. Not a chain.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078992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The loop and the ability to act are the defining difference.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8412480" cy="54864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82496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2763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ReAct is the universal loop — every framework uses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664208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Thought → Action → Observation, repeat until done.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57984"/>
            <a:ext cx="8412480" cy="54864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67712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22128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Multi-agent is the enterprise scaling path.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249424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Past 3–4 domains or 6–8 tools — use supervisor + specialists.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8412480" cy="54864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279806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RAG grounds answers. Agentic RAG adapts iteratively.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834640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Standard RAG for lookup. Agentic RAG for multi-step queries.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28416"/>
            <a:ext cx="8412480" cy="54864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438144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3383280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Framework choice follows your cloud.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419856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LangChain + LangGraph for AWS/Azure. ADK for GCP / Vertex AI.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13632"/>
            <a:ext cx="8412480" cy="54864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023360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968496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Safety is not optional — build guardrails from day one.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005072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PHI, prompt injection, least privilege — non-negotiable in enterprise.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98848"/>
            <a:ext cx="8412480" cy="54864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608576"/>
            <a:ext cx="329184" cy="329184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455371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A872"/>
                </a:solidFill>
              </a:rPr>
              <a:t>If you can't trace it, you can't trust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590288"/>
            <a:ext cx="3438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5B5"/>
                </a:solidFill>
              </a:rPr>
              <a:t>Trace every LLM call, tool call, and routing decision.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A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A872"/>
                </a:solidFill>
              </a:rPr>
              <a:t>AGENTIC AI  ·  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8412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Questions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8412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5BA872"/>
                </a:solidFill>
              </a:rPr>
              <a:t>Discussion.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090672"/>
            <a:ext cx="3657600" cy="18288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2186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D5B5"/>
                </a:solidFill>
              </a:rPr>
              <a:t>Rohid Dev  ·  github.com/rohiddev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49039"/>
            <a:ext cx="8412480" cy="54864"/>
          </a:xfrm>
          <a:prstGeom prst="rect">
            <a:avLst/>
          </a:prstGeom>
          <a:solidFill>
            <a:srgbClr val="2D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3858768"/>
            <a:ext cx="1645919" cy="91440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4996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24528"/>
            <a:ext cx="1499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agent-concepts-fundamentals-qa.txt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48255" y="3858768"/>
            <a:ext cx="1645919" cy="91440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3931920"/>
            <a:ext cx="14996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LangGraph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4224528"/>
            <a:ext cx="1499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langgraph-langchain-interview-prep.txt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3858768"/>
            <a:ext cx="1645919" cy="91440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2191" y="3931920"/>
            <a:ext cx="14996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191" y="4224528"/>
            <a:ext cx="1499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rag-graphrag-agentic-rag.txt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3248" y="3858768"/>
            <a:ext cx="1645919" cy="914400"/>
          </a:xfrm>
          <a:prstGeom prst="rect">
            <a:avLst/>
          </a:prstGeom>
          <a:solidFill>
            <a:srgbClr val="1B5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4688" y="3931920"/>
            <a:ext cx="14996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Frameworks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4224528"/>
            <a:ext cx="1499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langgraph-vs-langchain-vs-adk.txt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95744" y="3858768"/>
            <a:ext cx="1645919" cy="914400"/>
          </a:xfrm>
          <a:prstGeom prst="rect">
            <a:avLst/>
          </a:prstGeom>
          <a:solidFill>
            <a:srgbClr val="15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87183" y="3931920"/>
            <a:ext cx="14996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A872"/>
                </a:solidFill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7183" y="4224528"/>
            <a:ext cx="1499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8D5B5"/>
                </a:solidFill>
              </a:rPr>
              <a:t>interviewchecklist.txt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10912"/>
            <a:ext cx="9144000" cy="128016"/>
          </a:xfrm>
          <a:prstGeom prst="rect">
            <a:avLst/>
          </a:prstGeom>
          <a:solidFill>
            <a:srgbClr val="0F3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015484"/>
            <a:ext cx="8229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A872"/>
                </a:solidFill>
              </a:rPr>
              <a:t>Agentic AI  ·  Executive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