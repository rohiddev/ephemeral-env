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A89C"/>
                </a:solidFill>
              </a:rPr>
              <a:t>From LLM Calls to Autonomous Enterprise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83280"/>
            <a:ext cx="9144000" cy="36576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C757D"/>
                </a:solidFill>
              </a:rPr>
              <a:t>Executive Overview  |  LangChain · LangGraph · Google ADK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</a:rPr>
              <a:t>Rohid Dev  ·  github.com/rohiddev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16152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What Is an AI Agent?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LLM call vs agent — the key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36776"/>
            <a:ext cx="11155680" cy="4572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09928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82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The Agent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282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ReAct pattern, tools, stopping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30552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203704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Memory &amp;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21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In-context, external, episodic, semantic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24328"/>
            <a:ext cx="11155680" cy="4572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70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Multi-Agent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15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Supervisor, parallel dispatch, fan-out/fan-in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18104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191256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163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RAG · Graph RAG · Agentic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095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Retrieval patterns and when to use each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11880"/>
            <a:ext cx="11155680" cy="4572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685032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Framework Landscape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03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LangChain vs LangGraph vs Google ADK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05656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178808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1513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Safety &amp; Guardrails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1970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PHI, prompt injection, least privilege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99432"/>
            <a:ext cx="11155680" cy="4572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672584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645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Evaluation &amp;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690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Tracing, LLM-as-judge, production metrics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9320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166360"/>
            <a:ext cx="384048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138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Key Takeaways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1846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Decision guide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  |  What Is an AI Agent?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30000" cy="45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5029200" cy="5303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A89C"/>
                </a:solidFill>
              </a:rPr>
              <a:t>Plain LLM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Send prompt  →  get response  →  done.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Stateless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One-shot — no loop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No tools — cannot act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No memory across turns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Cannot retry or adapt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A89C"/>
                </a:solidFill>
              </a:rPr>
              <a:t>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LLM  +  Loop  +  Tools  +  Memory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Reasons about next step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Calls tools — acts in the world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Observes results, iterates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Retains context across turns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2F4F6"/>
                </a:solidFill>
              </a:rPr>
              <a:t>  Stops when problem is solved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3291840"/>
            <a:ext cx="640080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11064240" cy="3474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190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Agent = "A system that perceives, reasons, acts, and remembers — in a loop."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02  |  The Agent Loop — ReAct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237744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THOUGHT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19072"/>
            <a:ext cx="21945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LLM reasons about
what to do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182880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9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377440" cy="20116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80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19072"/>
            <a:ext cx="21945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7830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LLM picks a tool
and provides arguments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182880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9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188720"/>
            <a:ext cx="2377440" cy="2011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280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719072"/>
            <a:ext cx="21945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7830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Tool executes.
Result returned to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82880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9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188720"/>
            <a:ext cx="2377440" cy="20116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280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FINAL ANSWER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719072"/>
            <a:ext cx="21945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17830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No more tool calls.
Loop exits.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</a:rPr>
              <a:t>↺  Loops back to THOUGHT until final answer is reached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794760"/>
            <a:ext cx="109728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Concrete Example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297680"/>
            <a:ext cx="10698480" cy="3657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34340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User: "What is the weather in Tokyo and convert to Celsius?"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THOUGHT   I need the Tokyo weather first.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ACTION    get_weather(city='Tokyo')   →   OBSERVATION: 80°F, sunny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THOUGHT   Now I convert 80°F to Celsius.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ACTION    calculate('(80-32)*5/9')   →   OBSERVATION: 26.67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FINAL     The weather in Tokyo is 26.67°C, sunny.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03  |  Memory &amp;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30000" cy="45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2606040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2606040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In-Context
(Short-Term)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Current conversation in the
context window.
Ephemeral — clears each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40480"/>
            <a:ext cx="233172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700"/>
                </a:solidFill>
              </a:rPr>
              <a:t>Context window limit
(e.g. 200K tokens for Claude)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005840"/>
            <a:ext cx="2606040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005840"/>
            <a:ext cx="2606040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02412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External
(Long-Term)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7373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Vector DB, relational DB,
key-value store.
Persists across all sessions.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840480"/>
            <a:ext cx="233172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393192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700"/>
                </a:solidFill>
              </a:rPr>
              <a:t>Retrieved via RAG or
lookup tool at query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005840"/>
            <a:ext cx="2606040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005840"/>
            <a:ext cx="2606040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102412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Episodic
(Session)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7373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This conversation, persisted
by thread_id / session_id.
Resumable after interruption.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3840480"/>
            <a:ext cx="233172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393192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700"/>
                </a:solidFill>
              </a:rPr>
              <a:t>LangGraph: MemorySaver
ADK: SessionService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0264" y="1005840"/>
            <a:ext cx="2606040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0264" y="1005840"/>
            <a:ext cx="2606040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4" y="102412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Semantic
(Knowledge 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17373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Shared facts and domain
knowledge for all users.
HR policies, product docs, etc.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07424" y="3840480"/>
            <a:ext cx="233172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424" y="393192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700"/>
                </a:solidFill>
              </a:rPr>
              <a:t>Retrieved via RAG.
Ground truth for the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7044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Production best practice: use ALL FOUR together.
In-context for coherence  |  Episodic for continuity  |  Semantic for accuracy  |  External for user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04  | 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143000"/>
            <a:ext cx="310896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A89C"/>
                </a:solidFill>
              </a:rPr>
              <a:t>SUPERVISOR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Classify intent  →  Route  →  Aggregate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9C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9C"/>
                </a:solidFill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9C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9C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51760"/>
            <a:ext cx="2468880" cy="1554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51760"/>
            <a:ext cx="2468880" cy="4114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79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HR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2F4F6"/>
                </a:solidFill>
              </a:rPr>
              <a:t>PTO · Leave
Parental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651760"/>
            <a:ext cx="2468880" cy="1554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2651760"/>
            <a:ext cx="2468880" cy="4114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679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08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2F4F6"/>
                </a:solidFill>
              </a:rPr>
              <a:t>Health · Dental
401k · FSA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651760"/>
            <a:ext cx="2468880" cy="1554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651760"/>
            <a:ext cx="2468880" cy="4114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679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Payroll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108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2F4F6"/>
                </a:solidFill>
              </a:rPr>
              <a:t>Salary · Pay dates
Deductions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651760"/>
            <a:ext cx="2468880" cy="1554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2651760"/>
            <a:ext cx="2468880" cy="4114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679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IT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108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2F4F6"/>
                </a:solidFill>
              </a:rPr>
              <a:t>VPN · Access
Hardware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9C"/>
                </a:solidFill>
              </a:rPr>
              <a:t>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9C"/>
                </a:solidFill>
              </a:rPr>
              <a:t>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9C"/>
                </a:solidFill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9C"/>
                </a:solidFill>
              </a:rPr>
              <a:t>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4754880"/>
            <a:ext cx="310896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A89C"/>
                </a:solidFill>
              </a:rPr>
              <a:t>AGGREGATOR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120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Merge  →  Deduplicate  →  Cite 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9C"/>
                </a:solidFill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6080760"/>
            <a:ext cx="5760720" cy="54864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61264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Unified Answer with citations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224528"/>
            <a:ext cx="11109960" cy="2926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251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All specialist agents run SIMULTANEOUSLY — results accumulate in parallel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05  |  Retrieval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30000" cy="45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3474720" cy="5394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3474720" cy="5029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Standard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B700"/>
                </a:solidFill>
              </a:rPr>
              <a:t>Query  →  Vector search
→  Top-K chunks  →  Generate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23160"/>
            <a:ext cx="320040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  •  Single retrieval per query
  •  Flat document chunks
  •  Fast and cheap
  •  Weak on multi-hop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663440"/>
            <a:ext cx="320040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9C"/>
                </a:solidFill>
              </a:rPr>
              <a:t>Use when: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292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Simple Q&amp;A on flat docs
(FAQs, runbooks, policies)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3" y="1005840"/>
            <a:ext cx="3474720" cy="5394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1103" y="1005840"/>
            <a:ext cx="3474720" cy="5029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3" y="1033271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Graph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16002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B700"/>
                </a:solidFill>
              </a:rPr>
              <a:t>Query  →  Entity match
→  Graph traversal  →  Generate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2423160"/>
            <a:ext cx="320040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8264" y="2487168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  •  Entities + relationships
  •  Multi-hop traversal
  •  Community summaries
  •  Higher build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8264" y="4663440"/>
            <a:ext cx="320040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9C"/>
                </a:solidFill>
              </a:rPr>
              <a:t>Use when: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50292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Relationship queries
across connected domains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3567" y="1005840"/>
            <a:ext cx="3474720" cy="5394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7" y="1005840"/>
            <a:ext cx="3474720" cy="5029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7" y="1033271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Agentic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16002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B700"/>
                </a:solidFill>
              </a:rPr>
              <a:t>Query  →  Agent decides
→  Retrieve N times  →  Generate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7" y="2423160"/>
            <a:ext cx="320040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2487168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  •  Retrieval is a tool in the loop
  •  Agent retries if result is bad
  •  Can combine web + KB + DB
  •  Highest cost and latency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0727" y="4663440"/>
            <a:ext cx="320040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7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9C"/>
                </a:solidFill>
              </a:rPr>
              <a:t>Use when: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50292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Complex multi-step queries
that require iteration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06  |  Framework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352044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52044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9C"/>
                </a:solidFill>
              </a:rPr>
              <a:t>LangChain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20440" cy="2743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Component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Raw materials: LLMs, prompts,
tools, retrievers, parsers.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51760"/>
            <a:ext cx="3246120" cy="274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 •  Uniform LLM interface (swap providers)
  •  LCEL pipe syntax: prompt | llm | parser
  •  Rich retriever ecosystem
  •  No agent loop — just chains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074920"/>
            <a:ext cx="3246120" cy="2743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389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Best for: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6811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RAG pipelines, prompt
engineering, LLM chains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1051560"/>
            <a:ext cx="352044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1051560"/>
            <a:ext cx="352044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107899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9C"/>
                </a:solidFill>
              </a:rPr>
              <a:t>LangGraph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6824" y="1554480"/>
            <a:ext cx="3520440" cy="2743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Graph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19202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Blueprint: nodes, edges, state,
loops, parallelism, persistence.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2651760"/>
            <a:ext cx="3246120" cy="274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2724912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 •  Explicit, visible agent loop
  •  Conditional edges + Send() for parallel
  •  Checkpointing + human-in-the-loop
  •  Time travel for debugging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3984" y="5074920"/>
            <a:ext cx="3246120" cy="2743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3984" y="51389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Best for: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546811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Complex enterprise agents,
AWS/Azure/multi-cloud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1051560"/>
            <a:ext cx="352044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1051560"/>
            <a:ext cx="352044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107899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9C"/>
                </a:solidFill>
              </a:rPr>
              <a:t>Google ADK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5008" y="1554480"/>
            <a:ext cx="3520440" cy="2743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15727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19202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Prefab kit: built-in agent types,
session mgmt, eval harness.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2168" y="2651760"/>
            <a:ext cx="3246120" cy="274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2168" y="2724912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 •  LlmAgent, ParallelAgent, SequentialAgent
  •  Built-in adk eval CLI
  •  A2A protocol + MCP support
  •  Native Vertex AI 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02168" y="5074920"/>
            <a:ext cx="3246120" cy="2743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2168" y="51389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Best for: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546811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</a:rPr>
              <a:t>GCP-native agents,
rapid prototyping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9C"/>
                </a:solidFill>
              </a:rPr>
              <a:t>LangGraph builds ON TOP of LangChain  |  ADK is standalone  |  All three are open 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07  |  Safety &amp;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30000" cy="45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260604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2606040" cy="5029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Input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242316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700"/>
                </a:solidFill>
              </a:rPr>
              <a:t>Run BEFORE the LLM sees the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PHI redaction (SSN, DOB, MRN)
Topic filter (block clinical advice)
Content policy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005840"/>
            <a:ext cx="260604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005840"/>
            <a:ext cx="260604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03327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 Guardrails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5576" y="1536192"/>
            <a:ext cx="242316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16002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700"/>
                </a:solidFill>
              </a:rPr>
              <a:t>Run BEFORE the user sees the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176272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Grounding check (answer in the docs?)
PII scan (no data leaked)
Tone / policy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1" y="1005840"/>
            <a:ext cx="260604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1" y="1005840"/>
            <a:ext cx="2606040" cy="5029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1" y="103327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Prompt Injection Defense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1" y="1536192"/>
            <a:ext cx="242316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6002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700"/>
                </a:solidFill>
              </a:rPr>
              <a:t>Agent-specific attack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Malicious content in tool results
hijacks agent behavior.
Mitigation: separate instruction
from data. Restrict tool permissions.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5128" y="1005840"/>
            <a:ext cx="260604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5128" y="1005840"/>
            <a:ext cx="260604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7" y="103327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Least Privilege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7" y="1536192"/>
            <a:ext cx="2423160" cy="2743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16002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700"/>
                </a:solidFill>
              </a:rPr>
              <a:t>Each agent only gets what it needs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2176272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HR agent: read HR KB only
Payroll agent: read payroll only
No write tools unless required
Separate IAM roles per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263640"/>
            <a:ext cx="5303520" cy="475488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309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Hard Stop: immediate refusal, no tools called, query terminated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6263640"/>
            <a:ext cx="5303520" cy="4754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6309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Soft Stop: partial answer or redirect within policy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08  |  Evaluation &amp;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530352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How Do You Know the Agent Is Working?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3657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10512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Task Success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</a:rPr>
              <a:t>Did the agent answer/complete correctly?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Tool Selection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</a:rPr>
              <a:t>Did it call the RIGHT tools?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10128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55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Hallucination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301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</a:rPr>
              <a:t>Did it invent facts not in the documents?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59935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79975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</a:rPr>
              <a:t>How many LLM calls? Total time?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09744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55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Cost per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9783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</a:rPr>
              <a:t>Calls × tokens × price per token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559552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05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Escalation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795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</a:rPr>
              <a:t>Did it escalate when it should have?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097280"/>
            <a:ext cx="530352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What to Trace in Every Agent 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691640"/>
            <a:ext cx="5120640" cy="3657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828800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828800"/>
            <a:ext cx="73152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Every node entry + exit (timestamp, input, output)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578608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2578608"/>
            <a:ext cx="73152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715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Every LLM call (tokens in / out, model, latency)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328415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328415"/>
            <a:ext cx="73152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465575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Every tool call (name, args, result, latency)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078224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078224"/>
            <a:ext cx="73152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21538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Every routing decision (which branch and why)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828031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828031"/>
            <a:ext cx="73152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965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Errors and retries (what failed, how recovered)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577840"/>
            <a:ext cx="5120640" cy="6400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5577840"/>
            <a:ext cx="73152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715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thread_id / session_id (correlate one conversation)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629400"/>
            <a:ext cx="11064240" cy="1371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09  | 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30000" cy="45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088136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402336" cy="40233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698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An agent = LLM + loop + tools +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155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The loop and the ability to act are what separate agents from plain LLM calls.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01368"/>
            <a:ext cx="1088136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956816"/>
            <a:ext cx="402336" cy="40233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6537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ReAct is the universal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110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Thought → Action → Observation, repeat. Every major framework implements this.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96896"/>
            <a:ext cx="1088136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2752344"/>
            <a:ext cx="402336" cy="40233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60903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Multi-agent is the scaling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066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Past 3-4 domains or 6-8 tools, use a supervisor + specialists. Parallel dispatch = speed.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92424"/>
            <a:ext cx="1088136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3547872"/>
            <a:ext cx="402336" cy="40233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564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RAG grounds answers. Agentic RAG adapts.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021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Standard RAG for simple lookup. Agentic RAG for multi-step, multi-source queries.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87952"/>
            <a:ext cx="1088136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343400"/>
            <a:ext cx="402336" cy="40233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519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Framework choice follows your cloud.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LangChain + LangGraph for AWS/Azure/multi-cloud. Google ADK for GCP + Vertex AI.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83479"/>
            <a:ext cx="1088136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5138927"/>
            <a:ext cx="402336" cy="40233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0474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Safety is not optional.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093207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Guardrails, PHI redaction, least privilege, and prompt injection defense from day one.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779008"/>
            <a:ext cx="1088136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" y="5934456"/>
            <a:ext cx="402336" cy="40233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8430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If you can't trace it, you can't trust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88873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Every LLM call, tool call, and routing decision must be logged and traceable.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200400"/>
            <a:ext cx="6400800" cy="54864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A89C"/>
                </a:solidFill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57D"/>
                </a:solidFill>
              </a:rPr>
              <a:t>Rohid Dev  ·  github.com/rohiddev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