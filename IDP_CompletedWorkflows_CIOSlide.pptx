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B5E37"/>
          </a:solidFill>
          <a:ln w="12700">
            <a:solidFill>
              <a:srgbClr val="1B5E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73152"/>
            <a:ext cx="6949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High-Value Self-Service Workflows — Delivered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7360920" y="91440"/>
            <a:ext cx="1554480" cy="438912"/>
          </a:xfrm>
          <a:prstGeom prst="rect">
            <a:avLst/>
          </a:prstGeom>
          <a:solidFill>
            <a:srgbClr val="5BA872"/>
          </a:solidFill>
          <a:ln w="12700">
            <a:solidFill>
              <a:srgbClr val="5BA87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60920" y="91440"/>
            <a:ext cx="1554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RTB Capstone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01168" y="713232"/>
            <a:ext cx="4279392" cy="3785616"/>
          </a:xfrm>
          <a:prstGeom prst="rect">
            <a:avLst/>
          </a:prstGeom>
          <a:solidFill>
            <a:srgbClr val="FFFFFF"/>
          </a:solidFill>
          <a:ln w="15240">
            <a:solidFill>
              <a:srgbClr val="D4EAD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01168" y="713232"/>
            <a:ext cx="4279392" cy="475488"/>
          </a:xfrm>
          <a:prstGeom prst="rect">
            <a:avLst/>
          </a:prstGeom>
          <a:solidFill>
            <a:srgbClr val="1B5E37"/>
          </a:solidFill>
          <a:ln w="12700">
            <a:solidFill>
              <a:srgbClr val="1B5E3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9184" y="804672"/>
            <a:ext cx="749808" cy="292608"/>
          </a:xfrm>
          <a:prstGeom prst="rect">
            <a:avLst/>
          </a:prstGeom>
          <a:solidFill>
            <a:srgbClr val="5BA872"/>
          </a:solidFill>
          <a:ln w="12700">
            <a:solidFill>
              <a:srgbClr val="5BA87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9184" y="804672"/>
            <a:ext cx="7498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LIVE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161288" y="768096"/>
            <a:ext cx="32278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Repository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161288" y="987552"/>
            <a:ext cx="322783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C2D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Self-Service Flow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9184" y="1280160"/>
            <a:ext cx="1188720" cy="621792"/>
          </a:xfrm>
          <a:prstGeom prst="rect">
            <a:avLst/>
          </a:prstGeom>
          <a:solidFill>
            <a:srgbClr val="E8F5EE"/>
          </a:solidFill>
          <a:ln w="10160">
            <a:solidFill>
              <a:srgbClr val="5BA87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9184" y="1316736"/>
            <a:ext cx="1188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B5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329184" y="1636776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1645920" y="1280160"/>
            <a:ext cx="1261872" cy="621792"/>
          </a:xfrm>
          <a:prstGeom prst="rect">
            <a:avLst/>
          </a:prstGeom>
          <a:solidFill>
            <a:srgbClr val="E8F5EE"/>
          </a:solidFill>
          <a:ln w="10160">
            <a:solidFill>
              <a:srgbClr val="5BA87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700784" y="1316736"/>
            <a:ext cx="11704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5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3–5 min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700784" y="1664208"/>
            <a:ext cx="117043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A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AD grp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017520" y="1280160"/>
            <a:ext cx="1261872" cy="621792"/>
          </a:xfrm>
          <a:prstGeom prst="rect">
            <a:avLst/>
          </a:prstGeom>
          <a:solidFill>
            <a:srgbClr val="D4EAD9"/>
          </a:solidFill>
          <a:ln w="10160">
            <a:solidFill>
              <a:srgbClr val="D4EAD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072384" y="1316736"/>
            <a:ext cx="11704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5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072384" y="1664208"/>
            <a:ext cx="117043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017520" y="1463040"/>
            <a:ext cx="1335024" cy="256032"/>
          </a:xfrm>
          <a:prstGeom prst="rect">
            <a:avLst/>
          </a:prstGeom>
          <a:solidFill>
            <a:srgbClr val="1B5E37"/>
          </a:solidFill>
          <a:ln w="12700">
            <a:solidFill>
              <a:srgbClr val="1B5E3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017520" y="1463040"/>
            <a:ext cx="13350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ENVIRONMENTS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329184" y="1993392"/>
            <a:ext cx="4023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4A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  Harness Pipeline via IDP Form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29184" y="2267712"/>
            <a:ext cx="4023360" cy="256032"/>
          </a:xfrm>
          <a:prstGeom prst="rect">
            <a:avLst/>
          </a:prstGeom>
          <a:solidFill>
            <a:srgbClr val="E8F5EE"/>
          </a:solidFill>
          <a:ln w="6350">
            <a:solidFill>
              <a:srgbClr val="D4EAD9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65760" y="2313432"/>
            <a:ext cx="164592" cy="164592"/>
          </a:xfrm>
          <a:prstGeom prst="ellipse">
            <a:avLst/>
          </a:prstGeom>
          <a:solidFill>
            <a:srgbClr val="2D7D4F"/>
          </a:solidFill>
          <a:ln w="12700">
            <a:solidFill>
              <a:srgbClr val="2D7D4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2313432"/>
            <a:ext cx="1645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585216" y="2267712"/>
            <a:ext cx="32186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Request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675888" y="2322576"/>
            <a:ext cx="676656" cy="146304"/>
          </a:xfrm>
          <a:prstGeom prst="rect">
            <a:avLst/>
          </a:prstGeom>
          <a:solidFill>
            <a:srgbClr val="2D7D4F"/>
          </a:solidFill>
          <a:ln w="12700">
            <a:solidFill>
              <a:srgbClr val="2D7D4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75888" y="2322576"/>
            <a:ext cx="676656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329184" y="2551176"/>
            <a:ext cx="4023360" cy="256032"/>
          </a:xfrm>
          <a:prstGeom prst="rect">
            <a:avLst/>
          </a:prstGeom>
          <a:solidFill>
            <a:srgbClr val="F7F9F8"/>
          </a:solidFill>
          <a:ln w="6350">
            <a:solidFill>
              <a:srgbClr val="D4EAD9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65760" y="2596896"/>
            <a:ext cx="164592" cy="164592"/>
          </a:xfrm>
          <a:prstGeom prst="ellipse">
            <a:avLst/>
          </a:prstGeom>
          <a:solidFill>
            <a:srgbClr val="3A6B4A"/>
          </a:solidFill>
          <a:ln w="12700">
            <a:solidFill>
              <a:srgbClr val="3A6B4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5760" y="2596896"/>
            <a:ext cx="1645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585216" y="2551176"/>
            <a:ext cx="32186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AD Groups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3675888" y="2606040"/>
            <a:ext cx="676656" cy="146304"/>
          </a:xfrm>
          <a:prstGeom prst="rect">
            <a:avLst/>
          </a:prstGeom>
          <a:solidFill>
            <a:srgbClr val="3A6B4A"/>
          </a:solidFill>
          <a:ln w="12700">
            <a:solidFill>
              <a:srgbClr val="3A6B4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675888" y="2606040"/>
            <a:ext cx="676656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</a:t>
            </a:r>
            <a:endParaRPr lang="en-US" sz="700" dirty="0"/>
          </a:p>
        </p:txBody>
      </p:sp>
      <p:sp>
        <p:nvSpPr>
          <p:cNvPr id="36" name="Shape 34"/>
          <p:cNvSpPr/>
          <p:nvPr/>
        </p:nvSpPr>
        <p:spPr>
          <a:xfrm>
            <a:off x="329184" y="2834640"/>
            <a:ext cx="4023360" cy="256032"/>
          </a:xfrm>
          <a:prstGeom prst="rect">
            <a:avLst/>
          </a:prstGeom>
          <a:solidFill>
            <a:srgbClr val="E8F5EE"/>
          </a:solidFill>
          <a:ln w="6350">
            <a:solidFill>
              <a:srgbClr val="D4EAD9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65760" y="2880360"/>
            <a:ext cx="164592" cy="164592"/>
          </a:xfrm>
          <a:prstGeom prst="ellipse">
            <a:avLst/>
          </a:prstGeom>
          <a:solidFill>
            <a:srgbClr val="1B5E37"/>
          </a:solidFill>
          <a:ln w="12700">
            <a:solidFill>
              <a:srgbClr val="1B5E3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65760" y="2880360"/>
            <a:ext cx="1645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585216" y="2834640"/>
            <a:ext cx="32186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Repo in GitHub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3675888" y="2889504"/>
            <a:ext cx="676656" cy="146304"/>
          </a:xfrm>
          <a:prstGeom prst="rect">
            <a:avLst/>
          </a:prstGeom>
          <a:solidFill>
            <a:srgbClr val="1B5E37"/>
          </a:solidFill>
          <a:ln w="12700">
            <a:solidFill>
              <a:srgbClr val="1B5E3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675888" y="2889504"/>
            <a:ext cx="676656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Provisioning</a:t>
            </a:r>
            <a:endParaRPr lang="en-US" sz="700" dirty="0"/>
          </a:p>
        </p:txBody>
      </p:sp>
      <p:sp>
        <p:nvSpPr>
          <p:cNvPr id="42" name="Shape 40"/>
          <p:cNvSpPr/>
          <p:nvPr/>
        </p:nvSpPr>
        <p:spPr>
          <a:xfrm>
            <a:off x="329184" y="3118104"/>
            <a:ext cx="4023360" cy="256032"/>
          </a:xfrm>
          <a:prstGeom prst="rect">
            <a:avLst/>
          </a:prstGeom>
          <a:solidFill>
            <a:srgbClr val="F7F9F8"/>
          </a:solidFill>
          <a:ln w="6350">
            <a:solidFill>
              <a:srgbClr val="D4EAD9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65760" y="3163824"/>
            <a:ext cx="164592" cy="164592"/>
          </a:xfrm>
          <a:prstGeom prst="ellipse">
            <a:avLst/>
          </a:prstGeom>
          <a:solidFill>
            <a:srgbClr val="2D7D4F"/>
          </a:solidFill>
          <a:ln w="12700">
            <a:solidFill>
              <a:srgbClr val="2D7D4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65760" y="3163824"/>
            <a:ext cx="1645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700" dirty="0"/>
          </a:p>
        </p:txBody>
      </p:sp>
      <p:sp>
        <p:nvSpPr>
          <p:cNvPr id="45" name="Text 43"/>
          <p:cNvSpPr/>
          <p:nvPr/>
        </p:nvSpPr>
        <p:spPr>
          <a:xfrm>
            <a:off x="585216" y="3118104"/>
            <a:ext cx="32186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Repo Permissions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3675888" y="3172968"/>
            <a:ext cx="676656" cy="146304"/>
          </a:xfrm>
          <a:prstGeom prst="rect">
            <a:avLst/>
          </a:prstGeom>
          <a:solidFill>
            <a:srgbClr val="2D7D4F"/>
          </a:solidFill>
          <a:ln w="12700">
            <a:solidFill>
              <a:srgbClr val="2D7D4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675888" y="3172968"/>
            <a:ext cx="676656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</a:t>
            </a:r>
            <a:endParaRPr lang="en-US" sz="700" dirty="0"/>
          </a:p>
        </p:txBody>
      </p:sp>
      <p:sp>
        <p:nvSpPr>
          <p:cNvPr id="48" name="Shape 46"/>
          <p:cNvSpPr/>
          <p:nvPr/>
        </p:nvSpPr>
        <p:spPr>
          <a:xfrm>
            <a:off x="329184" y="3401568"/>
            <a:ext cx="4023360" cy="256032"/>
          </a:xfrm>
          <a:prstGeom prst="rect">
            <a:avLst/>
          </a:prstGeom>
          <a:solidFill>
            <a:srgbClr val="E8F5EE"/>
          </a:solidFill>
          <a:ln w="6350">
            <a:solidFill>
              <a:srgbClr val="D4EAD9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365760" y="3447288"/>
            <a:ext cx="164592" cy="164592"/>
          </a:xfrm>
          <a:prstGeom prst="ellipse">
            <a:avLst/>
          </a:prstGeom>
          <a:solidFill>
            <a:srgbClr val="3A6B4A"/>
          </a:solidFill>
          <a:ln w="12700">
            <a:solidFill>
              <a:srgbClr val="3A6B4A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65760" y="3447288"/>
            <a:ext cx="1645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700" dirty="0"/>
          </a:p>
        </p:txBody>
      </p:sp>
      <p:sp>
        <p:nvSpPr>
          <p:cNvPr id="51" name="Text 49"/>
          <p:cNvSpPr/>
          <p:nvPr/>
        </p:nvSpPr>
        <p:spPr>
          <a:xfrm>
            <a:off x="585216" y="3401568"/>
            <a:ext cx="32186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Jenkins Folder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3675888" y="3456432"/>
            <a:ext cx="676656" cy="146304"/>
          </a:xfrm>
          <a:prstGeom prst="rect">
            <a:avLst/>
          </a:prstGeom>
          <a:solidFill>
            <a:srgbClr val="3A6B4A"/>
          </a:solidFill>
          <a:ln w="12700">
            <a:solidFill>
              <a:srgbClr val="3A6B4A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675888" y="3456432"/>
            <a:ext cx="676656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</a:t>
            </a:r>
            <a:endParaRPr lang="en-US" sz="700" dirty="0"/>
          </a:p>
        </p:txBody>
      </p:sp>
      <p:sp>
        <p:nvSpPr>
          <p:cNvPr id="54" name="Shape 52"/>
          <p:cNvSpPr/>
          <p:nvPr/>
        </p:nvSpPr>
        <p:spPr>
          <a:xfrm>
            <a:off x="329184" y="3685032"/>
            <a:ext cx="4023360" cy="256032"/>
          </a:xfrm>
          <a:prstGeom prst="rect">
            <a:avLst/>
          </a:prstGeom>
          <a:solidFill>
            <a:srgbClr val="F7F9F8"/>
          </a:solidFill>
          <a:ln w="6350">
            <a:solidFill>
              <a:srgbClr val="D4EAD9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365760" y="3730752"/>
            <a:ext cx="164592" cy="164592"/>
          </a:xfrm>
          <a:prstGeom prst="ellipse">
            <a:avLst/>
          </a:prstGeom>
          <a:solidFill>
            <a:srgbClr val="5BA872"/>
          </a:solidFill>
          <a:ln w="12700">
            <a:solidFill>
              <a:srgbClr val="5BA872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65760" y="3730752"/>
            <a:ext cx="1645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700" dirty="0"/>
          </a:p>
        </p:txBody>
      </p:sp>
      <p:sp>
        <p:nvSpPr>
          <p:cNvPr id="57" name="Text 55"/>
          <p:cNvSpPr/>
          <p:nvPr/>
        </p:nvSpPr>
        <p:spPr>
          <a:xfrm>
            <a:off x="585216" y="3685032"/>
            <a:ext cx="32186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Notification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3675888" y="3739896"/>
            <a:ext cx="676656" cy="146304"/>
          </a:xfrm>
          <a:prstGeom prst="rect">
            <a:avLst/>
          </a:prstGeom>
          <a:solidFill>
            <a:srgbClr val="5BA872"/>
          </a:solidFill>
          <a:ln w="12700">
            <a:solidFill>
              <a:srgbClr val="5BA872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3675888" y="3739896"/>
            <a:ext cx="676656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 ✓</a:t>
            </a:r>
            <a:endParaRPr lang="en-US" sz="700" dirty="0"/>
          </a:p>
        </p:txBody>
      </p:sp>
      <p:sp>
        <p:nvSpPr>
          <p:cNvPr id="60" name="Shape 58"/>
          <p:cNvSpPr/>
          <p:nvPr/>
        </p:nvSpPr>
        <p:spPr>
          <a:xfrm>
            <a:off x="201168" y="3986784"/>
            <a:ext cx="4279392" cy="512064"/>
          </a:xfrm>
          <a:prstGeom prst="rect">
            <a:avLst/>
          </a:prstGeom>
          <a:solidFill>
            <a:srgbClr val="0F3D23"/>
          </a:solidFill>
          <a:ln w="12700">
            <a:solidFill>
              <a:srgbClr val="0F3D23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329184" y="4023360"/>
            <a:ext cx="4096512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Zero manual steps</a:t>
            </a:r>
            <a:endParaRPr lang="en-US" sz="950" dirty="0"/>
          </a:p>
        </p:txBody>
      </p:sp>
      <p:sp>
        <p:nvSpPr>
          <p:cNvPr id="62" name="Text 60"/>
          <p:cNvSpPr/>
          <p:nvPr/>
        </p:nvSpPr>
        <p:spPr>
          <a:xfrm>
            <a:off x="329184" y="4183380"/>
            <a:ext cx="4096512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GitHub repo + AD groups + Jenkins CI</a:t>
            </a:r>
            <a:endParaRPr lang="en-US" sz="950" dirty="0"/>
          </a:p>
        </p:txBody>
      </p:sp>
      <p:sp>
        <p:nvSpPr>
          <p:cNvPr id="63" name="Text 61"/>
          <p:cNvSpPr/>
          <p:nvPr/>
        </p:nvSpPr>
        <p:spPr>
          <a:xfrm>
            <a:off x="329184" y="4343400"/>
            <a:ext cx="4096512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Developer self-serves in under 5 min</a:t>
            </a:r>
            <a:endParaRPr lang="en-US" sz="950" dirty="0"/>
          </a:p>
        </p:txBody>
      </p:sp>
      <p:sp>
        <p:nvSpPr>
          <p:cNvPr id="64" name="Shape 62"/>
          <p:cNvSpPr/>
          <p:nvPr/>
        </p:nvSpPr>
        <p:spPr>
          <a:xfrm>
            <a:off x="4736592" y="713232"/>
            <a:ext cx="4279392" cy="3785616"/>
          </a:xfrm>
          <a:prstGeom prst="rect">
            <a:avLst/>
          </a:prstGeom>
          <a:solidFill>
            <a:srgbClr val="FFFFFF"/>
          </a:solidFill>
          <a:ln w="15240">
            <a:solidFill>
              <a:srgbClr val="D4EAD9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4736592" y="713232"/>
            <a:ext cx="4279392" cy="475488"/>
          </a:xfrm>
          <a:prstGeom prst="rect">
            <a:avLst/>
          </a:prstGeom>
          <a:solidFill>
            <a:srgbClr val="1B5E37"/>
          </a:solidFill>
          <a:ln w="12700">
            <a:solidFill>
              <a:srgbClr val="1B5E37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4864608" y="804672"/>
            <a:ext cx="749808" cy="292608"/>
          </a:xfrm>
          <a:prstGeom prst="rect">
            <a:avLst/>
          </a:prstGeom>
          <a:solidFill>
            <a:srgbClr val="5BA872"/>
          </a:solidFill>
          <a:ln w="12700">
            <a:solidFill>
              <a:srgbClr val="5BA872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4864608" y="804672"/>
            <a:ext cx="7498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LIVE</a:t>
            </a:r>
            <a:endParaRPr lang="en-US" sz="1000" dirty="0"/>
          </a:p>
        </p:txBody>
      </p:sp>
      <p:sp>
        <p:nvSpPr>
          <p:cNvPr id="68" name="Text 66"/>
          <p:cNvSpPr/>
          <p:nvPr/>
        </p:nvSpPr>
        <p:spPr>
          <a:xfrm>
            <a:off x="5696712" y="768096"/>
            <a:ext cx="32278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K8s Namespace Onboarding</a:t>
            </a:r>
            <a:endParaRPr lang="en-US" sz="1300" dirty="0"/>
          </a:p>
        </p:txBody>
      </p:sp>
      <p:sp>
        <p:nvSpPr>
          <p:cNvPr id="69" name="Text 67"/>
          <p:cNvSpPr/>
          <p:nvPr/>
        </p:nvSpPr>
        <p:spPr>
          <a:xfrm>
            <a:off x="5696712" y="987552"/>
            <a:ext cx="322783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C2D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PaaS Self-Service Flow</a:t>
            </a:r>
            <a:endParaRPr lang="en-US" sz="1000" dirty="0"/>
          </a:p>
        </p:txBody>
      </p:sp>
      <p:sp>
        <p:nvSpPr>
          <p:cNvPr id="70" name="Shape 68"/>
          <p:cNvSpPr/>
          <p:nvPr/>
        </p:nvSpPr>
        <p:spPr>
          <a:xfrm>
            <a:off x="4864608" y="1280160"/>
            <a:ext cx="1188720" cy="621792"/>
          </a:xfrm>
          <a:prstGeom prst="rect">
            <a:avLst/>
          </a:prstGeom>
          <a:solidFill>
            <a:srgbClr val="E8F5EE"/>
          </a:solidFill>
          <a:ln w="10160">
            <a:solidFill>
              <a:srgbClr val="5BA872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4864608" y="1316736"/>
            <a:ext cx="1188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B5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2800" dirty="0"/>
          </a:p>
        </p:txBody>
      </p:sp>
      <p:sp>
        <p:nvSpPr>
          <p:cNvPr id="72" name="Text 70"/>
          <p:cNvSpPr/>
          <p:nvPr/>
        </p:nvSpPr>
        <p:spPr>
          <a:xfrm>
            <a:off x="4864608" y="1636776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stages</a:t>
            </a:r>
            <a:endParaRPr lang="en-US" sz="1000" dirty="0"/>
          </a:p>
        </p:txBody>
      </p:sp>
      <p:sp>
        <p:nvSpPr>
          <p:cNvPr id="73" name="Shape 71"/>
          <p:cNvSpPr/>
          <p:nvPr/>
        </p:nvSpPr>
        <p:spPr>
          <a:xfrm>
            <a:off x="6181344" y="1280160"/>
            <a:ext cx="1261872" cy="621792"/>
          </a:xfrm>
          <a:prstGeom prst="rect">
            <a:avLst/>
          </a:prstGeom>
          <a:solidFill>
            <a:srgbClr val="E8F5EE"/>
          </a:solidFill>
          <a:ln w="10160">
            <a:solidFill>
              <a:srgbClr val="5BA872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6236208" y="1316736"/>
            <a:ext cx="11704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5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 min</a:t>
            </a:r>
            <a:endParaRPr lang="en-US" sz="1600" dirty="0"/>
          </a:p>
        </p:txBody>
      </p:sp>
      <p:sp>
        <p:nvSpPr>
          <p:cNvPr id="75" name="Text 73"/>
          <p:cNvSpPr/>
          <p:nvPr/>
        </p:nvSpPr>
        <p:spPr>
          <a:xfrm>
            <a:off x="6236208" y="1664208"/>
            <a:ext cx="117043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A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AD grp</a:t>
            </a:r>
            <a:endParaRPr lang="en-US" sz="900" dirty="0"/>
          </a:p>
        </p:txBody>
      </p:sp>
      <p:sp>
        <p:nvSpPr>
          <p:cNvPr id="76" name="Shape 74"/>
          <p:cNvSpPr/>
          <p:nvPr/>
        </p:nvSpPr>
        <p:spPr>
          <a:xfrm>
            <a:off x="7552944" y="1280160"/>
            <a:ext cx="1261872" cy="621792"/>
          </a:xfrm>
          <a:prstGeom prst="rect">
            <a:avLst/>
          </a:prstGeom>
          <a:solidFill>
            <a:srgbClr val="D4EAD9"/>
          </a:solidFill>
          <a:ln w="10160">
            <a:solidFill>
              <a:srgbClr val="D4EAD9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7607808" y="1316736"/>
            <a:ext cx="11704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5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~40 min (new AD grp)</a:t>
            </a:r>
            <a:endParaRPr lang="en-US" sz="1100" dirty="0"/>
          </a:p>
        </p:txBody>
      </p:sp>
      <p:sp>
        <p:nvSpPr>
          <p:cNvPr id="78" name="Text 76"/>
          <p:cNvSpPr/>
          <p:nvPr/>
        </p:nvSpPr>
        <p:spPr>
          <a:xfrm>
            <a:off x="7607808" y="1664208"/>
            <a:ext cx="117043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900" dirty="0"/>
          </a:p>
        </p:txBody>
      </p:sp>
      <p:sp>
        <p:nvSpPr>
          <p:cNvPr id="79" name="Shape 77"/>
          <p:cNvSpPr/>
          <p:nvPr/>
        </p:nvSpPr>
        <p:spPr>
          <a:xfrm>
            <a:off x="7552944" y="1463040"/>
            <a:ext cx="1335024" cy="256032"/>
          </a:xfrm>
          <a:prstGeom prst="rect">
            <a:avLst/>
          </a:prstGeom>
          <a:solidFill>
            <a:srgbClr val="2D7D4F"/>
          </a:solidFill>
          <a:ln w="12700">
            <a:solidFill>
              <a:srgbClr val="2D7D4F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7552944" y="1463040"/>
            <a:ext cx="13350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P-2 LIVE  ·  P-1 IN PROGRESS</a:t>
            </a:r>
            <a:endParaRPr lang="en-US" sz="800" dirty="0"/>
          </a:p>
        </p:txBody>
      </p:sp>
      <p:sp>
        <p:nvSpPr>
          <p:cNvPr id="81" name="Shape 79"/>
          <p:cNvSpPr/>
          <p:nvPr/>
        </p:nvSpPr>
        <p:spPr>
          <a:xfrm>
            <a:off x="4864608" y="2029968"/>
            <a:ext cx="4023360" cy="173736"/>
          </a:xfrm>
          <a:prstGeom prst="rect">
            <a:avLst/>
          </a:prstGeom>
          <a:solidFill>
            <a:srgbClr val="E8F5EE"/>
          </a:solidFill>
          <a:ln w="6350">
            <a:solidFill>
              <a:srgbClr val="D4EAD9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4901184" y="2034540"/>
            <a:ext cx="164592" cy="164592"/>
          </a:xfrm>
          <a:prstGeom prst="ellipse">
            <a:avLst/>
          </a:prstGeom>
          <a:solidFill>
            <a:srgbClr val="2D7D4F"/>
          </a:solidFill>
          <a:ln w="12700">
            <a:solidFill>
              <a:srgbClr val="2D7D4F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4901184" y="2034540"/>
            <a:ext cx="1645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700" dirty="0"/>
          </a:p>
        </p:txBody>
      </p:sp>
      <p:sp>
        <p:nvSpPr>
          <p:cNvPr id="84" name="Text 82"/>
          <p:cNvSpPr/>
          <p:nvPr/>
        </p:nvSpPr>
        <p:spPr>
          <a:xfrm>
            <a:off x="5120640" y="2029968"/>
            <a:ext cx="3218688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Input</a:t>
            </a:r>
            <a:endParaRPr lang="en-US" sz="950" dirty="0"/>
          </a:p>
        </p:txBody>
      </p:sp>
      <p:sp>
        <p:nvSpPr>
          <p:cNvPr id="85" name="Shape 83"/>
          <p:cNvSpPr/>
          <p:nvPr/>
        </p:nvSpPr>
        <p:spPr>
          <a:xfrm>
            <a:off x="8211312" y="2043684"/>
            <a:ext cx="676656" cy="146304"/>
          </a:xfrm>
          <a:prstGeom prst="rect">
            <a:avLst/>
          </a:prstGeom>
          <a:solidFill>
            <a:srgbClr val="2D7D4F"/>
          </a:solidFill>
          <a:ln w="12700">
            <a:solidFill>
              <a:srgbClr val="2D7D4F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8211312" y="2043684"/>
            <a:ext cx="676656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700" dirty="0"/>
          </a:p>
        </p:txBody>
      </p:sp>
      <p:sp>
        <p:nvSpPr>
          <p:cNvPr id="87" name="Shape 85"/>
          <p:cNvSpPr/>
          <p:nvPr/>
        </p:nvSpPr>
        <p:spPr>
          <a:xfrm>
            <a:off x="4864608" y="2221992"/>
            <a:ext cx="4023360" cy="173736"/>
          </a:xfrm>
          <a:prstGeom prst="rect">
            <a:avLst/>
          </a:prstGeom>
          <a:solidFill>
            <a:srgbClr val="F7F9F8"/>
          </a:solidFill>
          <a:ln w="6350">
            <a:solidFill>
              <a:srgbClr val="D4EAD9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4901184" y="2226564"/>
            <a:ext cx="164592" cy="164592"/>
          </a:xfrm>
          <a:prstGeom prst="ellipse">
            <a:avLst/>
          </a:prstGeom>
          <a:solidFill>
            <a:srgbClr val="3A6B4A"/>
          </a:solidFill>
          <a:ln w="12700">
            <a:solidFill>
              <a:srgbClr val="3A6B4A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4901184" y="2226564"/>
            <a:ext cx="1645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700" dirty="0"/>
          </a:p>
        </p:txBody>
      </p:sp>
      <p:sp>
        <p:nvSpPr>
          <p:cNvPr id="90" name="Text 88"/>
          <p:cNvSpPr/>
          <p:nvPr/>
        </p:nvSpPr>
        <p:spPr>
          <a:xfrm>
            <a:off x="5120640" y="2221992"/>
            <a:ext cx="3218688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AD Group</a:t>
            </a:r>
            <a:endParaRPr lang="en-US" sz="950" dirty="0"/>
          </a:p>
        </p:txBody>
      </p:sp>
      <p:sp>
        <p:nvSpPr>
          <p:cNvPr id="91" name="Shape 89"/>
          <p:cNvSpPr/>
          <p:nvPr/>
        </p:nvSpPr>
        <p:spPr>
          <a:xfrm>
            <a:off x="8211312" y="2235708"/>
            <a:ext cx="676656" cy="146304"/>
          </a:xfrm>
          <a:prstGeom prst="rect">
            <a:avLst/>
          </a:prstGeom>
          <a:solidFill>
            <a:srgbClr val="3A6B4A"/>
          </a:solidFill>
          <a:ln w="12700">
            <a:solidFill>
              <a:srgbClr val="3A6B4A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8211312" y="2235708"/>
            <a:ext cx="676656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</a:t>
            </a:r>
            <a:endParaRPr lang="en-US" sz="700" dirty="0"/>
          </a:p>
        </p:txBody>
      </p:sp>
      <p:sp>
        <p:nvSpPr>
          <p:cNvPr id="93" name="Shape 91"/>
          <p:cNvSpPr/>
          <p:nvPr/>
        </p:nvSpPr>
        <p:spPr>
          <a:xfrm>
            <a:off x="4864608" y="2414016"/>
            <a:ext cx="4023360" cy="173736"/>
          </a:xfrm>
          <a:prstGeom prst="rect">
            <a:avLst/>
          </a:prstGeom>
          <a:solidFill>
            <a:srgbClr val="E8F5EE"/>
          </a:solidFill>
          <a:ln w="6350">
            <a:solidFill>
              <a:srgbClr val="D4EAD9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4901184" y="2418588"/>
            <a:ext cx="164592" cy="164592"/>
          </a:xfrm>
          <a:prstGeom prst="ellipse">
            <a:avLst/>
          </a:prstGeom>
          <a:solidFill>
            <a:srgbClr val="3A6B4A"/>
          </a:solidFill>
          <a:ln w="12700">
            <a:solidFill>
              <a:srgbClr val="3A6B4A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4901184" y="2418588"/>
            <a:ext cx="1645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700" dirty="0"/>
          </a:p>
        </p:txBody>
      </p:sp>
      <p:sp>
        <p:nvSpPr>
          <p:cNvPr id="96" name="Text 94"/>
          <p:cNvSpPr/>
          <p:nvPr/>
        </p:nvSpPr>
        <p:spPr>
          <a:xfrm>
            <a:off x="5120640" y="2414016"/>
            <a:ext cx="3218688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GitHub Teams</a:t>
            </a:r>
            <a:endParaRPr lang="en-US" sz="950" dirty="0"/>
          </a:p>
        </p:txBody>
      </p:sp>
      <p:sp>
        <p:nvSpPr>
          <p:cNvPr id="97" name="Shape 95"/>
          <p:cNvSpPr/>
          <p:nvPr/>
        </p:nvSpPr>
        <p:spPr>
          <a:xfrm>
            <a:off x="8211312" y="2427732"/>
            <a:ext cx="676656" cy="146304"/>
          </a:xfrm>
          <a:prstGeom prst="rect">
            <a:avLst/>
          </a:prstGeom>
          <a:solidFill>
            <a:srgbClr val="3A6B4A"/>
          </a:solidFill>
          <a:ln w="12700">
            <a:solidFill>
              <a:srgbClr val="3A6B4A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8211312" y="2427732"/>
            <a:ext cx="676656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</a:t>
            </a:r>
            <a:endParaRPr lang="en-US" sz="700" dirty="0"/>
          </a:p>
        </p:txBody>
      </p:sp>
      <p:sp>
        <p:nvSpPr>
          <p:cNvPr id="99" name="Shape 97"/>
          <p:cNvSpPr/>
          <p:nvPr/>
        </p:nvSpPr>
        <p:spPr>
          <a:xfrm>
            <a:off x="4864608" y="2606040"/>
            <a:ext cx="4023360" cy="173736"/>
          </a:xfrm>
          <a:prstGeom prst="rect">
            <a:avLst/>
          </a:prstGeom>
          <a:solidFill>
            <a:srgbClr val="F7F9F8"/>
          </a:solidFill>
          <a:ln w="6350">
            <a:solidFill>
              <a:srgbClr val="D4EAD9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4901184" y="2610612"/>
            <a:ext cx="164592" cy="164592"/>
          </a:xfrm>
          <a:prstGeom prst="ellipse">
            <a:avLst/>
          </a:prstGeom>
          <a:solidFill>
            <a:srgbClr val="1B5E37"/>
          </a:solidFill>
          <a:ln w="12700">
            <a:solidFill>
              <a:srgbClr val="1B5E37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4901184" y="2610612"/>
            <a:ext cx="1645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700" dirty="0"/>
          </a:p>
        </p:txBody>
      </p:sp>
      <p:sp>
        <p:nvSpPr>
          <p:cNvPr id="102" name="Text 100"/>
          <p:cNvSpPr/>
          <p:nvPr/>
        </p:nvSpPr>
        <p:spPr>
          <a:xfrm>
            <a:off x="5120640" y="2606040"/>
            <a:ext cx="3218688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PaaS Repo</a:t>
            </a:r>
            <a:endParaRPr lang="en-US" sz="950" dirty="0"/>
          </a:p>
        </p:txBody>
      </p:sp>
      <p:sp>
        <p:nvSpPr>
          <p:cNvPr id="103" name="Shape 101"/>
          <p:cNvSpPr/>
          <p:nvPr/>
        </p:nvSpPr>
        <p:spPr>
          <a:xfrm>
            <a:off x="8211312" y="2619756"/>
            <a:ext cx="676656" cy="146304"/>
          </a:xfrm>
          <a:prstGeom prst="rect">
            <a:avLst/>
          </a:prstGeom>
          <a:solidFill>
            <a:srgbClr val="1B5E37"/>
          </a:solidFill>
          <a:ln w="12700">
            <a:solidFill>
              <a:srgbClr val="1B5E37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8211312" y="2619756"/>
            <a:ext cx="676656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Provisioning</a:t>
            </a:r>
            <a:endParaRPr lang="en-US" sz="700" dirty="0"/>
          </a:p>
        </p:txBody>
      </p:sp>
      <p:sp>
        <p:nvSpPr>
          <p:cNvPr id="105" name="Shape 103"/>
          <p:cNvSpPr/>
          <p:nvPr/>
        </p:nvSpPr>
        <p:spPr>
          <a:xfrm>
            <a:off x="4864608" y="2798064"/>
            <a:ext cx="4023360" cy="173736"/>
          </a:xfrm>
          <a:prstGeom prst="rect">
            <a:avLst/>
          </a:prstGeom>
          <a:solidFill>
            <a:srgbClr val="E8F5EE"/>
          </a:solidFill>
          <a:ln w="6350">
            <a:solidFill>
              <a:srgbClr val="D4EAD9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4901184" y="2802636"/>
            <a:ext cx="164592" cy="164592"/>
          </a:xfrm>
          <a:prstGeom prst="ellipse">
            <a:avLst/>
          </a:prstGeom>
          <a:solidFill>
            <a:srgbClr val="3A6B4A"/>
          </a:solidFill>
          <a:ln w="12700">
            <a:solidFill>
              <a:srgbClr val="3A6B4A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4901184" y="2802636"/>
            <a:ext cx="1645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700" dirty="0"/>
          </a:p>
        </p:txBody>
      </p:sp>
      <p:sp>
        <p:nvSpPr>
          <p:cNvPr id="108" name="Text 106"/>
          <p:cNvSpPr/>
          <p:nvPr/>
        </p:nvSpPr>
        <p:spPr>
          <a:xfrm>
            <a:off x="5120640" y="2798064"/>
            <a:ext cx="3218688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 Jenkins (K8s ns)</a:t>
            </a:r>
            <a:endParaRPr lang="en-US" sz="950" dirty="0"/>
          </a:p>
        </p:txBody>
      </p:sp>
      <p:sp>
        <p:nvSpPr>
          <p:cNvPr id="109" name="Shape 107"/>
          <p:cNvSpPr/>
          <p:nvPr/>
        </p:nvSpPr>
        <p:spPr>
          <a:xfrm>
            <a:off x="8211312" y="2811780"/>
            <a:ext cx="676656" cy="146304"/>
          </a:xfrm>
          <a:prstGeom prst="rect">
            <a:avLst/>
          </a:prstGeom>
          <a:solidFill>
            <a:srgbClr val="3A6B4A"/>
          </a:solidFill>
          <a:ln w="12700">
            <a:solidFill>
              <a:srgbClr val="3A6B4A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8211312" y="2811780"/>
            <a:ext cx="676656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</a:t>
            </a:r>
            <a:endParaRPr lang="en-US" sz="700" dirty="0"/>
          </a:p>
        </p:txBody>
      </p:sp>
      <p:sp>
        <p:nvSpPr>
          <p:cNvPr id="111" name="Shape 109"/>
          <p:cNvSpPr/>
          <p:nvPr/>
        </p:nvSpPr>
        <p:spPr>
          <a:xfrm>
            <a:off x="4864608" y="2990088"/>
            <a:ext cx="4023360" cy="173736"/>
          </a:xfrm>
          <a:prstGeom prst="rect">
            <a:avLst/>
          </a:prstGeom>
          <a:solidFill>
            <a:srgbClr val="F7F9F8"/>
          </a:solidFill>
          <a:ln w="6350">
            <a:solidFill>
              <a:srgbClr val="D4EAD9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4901184" y="2994660"/>
            <a:ext cx="164592" cy="164592"/>
          </a:xfrm>
          <a:prstGeom prst="ellipse">
            <a:avLst/>
          </a:prstGeom>
          <a:solidFill>
            <a:srgbClr val="1B5E37"/>
          </a:solidFill>
          <a:ln w="12700">
            <a:solidFill>
              <a:srgbClr val="1B5E37"/>
            </a:solidFill>
            <a:prstDash val="solid"/>
          </a:ln>
        </p:spPr>
      </p:sp>
      <p:sp>
        <p:nvSpPr>
          <p:cNvPr id="113" name="Text 111"/>
          <p:cNvSpPr/>
          <p:nvPr/>
        </p:nvSpPr>
        <p:spPr>
          <a:xfrm>
            <a:off x="4901184" y="2994660"/>
            <a:ext cx="1645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700" dirty="0"/>
          </a:p>
        </p:txBody>
      </p:sp>
      <p:sp>
        <p:nvSpPr>
          <p:cNvPr id="114" name="Text 112"/>
          <p:cNvSpPr/>
          <p:nvPr/>
        </p:nvSpPr>
        <p:spPr>
          <a:xfrm>
            <a:off x="5120640" y="2990088"/>
            <a:ext cx="3218688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Ops Repo</a:t>
            </a:r>
            <a:endParaRPr lang="en-US" sz="950" dirty="0"/>
          </a:p>
        </p:txBody>
      </p:sp>
      <p:sp>
        <p:nvSpPr>
          <p:cNvPr id="115" name="Shape 113"/>
          <p:cNvSpPr/>
          <p:nvPr/>
        </p:nvSpPr>
        <p:spPr>
          <a:xfrm>
            <a:off x="8211312" y="3003804"/>
            <a:ext cx="676656" cy="146304"/>
          </a:xfrm>
          <a:prstGeom prst="rect">
            <a:avLst/>
          </a:prstGeom>
          <a:solidFill>
            <a:srgbClr val="1B5E37"/>
          </a:solidFill>
          <a:ln w="12700">
            <a:solidFill>
              <a:srgbClr val="1B5E37"/>
            </a:solidFill>
            <a:prstDash val="solid"/>
          </a:ln>
        </p:spPr>
      </p:sp>
      <p:sp>
        <p:nvSpPr>
          <p:cNvPr id="116" name="Text 114"/>
          <p:cNvSpPr/>
          <p:nvPr/>
        </p:nvSpPr>
        <p:spPr>
          <a:xfrm>
            <a:off x="8211312" y="3003804"/>
            <a:ext cx="676656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Provisioning</a:t>
            </a:r>
            <a:endParaRPr lang="en-US" sz="700" dirty="0"/>
          </a:p>
        </p:txBody>
      </p:sp>
      <p:sp>
        <p:nvSpPr>
          <p:cNvPr id="117" name="Shape 115"/>
          <p:cNvSpPr/>
          <p:nvPr/>
        </p:nvSpPr>
        <p:spPr>
          <a:xfrm>
            <a:off x="4864608" y="3182112"/>
            <a:ext cx="4023360" cy="173736"/>
          </a:xfrm>
          <a:prstGeom prst="rect">
            <a:avLst/>
          </a:prstGeom>
          <a:solidFill>
            <a:srgbClr val="E8F5EE"/>
          </a:solidFill>
          <a:ln w="6350">
            <a:solidFill>
              <a:srgbClr val="D4EAD9"/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4901184" y="3186684"/>
            <a:ext cx="164592" cy="164592"/>
          </a:xfrm>
          <a:prstGeom prst="ellipse">
            <a:avLst/>
          </a:prstGeom>
          <a:solidFill>
            <a:srgbClr val="3A6B4A"/>
          </a:solidFill>
          <a:ln w="12700">
            <a:solidFill>
              <a:srgbClr val="3A6B4A"/>
            </a:solidFill>
            <a:prstDash val="solid"/>
          </a:ln>
        </p:spPr>
      </p:sp>
      <p:sp>
        <p:nvSpPr>
          <p:cNvPr id="119" name="Text 117"/>
          <p:cNvSpPr/>
          <p:nvPr/>
        </p:nvSpPr>
        <p:spPr>
          <a:xfrm>
            <a:off x="4901184" y="3186684"/>
            <a:ext cx="1645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700" dirty="0"/>
          </a:p>
        </p:txBody>
      </p:sp>
      <p:sp>
        <p:nvSpPr>
          <p:cNvPr id="120" name="Text 118"/>
          <p:cNvSpPr/>
          <p:nvPr/>
        </p:nvSpPr>
        <p:spPr>
          <a:xfrm>
            <a:off x="5120640" y="3182112"/>
            <a:ext cx="3218688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Jenkins Folder</a:t>
            </a:r>
            <a:endParaRPr lang="en-US" sz="950" dirty="0"/>
          </a:p>
        </p:txBody>
      </p:sp>
      <p:sp>
        <p:nvSpPr>
          <p:cNvPr id="121" name="Shape 119"/>
          <p:cNvSpPr/>
          <p:nvPr/>
        </p:nvSpPr>
        <p:spPr>
          <a:xfrm>
            <a:off x="8211312" y="3195828"/>
            <a:ext cx="676656" cy="146304"/>
          </a:xfrm>
          <a:prstGeom prst="rect">
            <a:avLst/>
          </a:prstGeom>
          <a:solidFill>
            <a:srgbClr val="3A6B4A"/>
          </a:solidFill>
          <a:ln w="12700">
            <a:solidFill>
              <a:srgbClr val="3A6B4A"/>
            </a:solidFill>
            <a:prstDash val="solid"/>
          </a:ln>
        </p:spPr>
      </p:sp>
      <p:sp>
        <p:nvSpPr>
          <p:cNvPr id="122" name="Text 120"/>
          <p:cNvSpPr/>
          <p:nvPr/>
        </p:nvSpPr>
        <p:spPr>
          <a:xfrm>
            <a:off x="8211312" y="3195828"/>
            <a:ext cx="676656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</a:t>
            </a:r>
            <a:endParaRPr lang="en-US" sz="700" dirty="0"/>
          </a:p>
        </p:txBody>
      </p:sp>
      <p:sp>
        <p:nvSpPr>
          <p:cNvPr id="123" name="Shape 121"/>
          <p:cNvSpPr/>
          <p:nvPr/>
        </p:nvSpPr>
        <p:spPr>
          <a:xfrm>
            <a:off x="4864608" y="3374136"/>
            <a:ext cx="4023360" cy="173736"/>
          </a:xfrm>
          <a:prstGeom prst="rect">
            <a:avLst/>
          </a:prstGeom>
          <a:solidFill>
            <a:srgbClr val="F7F9F8"/>
          </a:solidFill>
          <a:ln w="6350">
            <a:solidFill>
              <a:srgbClr val="D4EAD9"/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4901184" y="3378708"/>
            <a:ext cx="164592" cy="164592"/>
          </a:xfrm>
          <a:prstGeom prst="ellipse">
            <a:avLst/>
          </a:prstGeom>
          <a:solidFill>
            <a:srgbClr val="2D7D4F"/>
          </a:solidFill>
          <a:ln w="12700">
            <a:solidFill>
              <a:srgbClr val="2D7D4F"/>
            </a:solidFill>
            <a:prstDash val="solid"/>
          </a:ln>
        </p:spPr>
      </p:sp>
      <p:sp>
        <p:nvSpPr>
          <p:cNvPr id="125" name="Text 123"/>
          <p:cNvSpPr/>
          <p:nvPr/>
        </p:nvSpPr>
        <p:spPr>
          <a:xfrm>
            <a:off x="4901184" y="3378708"/>
            <a:ext cx="1645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700" dirty="0"/>
          </a:p>
        </p:txBody>
      </p:sp>
      <p:sp>
        <p:nvSpPr>
          <p:cNvPr id="126" name="Text 124"/>
          <p:cNvSpPr/>
          <p:nvPr/>
        </p:nvSpPr>
        <p:spPr>
          <a:xfrm>
            <a:off x="5120640" y="3374136"/>
            <a:ext cx="3218688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Vault Repo</a:t>
            </a:r>
            <a:endParaRPr lang="en-US" sz="950" dirty="0"/>
          </a:p>
        </p:txBody>
      </p:sp>
      <p:sp>
        <p:nvSpPr>
          <p:cNvPr id="127" name="Shape 125"/>
          <p:cNvSpPr/>
          <p:nvPr/>
        </p:nvSpPr>
        <p:spPr>
          <a:xfrm>
            <a:off x="8211312" y="3387852"/>
            <a:ext cx="676656" cy="146304"/>
          </a:xfrm>
          <a:prstGeom prst="rect">
            <a:avLst/>
          </a:prstGeom>
          <a:solidFill>
            <a:srgbClr val="2D7D4F"/>
          </a:solidFill>
          <a:ln w="12700">
            <a:solidFill>
              <a:srgbClr val="2D7D4F"/>
            </a:solidFill>
            <a:prstDash val="solid"/>
          </a:ln>
        </p:spPr>
      </p:sp>
      <p:sp>
        <p:nvSpPr>
          <p:cNvPr id="128" name="Text 126"/>
          <p:cNvSpPr/>
          <p:nvPr/>
        </p:nvSpPr>
        <p:spPr>
          <a:xfrm>
            <a:off x="8211312" y="3387852"/>
            <a:ext cx="676656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Vault</a:t>
            </a:r>
            <a:endParaRPr lang="en-US" sz="700" dirty="0"/>
          </a:p>
        </p:txBody>
      </p:sp>
      <p:sp>
        <p:nvSpPr>
          <p:cNvPr id="129" name="Shape 127"/>
          <p:cNvSpPr/>
          <p:nvPr/>
        </p:nvSpPr>
        <p:spPr>
          <a:xfrm>
            <a:off x="4864608" y="3566160"/>
            <a:ext cx="4023360" cy="173736"/>
          </a:xfrm>
          <a:prstGeom prst="rect">
            <a:avLst/>
          </a:prstGeom>
          <a:solidFill>
            <a:srgbClr val="E8F5EE"/>
          </a:solidFill>
          <a:ln w="6350">
            <a:solidFill>
              <a:srgbClr val="D4EAD9"/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4901184" y="3570732"/>
            <a:ext cx="164592" cy="164592"/>
          </a:xfrm>
          <a:prstGeom prst="ellipse">
            <a:avLst/>
          </a:prstGeom>
          <a:solidFill>
            <a:srgbClr val="2D7D4F"/>
          </a:solidFill>
          <a:ln w="12700">
            <a:solidFill>
              <a:srgbClr val="2D7D4F"/>
            </a:solidFill>
            <a:prstDash val="solid"/>
          </a:ln>
        </p:spPr>
      </p:sp>
      <p:sp>
        <p:nvSpPr>
          <p:cNvPr id="131" name="Text 129"/>
          <p:cNvSpPr/>
          <p:nvPr/>
        </p:nvSpPr>
        <p:spPr>
          <a:xfrm>
            <a:off x="4901184" y="3570732"/>
            <a:ext cx="1645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700" dirty="0"/>
          </a:p>
        </p:txBody>
      </p:sp>
      <p:sp>
        <p:nvSpPr>
          <p:cNvPr id="132" name="Text 130"/>
          <p:cNvSpPr/>
          <p:nvPr/>
        </p:nvSpPr>
        <p:spPr>
          <a:xfrm>
            <a:off x="5120640" y="3566160"/>
            <a:ext cx="3218688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Vault Pipeline</a:t>
            </a:r>
            <a:endParaRPr lang="en-US" sz="950" dirty="0"/>
          </a:p>
        </p:txBody>
      </p:sp>
      <p:sp>
        <p:nvSpPr>
          <p:cNvPr id="133" name="Shape 131"/>
          <p:cNvSpPr/>
          <p:nvPr/>
        </p:nvSpPr>
        <p:spPr>
          <a:xfrm>
            <a:off x="8211312" y="3579876"/>
            <a:ext cx="676656" cy="146304"/>
          </a:xfrm>
          <a:prstGeom prst="rect">
            <a:avLst/>
          </a:prstGeom>
          <a:solidFill>
            <a:srgbClr val="2D7D4F"/>
          </a:solidFill>
          <a:ln w="12700">
            <a:solidFill>
              <a:srgbClr val="2D7D4F"/>
            </a:solidFill>
            <a:prstDash val="solid"/>
          </a:ln>
        </p:spPr>
      </p:sp>
      <p:sp>
        <p:nvSpPr>
          <p:cNvPr id="134" name="Text 132"/>
          <p:cNvSpPr/>
          <p:nvPr/>
        </p:nvSpPr>
        <p:spPr>
          <a:xfrm>
            <a:off x="8211312" y="3579876"/>
            <a:ext cx="676656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Vault</a:t>
            </a:r>
            <a:endParaRPr lang="en-US" sz="700" dirty="0"/>
          </a:p>
        </p:txBody>
      </p:sp>
      <p:sp>
        <p:nvSpPr>
          <p:cNvPr id="135" name="Shape 133"/>
          <p:cNvSpPr/>
          <p:nvPr/>
        </p:nvSpPr>
        <p:spPr>
          <a:xfrm>
            <a:off x="4864608" y="3758184"/>
            <a:ext cx="4023360" cy="173736"/>
          </a:xfrm>
          <a:prstGeom prst="rect">
            <a:avLst/>
          </a:prstGeom>
          <a:solidFill>
            <a:srgbClr val="F7F9F8"/>
          </a:solidFill>
          <a:ln w="6350">
            <a:solidFill>
              <a:srgbClr val="D4EAD9"/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4901184" y="3762756"/>
            <a:ext cx="164592" cy="164592"/>
          </a:xfrm>
          <a:prstGeom prst="ellipse">
            <a:avLst/>
          </a:prstGeom>
          <a:solidFill>
            <a:srgbClr val="5BA872"/>
          </a:solidFill>
          <a:ln w="12700">
            <a:solidFill>
              <a:srgbClr val="5BA872"/>
            </a:solidFill>
            <a:prstDash val="solid"/>
          </a:ln>
        </p:spPr>
      </p:sp>
      <p:sp>
        <p:nvSpPr>
          <p:cNvPr id="137" name="Text 135"/>
          <p:cNvSpPr/>
          <p:nvPr/>
        </p:nvSpPr>
        <p:spPr>
          <a:xfrm>
            <a:off x="4901184" y="3762756"/>
            <a:ext cx="1645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700" dirty="0"/>
          </a:p>
        </p:txBody>
      </p:sp>
      <p:sp>
        <p:nvSpPr>
          <p:cNvPr id="138" name="Text 136"/>
          <p:cNvSpPr/>
          <p:nvPr/>
        </p:nvSpPr>
        <p:spPr>
          <a:xfrm>
            <a:off x="5120640" y="3758184"/>
            <a:ext cx="3218688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Confirmation</a:t>
            </a:r>
            <a:endParaRPr lang="en-US" sz="950" dirty="0"/>
          </a:p>
        </p:txBody>
      </p:sp>
      <p:sp>
        <p:nvSpPr>
          <p:cNvPr id="139" name="Shape 137"/>
          <p:cNvSpPr/>
          <p:nvPr/>
        </p:nvSpPr>
        <p:spPr>
          <a:xfrm>
            <a:off x="8211312" y="3771900"/>
            <a:ext cx="676656" cy="146304"/>
          </a:xfrm>
          <a:prstGeom prst="rect">
            <a:avLst/>
          </a:prstGeom>
          <a:solidFill>
            <a:srgbClr val="5BA872"/>
          </a:solidFill>
          <a:ln w="12700">
            <a:solidFill>
              <a:srgbClr val="5BA872"/>
            </a:solidFill>
            <a:prstDash val="solid"/>
          </a:ln>
        </p:spPr>
      </p:sp>
      <p:sp>
        <p:nvSpPr>
          <p:cNvPr id="140" name="Text 138"/>
          <p:cNvSpPr/>
          <p:nvPr/>
        </p:nvSpPr>
        <p:spPr>
          <a:xfrm>
            <a:off x="8211312" y="3771900"/>
            <a:ext cx="676656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 ✓</a:t>
            </a:r>
            <a:endParaRPr lang="en-US" sz="700" dirty="0"/>
          </a:p>
        </p:txBody>
      </p:sp>
      <p:sp>
        <p:nvSpPr>
          <p:cNvPr id="141" name="Shape 139"/>
          <p:cNvSpPr/>
          <p:nvPr/>
        </p:nvSpPr>
        <p:spPr>
          <a:xfrm>
            <a:off x="4736592" y="4023360"/>
            <a:ext cx="4279392" cy="475488"/>
          </a:xfrm>
          <a:prstGeom prst="rect">
            <a:avLst/>
          </a:prstGeom>
          <a:solidFill>
            <a:srgbClr val="0F3D23"/>
          </a:solidFill>
          <a:ln w="12700">
            <a:solidFill>
              <a:srgbClr val="0F3D23"/>
            </a:solidFill>
            <a:prstDash val="solid"/>
          </a:ln>
        </p:spPr>
      </p:sp>
      <p:sp>
        <p:nvSpPr>
          <p:cNvPr id="142" name="Text 140"/>
          <p:cNvSpPr/>
          <p:nvPr/>
        </p:nvSpPr>
        <p:spPr>
          <a:xfrm>
            <a:off x="4864608" y="4059936"/>
            <a:ext cx="4096512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Namespace · Repos · Jenkins · Vault — all auto-configured</a:t>
            </a:r>
            <a:endParaRPr lang="en-US" sz="950" dirty="0"/>
          </a:p>
        </p:txBody>
      </p:sp>
      <p:sp>
        <p:nvSpPr>
          <p:cNvPr id="143" name="Text 141"/>
          <p:cNvSpPr/>
          <p:nvPr/>
        </p:nvSpPr>
        <p:spPr>
          <a:xfrm>
            <a:off x="4864608" y="4208526"/>
            <a:ext cx="4096512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SYS ID → App Key auto-fills → cluster → done</a:t>
            </a:r>
            <a:endParaRPr lang="en-US" sz="950" dirty="0"/>
          </a:p>
        </p:txBody>
      </p:sp>
      <p:sp>
        <p:nvSpPr>
          <p:cNvPr id="144" name="Text 142"/>
          <p:cNvSpPr/>
          <p:nvPr/>
        </p:nvSpPr>
        <p:spPr>
          <a:xfrm>
            <a:off x="4864608" y="4357116"/>
            <a:ext cx="4096512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Resume from failed stage — no restart</a:t>
            </a:r>
            <a:endParaRPr lang="en-US" sz="950" dirty="0"/>
          </a:p>
        </p:txBody>
      </p:sp>
      <p:sp>
        <p:nvSpPr>
          <p:cNvPr id="145" name="Shape 143"/>
          <p:cNvSpPr/>
          <p:nvPr/>
        </p:nvSpPr>
        <p:spPr>
          <a:xfrm>
            <a:off x="4572000" y="804672"/>
            <a:ext cx="0" cy="3602736"/>
          </a:xfrm>
          <a:prstGeom prst="line">
            <a:avLst/>
          </a:prstGeom>
          <a:noFill/>
          <a:ln w="12700">
            <a:solidFill>
              <a:srgbClr val="D4EAD9"/>
            </a:solidFill>
            <a:prstDash val="dash"/>
          </a:ln>
        </p:spPr>
      </p:sp>
      <p:sp>
        <p:nvSpPr>
          <p:cNvPr id="146" name="Shape 144"/>
          <p:cNvSpPr/>
          <p:nvPr/>
        </p:nvSpPr>
        <p:spPr>
          <a:xfrm>
            <a:off x="201168" y="4572000"/>
            <a:ext cx="8741664" cy="402336"/>
          </a:xfrm>
          <a:prstGeom prst="rect">
            <a:avLst/>
          </a:prstGeom>
          <a:solidFill>
            <a:srgbClr val="1B5E37"/>
          </a:solidFill>
          <a:ln w="12700">
            <a:solidFill>
              <a:srgbClr val="1B5E37"/>
            </a:solidFill>
            <a:prstDash val="solid"/>
          </a:ln>
        </p:spPr>
      </p:sp>
      <p:sp>
        <p:nvSpPr>
          <p:cNvPr id="147" name="Text 145"/>
          <p:cNvSpPr/>
          <p:nvPr/>
        </p:nvSpPr>
        <p:spPr>
          <a:xfrm>
            <a:off x="320040" y="4572000"/>
            <a:ext cx="8503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UC1: Repo Automation — ✔ LIVE (all envs)     |     UC2: K8s Namespace Onboarding — ✔ P-2 LIVE  ·  P-1 In Progress  ·  Prod Planned</a:t>
            </a:r>
            <a:endParaRPr lang="en-US" sz="1150" dirty="0"/>
          </a:p>
        </p:txBody>
      </p:sp>
      <p:sp>
        <p:nvSpPr>
          <p:cNvPr id="148" name="Shape 146"/>
          <p:cNvSpPr/>
          <p:nvPr/>
        </p:nvSpPr>
        <p:spPr>
          <a:xfrm>
            <a:off x="0" y="5084064"/>
            <a:ext cx="9144000" cy="54864"/>
          </a:xfrm>
          <a:prstGeom prst="rect">
            <a:avLst/>
          </a:prstGeom>
          <a:solidFill>
            <a:srgbClr val="1B5E37"/>
          </a:solidFill>
          <a:ln w="12700">
            <a:solidFill>
              <a:srgbClr val="1B5E37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2026-05-15T20:08:29Z</dcterms:created>
  <dcterms:modified xsi:type="dcterms:W3CDTF">2026-05-15T20:08:29Z</dcterms:modified>
</cp:coreProperties>
</file>