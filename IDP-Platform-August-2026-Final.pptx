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2" r:id="rId30"/>
    <p:sldId id="263" r:id="rId31"/>
    <p:sldId id="264" r:id="rId33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30" Type="http://schemas.openxmlformats.org/officeDocument/2006/relationships/slide" Target="slides/slide7.xml"/>
<Relationship Id="rId31" Type="http://schemas.openxmlformats.org/officeDocument/2006/relationships/slide" Target="slides/slide8.xml"/>
<Relationship Id="rId32" Type="http://schemas.openxmlformats.org/officeDocument/2006/relationships/slide" Target="slides/slide9.xml"/>
<Relationship Id="rId33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Diagram: catalog-info.yaml (left lane) → GitHub Actions validation → IDP_Catalog Repo → IDP Portal. now.yaml (right lane) → RapDev Workflow Sync → ServiceNow CMDB → ITOM. Centre rail shows they diverge from the same master branch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Source repos → GitHub Actions validation → IDP_Catalog central repo → IDP Portal tabs (Overview, CI/CD, Code Quality, Security, K8s, Observability, TechDocs). Read-only views by audience: Engineers, Architects, SRE.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11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Live.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33101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developer workflows live in P-1. K8s pod self-service delivered. Wave 2 firmly underway.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347472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60350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17720" y="1399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105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in P-1 · Wave 1 complete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30568" y="347472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67728" y="60350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K8s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22008" y="1399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SELF-SERVICE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13448" y="1737360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6922008" y="18105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· Start · Stop services live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256032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1772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FIRMLY UNDERWAY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950208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023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CMDB seeding · Cloud parity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30568" y="256032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67728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22008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CONVERSION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13448" y="3950208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6922008" y="4023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parity is the next gate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26280" y="47731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4773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 + K8s SELF-SERVICE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workflows · pod restart/start/stop live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477408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477408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+ CATALOG ARCHITECTURE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23760" y="477408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files power two value streams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26280" y="477499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19472" y="4774997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IN PROGRESS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23760" y="4774997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parity · catalog · CMDB seeding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4775911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19472" y="4775911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23760" y="477591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+ K8s pod self-service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62272" y="4498848"/>
            <a:ext cx="4681728" cy="672084"/>
          </a:xfrm>
          <a:prstGeom prst="rect">
            <a:avLst/>
          </a:prstGeom>
          <a:solidFill>
            <a:srgbClr val="F7FCF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454456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 + K8s Self-Service  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+ Catalog  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Progress  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· COMPLETE · ALL LIVE IN P-1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Wave 2 underway — catalog, CMDB, K8s pod self-service expanding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+ K8s Self-Service — Delivered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high-value developer workflows live in P-1. K8s pod management now self-service — no kubectl, no ticket, no wait.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1554480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645920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6459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9264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225856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from approved template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" y="243687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· team permissions · webhooks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" y="261518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· fully automated from IDP 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8304" y="1554480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645920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64592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1645920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16459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31536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28032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9632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runtime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71232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1232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on fail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82896" y="225856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pipeline: namespace, AD groups, repos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82896" y="243687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repo · Jenkins folder · Vault repo + pipeline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82896" y="261518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(existing AD) · ~40 min (new AD) · resume on fail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2944368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03580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0358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0" y="3035808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0" y="303580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69264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37360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No wait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08960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built-in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0624" y="364845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 · no ServiceNow ticket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0624" y="382676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from IDP self-service form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20624" y="400507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built-in before provisioning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18304" y="2944368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28032" y="303580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56" name="Text 54"/>
          <p:cNvSpPr/>
          <p:nvPr/>
        </p:nvSpPr>
        <p:spPr>
          <a:xfrm>
            <a:off x="4828032" y="30358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19872" y="3035808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58" name="Text 56"/>
          <p:cNvSpPr/>
          <p:nvPr/>
        </p:nvSpPr>
        <p:spPr>
          <a:xfrm>
            <a:off x="8119872" y="303580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31536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828032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99632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9632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71232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71232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82896" y="364845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via SailPoint API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882896" y="382676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group and user before assignment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82896" y="400507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 on completion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56032" y="4261104"/>
            <a:ext cx="8631936" cy="493776"/>
          </a:xfrm>
          <a:prstGeom prst="roundRect">
            <a:avLst>
              <a:gd name="adj" fmla="val 16667"/>
            </a:avLst>
          </a:prstGeom>
          <a:solidFill>
            <a:srgbClr val="F0F9F4"/>
          </a:solidFill>
          <a:ln w="19050">
            <a:solidFill>
              <a:srgbClr val="1B5E3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7472" y="433425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1B5E37"/>
          </a:solidFill>
          <a:ln/>
        </p:spPr>
      </p:sp>
      <p:sp>
        <p:nvSpPr>
          <p:cNvPr id="71" name="Text 69"/>
          <p:cNvSpPr/>
          <p:nvPr/>
        </p:nvSpPr>
        <p:spPr>
          <a:xfrm>
            <a:off x="347472" y="4334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371600" y="4334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Self-Service — Restart Services · Start Services · Stop Services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371600" y="45902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kubectl · No ticket · No platform team — developers manage pod lifecycle directly from IDP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15200" y="4334256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5BA872"/>
          </a:solidFill>
          <a:ln/>
        </p:spPr>
      </p:sp>
      <p:sp>
        <p:nvSpPr>
          <p:cNvPr id="75" name="Text 73"/>
          <p:cNvSpPr/>
          <p:nvPr/>
        </p:nvSpPr>
        <p:spPr>
          <a:xfrm>
            <a:off x="7315200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P-1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SERVICE MAPPING &amp; CATALOG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· catalog-info.yaml · Master Branch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 · Two Files · Two Value Streams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Repo, Two Files, Two Value Streams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catalog-info.yaml feeds the Developer Portal · now.yaml feeds ServiceNow CMDB — same commit, independent governed pipelines.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389888"/>
            <a:ext cx="8631936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IDP CATALOG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catalog-info.yaml becomes the Developer Portal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are read-only views — developers use them to find context, not to edit data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catalog-info.yaml commit triggers validation, lands in the central IDP_Catalog repo, and surfaces as a discoverable developer portal page.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389888"/>
            <a:ext cx="8631936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IN PROGRESS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delivering: catalog · CMDB seeding · public cloud parity · portal consolidation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— Firmly Underway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streams in parallel: public cloud parity, catalog development, and service mapping via now.yaml.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1536192"/>
            <a:ext cx="2788920" cy="3182112"/>
          </a:xfrm>
          <a:prstGeom prst="roundRect">
            <a:avLst>
              <a:gd name="adj" fmla="val 2951"/>
            </a:avLst>
          </a:prstGeom>
          <a:solidFill>
            <a:srgbClr val="F0F9F4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" y="1627632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2D7D4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16276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Conversion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" y="1956816"/>
            <a:ext cx="2569464" cy="274320"/>
          </a:xfrm>
          <a:prstGeom prst="roundRect">
            <a:avLst>
              <a:gd name="adj" fmla="val 16667"/>
            </a:avLst>
          </a:prstGeom>
          <a:solidFill>
            <a:srgbClr val="2D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195681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" y="23317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→ IDP workflow conversion: 14 of 20 complete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4904" y="28803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gate: payload submission 1:1 parity with legacy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" y="342900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automation workflow-driven · native IDP reporting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4904" y="397764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(chatbot-assisted onboarding) deferred to later wave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1536192"/>
            <a:ext cx="2788920" cy="3182112"/>
          </a:xfrm>
          <a:prstGeom prst="roundRect">
            <a:avLst>
              <a:gd name="adj" fmla="val 2951"/>
            </a:avLst>
          </a:prstGeom>
          <a:solidFill>
            <a:srgbClr val="F2F4F7"/>
          </a:solidFill>
          <a:ln w="19050">
            <a:solidFill>
              <a:srgbClr val="1C35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627632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1C3557"/>
          </a:solidFill>
          <a:ln/>
        </p:spPr>
      </p:sp>
      <p:sp>
        <p:nvSpPr>
          <p:cNvPr id="21" name="Text 19"/>
          <p:cNvSpPr/>
          <p:nvPr/>
        </p:nvSpPr>
        <p:spPr>
          <a:xfrm>
            <a:off x="3264408" y="16276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Development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64408" y="1956816"/>
            <a:ext cx="2569464" cy="274320"/>
          </a:xfrm>
          <a:prstGeom prst="roundRect">
            <a:avLst>
              <a:gd name="adj" fmla="val 16667"/>
            </a:avLst>
          </a:prstGeom>
          <a:solidFill>
            <a:srgbClr val="1C3557"/>
          </a:solidFill>
          <a:ln/>
        </p:spPr>
      </p:sp>
      <p:sp>
        <p:nvSpPr>
          <p:cNvPr id="24" name="Text 22"/>
          <p:cNvSpPr/>
          <p:nvPr/>
        </p:nvSpPr>
        <p:spPr>
          <a:xfrm>
            <a:off x="3264408" y="195681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00984" y="23317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catalog-info.yaml architecture designed and validated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00984" y="28803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seeding pipeline under development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00984" y="342900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validation workflow in build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00984" y="397764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catalog live August 2026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536192"/>
            <a:ext cx="2788920" cy="3182112"/>
          </a:xfrm>
          <a:prstGeom prst="roundRect">
            <a:avLst>
              <a:gd name="adj" fmla="val 2951"/>
            </a:avLst>
          </a:prstGeom>
          <a:solidFill>
            <a:srgbClr val="E8F5EE"/>
          </a:solidFill>
          <a:ln w="19050">
            <a:solidFill>
              <a:srgbClr val="1B5E3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0488" y="1627632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1B5E37"/>
          </a:solidFill>
          <a:ln/>
        </p:spPr>
      </p:sp>
      <p:sp>
        <p:nvSpPr>
          <p:cNvPr id="31" name="Text 29"/>
          <p:cNvSpPr/>
          <p:nvPr/>
        </p:nvSpPr>
        <p:spPr>
          <a:xfrm>
            <a:off x="6190488" y="16276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11112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Service Mapping (now.yaml)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90488" y="1956816"/>
            <a:ext cx="2569464" cy="274320"/>
          </a:xfrm>
          <a:prstGeom prst="roundRect">
            <a:avLst>
              <a:gd name="adj" fmla="val 16667"/>
            </a:avLst>
          </a:prstGeom>
          <a:solidFill>
            <a:srgbClr val="1B5E37"/>
          </a:solidFill>
          <a:ln/>
        </p:spPr>
      </p:sp>
      <p:sp>
        <p:nvSpPr>
          <p:cNvPr id="34" name="Text 32"/>
          <p:cNvSpPr/>
          <p:nvPr/>
        </p:nvSpPr>
        <p:spPr>
          <a:xfrm>
            <a:off x="6190488" y="195681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23317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schema validated against 5 CI types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27064" y="28803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 and Loan Application used as real test cases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27064" y="342900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RapDev sync tested end-to-end with ServiceNow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27064" y="397764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→ informing IDP workflow build next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4645152"/>
            <a:ext cx="8686800" cy="347472"/>
          </a:xfrm>
          <a:prstGeom prst="roundRect">
            <a:avLst>
              <a:gd name="adj" fmla="val 23684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Foundations:  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(4/4 live · K8s pod self-service live)  ·  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progress · August target)  ·  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(planned · Q4)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Management  +  K8s Pod Self-Service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16459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17320"/>
            <a:ext cx="4160520" cy="3218688"/>
          </a:xfrm>
          <a:prstGeom prst="roundRect">
            <a:avLst>
              <a:gd name="adj" fmla="val 3409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572768"/>
            <a:ext cx="384048" cy="384048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8136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AD Groups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" y="2011680"/>
            <a:ext cx="37490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1214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new Azure AD group from the IDP self-service form — no ticket, no wait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279806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users individually or in bulk — validation before every assignment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" y="34747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 to developer on completion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433425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5BA872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4334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17320"/>
            <a:ext cx="4160520" cy="3218688"/>
          </a:xfrm>
          <a:prstGeom prst="roundRect">
            <a:avLst>
              <a:gd name="adj" fmla="val 3409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572768"/>
            <a:ext cx="384048" cy="384048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77256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Self-Service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01768" y="2011680"/>
            <a:ext cx="37490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1214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service catalog page for a target 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01768" y="279806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 — trigger a rolling restart of pods, no kubectl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34747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service — lifecycle control from the IDP portal directly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33425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5BA872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334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live screen-share now...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· PUBLIC CLOUD · DELIVERY PROGRESS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8229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target: full 25-workflow parity with legacy system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— Wave 3 Delivery Status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25 workflows converted · payload match progressing · edge cases and custom capabilities in focus.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41732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E8F5EE"/>
          </a:solidFill>
          <a:ln w="19050">
            <a:solidFill>
              <a:srgbClr val="1B5E3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CONVERTED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231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workflow build complete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10128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MATCH DONE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2231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parity confirmed end-to-end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44768" y="141732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54496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 PROGRESS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54496" y="2231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comparison underway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615184"/>
            <a:ext cx="8631936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615184"/>
            <a:ext cx="1726387" cy="347472"/>
          </a:xfrm>
          <a:prstGeom prst="roundRect">
            <a:avLst>
              <a:gd name="adj" fmla="val 13158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633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match: 5 / 25 complete (20%)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25 / 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072384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Edge Cases — Harness Support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6432" y="3163824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1638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" y="34381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25 workflows have edge cases requiring Harness platform support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" y="343905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raised with Harness engineering team — resolution tracked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2336" y="3439973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 documented; not blocking payload parity progress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3072384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F2F4F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 Generation (Non-Harness Data)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27264" y="3163824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27264" y="31638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34381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workflow pulls data from external APIs (not native Harness data)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73168" y="343905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 integration layer under development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3439973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automated report delivery via IDP workflow trigger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950208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F2F4F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Custom Chatbot Integration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56432" y="4041648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40416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02336" y="43159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Chatbot-assisted onboarding path requires custom IDP integration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02336" y="431688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— build underway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02336" y="4317797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from Wave 2; now actively resourced in Wave 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26864" y="3950208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Remaining 2 Workflows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27264" y="4041648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7264" y="40416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73168" y="43159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 pending build — scoped and sequenced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73168" y="431688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on edge case resolution before completion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73168" y="4317797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25 complete before Wave 3 close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Self-Service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· Start · Stop — from the IDP portal, no kubectl, no ticket, no wait.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572768"/>
            <a:ext cx="2697480" cy="2852928"/>
          </a:xfrm>
          <a:prstGeom prst="roundRect">
            <a:avLst>
              <a:gd name="adj" fmla="val 4068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438912" cy="43891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23774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883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IDP catalog · find your target service · open the catalog 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3310128"/>
            <a:ext cx="2450592" cy="877824"/>
          </a:xfrm>
          <a:prstGeom prst="roundRect">
            <a:avLst>
              <a:gd name="adj" fmla="val 6250"/>
            </a:avLst>
          </a:prstGeom>
          <a:solidFill>
            <a:srgbClr val="1B5E37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364992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 shows all K8s-hosted services with live pod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36976" y="1572768"/>
            <a:ext cx="2697480" cy="2852928"/>
          </a:xfrm>
          <a:prstGeom prst="roundRect">
            <a:avLst>
              <a:gd name="adj" fmla="val 4068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737360"/>
            <a:ext cx="438912" cy="43891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0208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01568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Pod 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01568" y="2615184"/>
            <a:ext cx="23774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22" name="Text 20"/>
          <p:cNvSpPr/>
          <p:nvPr/>
        </p:nvSpPr>
        <p:spPr>
          <a:xfrm>
            <a:off x="3401568" y="26883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Restart Service · Start Service · Stop 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64992" y="3310128"/>
            <a:ext cx="2450592" cy="877824"/>
          </a:xfrm>
          <a:prstGeom prst="roundRect">
            <a:avLst>
              <a:gd name="adj" fmla="val 6250"/>
            </a:avLst>
          </a:prstGeom>
          <a:solidFill>
            <a:srgbClr val="1B5E37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64992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actions available from the self-service panel — no kubectl required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1572768"/>
            <a:ext cx="2697480" cy="2852928"/>
          </a:xfrm>
          <a:prstGeom prst="roundRect">
            <a:avLst>
              <a:gd name="adj" fmla="val 4068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737360"/>
            <a:ext cx="438912" cy="43891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03136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54496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Monitor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54496" y="2615184"/>
            <a:ext cx="23774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26883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executes · rolling restart or lifecycle change visible in real 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310128"/>
            <a:ext cx="2450592" cy="877824"/>
          </a:xfrm>
          <a:prstGeom prst="roundRect">
            <a:avLst>
              <a:gd name="adj" fmla="val 6250"/>
            </a:avLst>
          </a:prstGeom>
          <a:solidFill>
            <a:srgbClr val="1B5E37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364992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live · email confirmation on completion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" y="4517136"/>
            <a:ext cx="8375904" cy="402336"/>
          </a:xfrm>
          <a:prstGeom prst="roundRect">
            <a:avLst>
              <a:gd name="adj" fmla="val 18182"/>
            </a:avLst>
          </a:prstGeom>
          <a:solidFill>
            <a:srgbClr val="0D3D1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35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replaces:  </a:t>
            </a:r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exec  →  kubectl rollout restart  →  Slack the platform team  →  Wait for confirmation  →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one click in IDP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live screen-share now...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· COMMUNICATION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8229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developer knows what's available, how to use it, and who to contact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Communication Plan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communication ensures developers know what's live, how to use it, and where to get help — before they need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2F4F7"/>
          </a:solidFill>
          <a:ln w="19050">
            <a:solidFill>
              <a:srgbClr val="1C35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before go-live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" y="2084832"/>
            <a:ext cx="1883664" cy="1371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Engineering Managers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" y="2633472"/>
            <a:ext cx="1883664" cy="1371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what's coming, what changes, what stays the same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preview shared with EMs for team cascades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page live: new workflow, how to access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68296" y="2871216"/>
            <a:ext cx="182880" cy="201168"/>
          </a:xfrm>
          <a:prstGeom prst="right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41448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E8F5EE"/>
          </a:solidFill>
          <a:ln w="19050">
            <a:solidFill>
              <a:srgbClr val="1B5E3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51176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1176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08376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9464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9464" y="2084832"/>
            <a:ext cx="1883664" cy="137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8" name="Text 26"/>
          <p:cNvSpPr/>
          <p:nvPr/>
        </p:nvSpPr>
        <p:spPr>
          <a:xfrm>
            <a:off x="2569464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9464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All Developers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9464" y="2633472"/>
            <a:ext cx="1883664" cy="137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1" name="Text 29"/>
          <p:cNvSpPr/>
          <p:nvPr/>
        </p:nvSpPr>
        <p:spPr>
          <a:xfrm>
            <a:off x="2569464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Teams/Slack announcement: workflow is live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9464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portal banner: 'New: [Workflow Name] now available'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69464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how-to video or GIF attached to announcement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81144" y="2871216"/>
            <a:ext cx="182880" cy="201168"/>
          </a:xfrm>
          <a:prstGeom prst="right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4296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64024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21224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82312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weeks post-launch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82312" y="2084832"/>
            <a:ext cx="1883664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41" name="Text 39"/>
          <p:cNvSpPr/>
          <p:nvPr/>
        </p:nvSpPr>
        <p:spPr>
          <a:xfrm>
            <a:off x="4782312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82312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Active Users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82312" y="2633472"/>
            <a:ext cx="1883664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44" name="Text 42"/>
          <p:cNvSpPr/>
          <p:nvPr/>
        </p:nvSpPr>
        <p:spPr>
          <a:xfrm>
            <a:off x="4782312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#idp-support Slack channel monitored daily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82312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30-min drop-in session week 1 and week 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82312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tracked and updated in Confluence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93992" y="2871216"/>
            <a:ext cx="182880" cy="201168"/>
          </a:xfrm>
          <a:prstGeom prst="right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7144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76872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76872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34072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Close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95160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post-launch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95160" y="2084832"/>
            <a:ext cx="1883664" cy="1371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95160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Leadership + EMs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633472"/>
            <a:ext cx="1883664" cy="1371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7" name="Text 55"/>
          <p:cNvSpPr/>
          <p:nvPr/>
        </p:nvSpPr>
        <p:spPr>
          <a:xfrm>
            <a:off x="6995160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metrics: workflows triggered, unique users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95160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reduction vs. pre-IDP baseline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95160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→ applied to next wave rollout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8600" y="4718304"/>
            <a:ext cx="8686800" cy="475488"/>
          </a:xfrm>
          <a:prstGeom prst="roundRect">
            <a:avLst>
              <a:gd name="adj" fmla="val 17308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4754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 </a:t>
            </a:r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Slack (#idp-announcements · #idp-support)  ·  Email  ·  IDP Portal Banners  ·  Confluence  ·  Office Hours     </a:t>
            </a:r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</a:t>
            </a:r>
            <a:pPr indent="0" marL="0">
              <a:buNone/>
            </a:pPr>
            <a:r>
              <a:rPr lang="en-US" sz="10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hear what's live before they discover it by accident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21945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Communication Plan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</a:t>
            </a:r>
            <a:pPr indent="0" marL="0">
              <a:buNone/>
            </a:pPr>
            <a:r>
              <a:rPr lang="en-US" sz="12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“Ease of Use Is the North Star” — one Point of Contact, plain language, right-sized outreach per tier.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3520440" cy="329184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15568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Tiers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3520440" cy="1783080"/>
        </p:xfrm>
        <a:graphic>
          <a:graphicData uri="http://schemas.openxmlformats.org/drawingml/2006/table">
            <a:tbl>
              <a:tblPr/>
              <a:tblGrid>
                <a:gridCol w="1051560"/>
                <a:gridCol w="685800"/>
                <a:gridCol w="178308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—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White-glove: 1:1 + brown bag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—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brown bag +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video +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3284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counts illustrative — confirm vs. governed SysID tiering model.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904488"/>
            <a:ext cx="35204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9525">
            <a:solidFill>
              <a:srgbClr val="2D7D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3904488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SysIDs total </a:t>
            </a:r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intensity of outreach scales with business importance, not a one-size broadcast.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115568"/>
            <a:ext cx="3520440" cy="329184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115568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 Cadence</a:t>
            </a:r>
            <a:endParaRPr lang="en-US" sz="12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444752"/>
          <a:ext cx="3520440" cy="2148840"/>
        </p:xfrm>
        <a:graphic>
          <a:graphicData uri="http://schemas.openxmlformats.org/drawingml/2006/table">
            <a:tbl>
              <a:tblPr/>
              <a:tblGrid>
                <a:gridCol w="1691640"/>
                <a:gridCol w="1828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(On-Demand)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rollout, refreshed quarterly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Bag Sessions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 → monthly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Announcements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(T1) → monthly (T3)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/ as-needed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343400" y="3721608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1B5E37"/>
          </a:solidFill>
          <a:ln/>
        </p:spPr>
      </p:sp>
      <p:sp>
        <p:nvSpPr>
          <p:cNvPr id="17" name="Shape 13"/>
          <p:cNvSpPr/>
          <p:nvPr/>
        </p:nvSpPr>
        <p:spPr>
          <a:xfrm>
            <a:off x="4480560" y="38404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0" y="3840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03520" y="37673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 — no conflicting guidance, clear escalation, feedback to roadmap.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8229600" y="1115568"/>
            <a:ext cx="3520440" cy="329184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1" name="Text 17"/>
          <p:cNvSpPr/>
          <p:nvPr/>
        </p:nvSpPr>
        <p:spPr>
          <a:xfrm>
            <a:off x="8339328" y="1115568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Timeline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229600" y="1444752"/>
            <a:ext cx="3520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1B5E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29600" y="1444752"/>
            <a:ext cx="3520440" cy="3108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4" name="Text 20"/>
          <p:cNvSpPr/>
          <p:nvPr/>
        </p:nvSpPr>
        <p:spPr>
          <a:xfrm>
            <a:off x="8321040" y="1444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•  Wks 1–2  •  Tier 1</a:t>
            </a:r>
            <a:endParaRPr lang="en-US" sz="970" dirty="0"/>
          </a:p>
        </p:txBody>
      </p:sp>
      <p:sp>
        <p:nvSpPr>
          <p:cNvPr id="25" name="Text 21"/>
          <p:cNvSpPr/>
          <p:nvPr/>
        </p:nvSpPr>
        <p:spPr>
          <a:xfrm>
            <a:off x="8339328" y="1792224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briefings + kickoff video + brown bag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229600" y="2478024"/>
            <a:ext cx="3520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29600" y="2478024"/>
            <a:ext cx="3520440" cy="310896"/>
          </a:xfrm>
          <a:prstGeom prst="rect">
            <a:avLst/>
          </a:prstGeom>
          <a:solidFill>
            <a:srgbClr val="2D7D4F"/>
          </a:solidFill>
          <a:ln/>
        </p:spPr>
      </p:sp>
      <p:sp>
        <p:nvSpPr>
          <p:cNvPr id="28" name="Text 24"/>
          <p:cNvSpPr/>
          <p:nvPr/>
        </p:nvSpPr>
        <p:spPr>
          <a:xfrm>
            <a:off x="8321040" y="24780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Wks 3–5  •  Tier 2</a:t>
            </a:r>
            <a:endParaRPr lang="en-US" sz="970" dirty="0"/>
          </a:p>
        </p:txBody>
      </p:sp>
      <p:sp>
        <p:nvSpPr>
          <p:cNvPr id="29" name="Text 25"/>
          <p:cNvSpPr/>
          <p:nvPr/>
        </p:nvSpPr>
        <p:spPr>
          <a:xfrm>
            <a:off x="8339328" y="2825496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bag sessions + targeted email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8229600" y="3511296"/>
            <a:ext cx="3520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5BA87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229600" y="3511296"/>
            <a:ext cx="3520440" cy="31089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2" name="Text 28"/>
          <p:cNvSpPr/>
          <p:nvPr/>
        </p:nvSpPr>
        <p:spPr>
          <a:xfrm>
            <a:off x="8321040" y="35112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•  Wks 6–9  •  Tier 3</a:t>
            </a:r>
            <a:endParaRPr lang="en-US" sz="970" dirty="0"/>
          </a:p>
        </p:txBody>
      </p:sp>
      <p:sp>
        <p:nvSpPr>
          <p:cNvPr id="33" name="Text 29"/>
          <p:cNvSpPr/>
          <p:nvPr/>
        </p:nvSpPr>
        <p:spPr>
          <a:xfrm>
            <a:off x="8339328" y="3858768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email + self-service video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8229600" y="4590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monthly brown bag • quarterly video refresh • POC always available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8235"/>
            </a:avLst>
          </a:prstGeom>
          <a:solidFill>
            <a:srgbClr val="1B5E37"/>
          </a:solidFill>
          <a:ln/>
        </p:spPr>
      </p:sp>
      <p:sp>
        <p:nvSpPr>
          <p:cNvPr id="36" name="Text 32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This to Completion:  </a:t>
            </a:r>
            <a:pPr indent="0" marL="0">
              <a:buNone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rollout schedule is locked, Point of Contact is staffed, and the brown bag calendar is set — Phase 1 (Tier 1) begins as planned.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2026-07-30T03:06:18Z</dcterms:created>
  <dcterms:modified xsi:type="dcterms:W3CDTF">2026-07-30T03:06:18Z</dcterms:modified>
</cp:coreProperties>
</file>